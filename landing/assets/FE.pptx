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5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640080"/>
            <a:ext cx="2011680" cy="2011680"/>
          </a:xfrm>
          <a:prstGeom prst="roundRect">
            <a:avLst>
              <a:gd name="adj" fmla="val 8182"/>
            </a:avLst>
          </a:prstGeom>
          <a:solidFill>
            <a:srgbClr val="1B2350"/>
          </a:solidFill>
          <a:ln w="19050">
            <a:solidFill>
              <a:srgbClr val="5B8D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74352" y="804672"/>
            <a:ext cx="2011680" cy="2011680"/>
          </a:xfrm>
          <a:prstGeom prst="roundRect">
            <a:avLst>
              <a:gd name="adj" fmla="val 8182"/>
            </a:avLst>
          </a:prstGeom>
          <a:solidFill>
            <a:srgbClr val="1B2350">
              <a:alpha val="78000"/>
            </a:srgbClr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38944" y="969264"/>
            <a:ext cx="2011680" cy="2011680"/>
          </a:xfrm>
          <a:prstGeom prst="roundRect">
            <a:avLst>
              <a:gd name="adj" fmla="val 8182"/>
            </a:avLst>
          </a:prstGeom>
          <a:solidFill>
            <a:srgbClr val="1B2350">
              <a:alpha val="56000"/>
            </a:srgbClr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09760" y="64008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5B8D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9509760" y="22860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A9B4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ENTERPRISE FRONTEND FRAMEWORK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56032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BX-CF</a:t>
            </a:r>
            <a:endParaRPr lang="en-US" sz="6600" dirty="0"/>
          </a:p>
        </p:txBody>
      </p:sp>
      <p:sp>
        <p:nvSpPr>
          <p:cNvPr id="9" name="Text 7"/>
          <p:cNvSpPr/>
          <p:nvPr/>
        </p:nvSpPr>
        <p:spPr>
          <a:xfrm>
            <a:off x="82296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9B4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금융·자산관리 웹 애플리케이션 프레임워크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868680" y="4434840"/>
            <a:ext cx="4754880" cy="0"/>
          </a:xfrm>
          <a:prstGeom prst="line">
            <a:avLst/>
          </a:prstGeom>
          <a:noFill/>
          <a:ln w="19050">
            <a:solidFill>
              <a:srgbClr val="232C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572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19</a:t>
            </a:r>
            <a:pPr indent="0" marL="0">
              <a:buNone/>
            </a:pPr>
            <a:r>
              <a:rPr lang="en-US" sz="1500" dirty="0">
                <a:solidFill>
                  <a:srgbClr val="A9B4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TypeScript  ·  Vite  ·  pnpm + Turborepo  ·  FSD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2960" y="4956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8A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Monorepo Architecture  ·  PC · Mobile · Admin  ·  @bx/shared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A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3550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7F8A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BX-CF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8D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초고속 빌드 성능과 극대화된 DX(Developer Experience)를 지향하는 엔터프라이즈급 프론트엔드 프레임워크. pnpm Workspaces + Turborepo 모노레포에서 PC·모바일·관리자 웹이 도메인 로직·UI·통신·인증을 단일 공유 패키지(@bx/shared)로 공유합니다.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4E8F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7889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5B8D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88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280720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초고속 빌드 &amp; DX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56616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Vite 8 + Rolldown · React Compiler · Turborepo 캐싱으로 빌드·HMR 최적화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45352" y="251460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4E8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19672" y="27889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2DD4B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19672" y="2788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📐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342632" y="280720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Feature-Sliced Design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19672" y="356616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entities / features / widgets / pages 계층으로 확장 가능한 구조 표준화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57200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4E8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8463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F6B45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846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📦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645920" y="486460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공유 패키지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2960" y="562356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@bx/shared가 도메인·UI·HTTP·인증을 캡슐화해 앱 간 중복 제거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45352" y="457200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4E8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19672" y="48463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19672" y="4846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🔐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342632" y="486460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엔터프라이즈 인증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519672" y="562356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JWT 자동 부착·single-flight 재발급·라우트 가드 내장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63550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BX-CF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8D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STACK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 · 라이브러리 구성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66160" cy="2240280"/>
          </a:xfrm>
          <a:prstGeom prst="roundRect">
            <a:avLst>
              <a:gd name="adj" fmla="val 4082"/>
            </a:avLst>
          </a:prstGeom>
          <a:solidFill>
            <a:srgbClr val="F4F6FB"/>
          </a:solidFill>
          <a:ln w="12700">
            <a:solidFill>
              <a:srgbClr val="E4E8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00200"/>
            <a:ext cx="128016" cy="2240280"/>
          </a:xfrm>
          <a:prstGeom prst="roundRect">
            <a:avLst>
              <a:gd name="adj" fmla="val 35714"/>
            </a:avLst>
          </a:prstGeom>
          <a:solidFill>
            <a:srgbClr val="5B8DEF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0136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313432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19</a:t>
            </a:r>
            <a:endParaRPr lang="en-US" sz="1250" dirty="0"/>
          </a:p>
          <a:p>
            <a:pPr marL="152400" indent="-1524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TypeScript 6</a:t>
            </a:r>
            <a:endParaRPr lang="en-US" sz="1250" dirty="0"/>
          </a:p>
          <a:p>
            <a:pPr marL="152400" indent="-1524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Vite 8 (Rolldown)</a:t>
            </a:r>
            <a:endParaRPr lang="en-US" sz="1250" dirty="0"/>
          </a:p>
          <a:p>
            <a:pPr marL="152400" indent="-1524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Compiler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416552" y="1600200"/>
            <a:ext cx="3566160" cy="2240280"/>
          </a:xfrm>
          <a:prstGeom prst="roundRect">
            <a:avLst>
              <a:gd name="adj" fmla="val 4082"/>
            </a:avLst>
          </a:prstGeom>
          <a:solidFill>
            <a:srgbClr val="F4F6FB"/>
          </a:solidFill>
          <a:ln w="12700">
            <a:solidFill>
              <a:srgbClr val="E4E8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16552" y="1600200"/>
            <a:ext cx="128016" cy="2240280"/>
          </a:xfrm>
          <a:prstGeom prst="roundRect">
            <a:avLst>
              <a:gd name="adj" fmla="val 35714"/>
            </a:avLst>
          </a:prstGeom>
          <a:solidFill>
            <a:srgbClr val="2DD4BF"/>
          </a:solidFill>
          <a:ln/>
        </p:spPr>
      </p:sp>
      <p:sp>
        <p:nvSpPr>
          <p:cNvPr id="10" name="Text 8"/>
          <p:cNvSpPr/>
          <p:nvPr/>
        </p:nvSpPr>
        <p:spPr>
          <a:xfrm>
            <a:off x="4736592" y="180136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모노레포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782312" y="2313432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pnpm Workspaces</a:t>
            </a:r>
            <a:endParaRPr lang="en-US" sz="1250" dirty="0"/>
          </a:p>
          <a:p>
            <a:pPr marL="152400" indent="-1524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Turborepo</a:t>
            </a:r>
            <a:endParaRPr lang="en-US" sz="1250" dirty="0"/>
          </a:p>
          <a:p>
            <a:pPr marL="152400" indent="-1524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Biome</a:t>
            </a:r>
            <a:endParaRPr lang="en-US" sz="1250" dirty="0"/>
          </a:p>
          <a:p>
            <a:pPr marL="152400" indent="-1524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Madge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84464" y="1600200"/>
            <a:ext cx="3566160" cy="2240280"/>
          </a:xfrm>
          <a:prstGeom prst="roundRect">
            <a:avLst>
              <a:gd name="adj" fmla="val 4082"/>
            </a:avLst>
          </a:prstGeom>
          <a:solidFill>
            <a:srgbClr val="F4F6FB"/>
          </a:solidFill>
          <a:ln w="12700">
            <a:solidFill>
              <a:srgbClr val="E4E8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84464" y="1600200"/>
            <a:ext cx="128016" cy="2240280"/>
          </a:xfrm>
          <a:prstGeom prst="roundRect">
            <a:avLst>
              <a:gd name="adj" fmla="val 35714"/>
            </a:avLst>
          </a:prstGeom>
          <a:solidFill>
            <a:srgbClr val="F6B454"/>
          </a:solidFill>
          <a:ln/>
        </p:spPr>
      </p:sp>
      <p:sp>
        <p:nvSpPr>
          <p:cNvPr id="14" name="Text 12"/>
          <p:cNvSpPr/>
          <p:nvPr/>
        </p:nvSpPr>
        <p:spPr>
          <a:xfrm>
            <a:off x="8604504" y="180136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라우팅 · 상태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650224" y="2313432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TanStack Router</a:t>
            </a:r>
            <a:endParaRPr lang="en-US" sz="1250" dirty="0"/>
          </a:p>
          <a:p>
            <a:pPr marL="152400" indent="-1524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TanStack Query</a:t>
            </a:r>
            <a:endParaRPr lang="en-US" sz="1250" dirty="0"/>
          </a:p>
          <a:p>
            <a:pPr marL="152400" indent="-1524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Zustand</a:t>
            </a:r>
            <a:endParaRPr lang="en-US" sz="1250" dirty="0"/>
          </a:p>
          <a:p>
            <a:pPr marL="152400" indent="-1524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Hook Form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069080"/>
            <a:ext cx="3566160" cy="2240280"/>
          </a:xfrm>
          <a:prstGeom prst="roundRect">
            <a:avLst>
              <a:gd name="adj" fmla="val 4082"/>
            </a:avLst>
          </a:prstGeom>
          <a:solidFill>
            <a:srgbClr val="F4F6FB"/>
          </a:solidFill>
          <a:ln w="12700">
            <a:solidFill>
              <a:srgbClr val="E4E8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069080"/>
            <a:ext cx="128016" cy="2240280"/>
          </a:xfrm>
          <a:prstGeom prst="roundRect">
            <a:avLst>
              <a:gd name="adj" fmla="val 35714"/>
            </a:avLst>
          </a:prstGeom>
          <a:solidFill>
            <a:srgbClr val="F96167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27024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· 스타일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4400" y="4782312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CSS Modules</a:t>
            </a:r>
            <a:endParaRPr lang="en-US" sz="1250" dirty="0"/>
          </a:p>
          <a:p>
            <a:pPr marL="152400" indent="-1524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Radix Dialog</a:t>
            </a:r>
            <a:endParaRPr lang="en-US" sz="1250" dirty="0"/>
          </a:p>
          <a:p>
            <a:pPr marL="152400" indent="-1524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vaul (drawer)</a:t>
            </a:r>
            <a:endParaRPr lang="en-US" sz="1250" dirty="0"/>
          </a:p>
          <a:p>
            <a:pPr marL="152400" indent="-1524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lucide-react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416552" y="4069080"/>
            <a:ext cx="3566160" cy="2240280"/>
          </a:xfrm>
          <a:prstGeom prst="roundRect">
            <a:avLst>
              <a:gd name="adj" fmla="val 4082"/>
            </a:avLst>
          </a:prstGeom>
          <a:solidFill>
            <a:srgbClr val="F4F6FB"/>
          </a:solidFill>
          <a:ln w="12700">
            <a:solidFill>
              <a:srgbClr val="E4E8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16552" y="4069080"/>
            <a:ext cx="128016" cy="2240280"/>
          </a:xfrm>
          <a:prstGeom prst="roundRect">
            <a:avLst>
              <a:gd name="adj" fmla="val 35714"/>
            </a:avLst>
          </a:prstGeom>
          <a:solidFill>
            <a:srgbClr val="8B7CF6"/>
          </a:solidFill>
          <a:ln/>
        </p:spPr>
      </p:sp>
      <p:sp>
        <p:nvSpPr>
          <p:cNvPr id="22" name="Text 20"/>
          <p:cNvSpPr/>
          <p:nvPr/>
        </p:nvSpPr>
        <p:spPr>
          <a:xfrm>
            <a:off x="4736592" y="427024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 · 유틸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782312" y="4782312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Axios</a:t>
            </a:r>
            <a:endParaRPr lang="en-US" sz="1250" dirty="0"/>
          </a:p>
          <a:p>
            <a:pPr marL="152400" indent="-1524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date-fns · dayjs</a:t>
            </a:r>
            <a:endParaRPr lang="en-US" sz="1250" dirty="0"/>
          </a:p>
          <a:p>
            <a:pPr marL="152400" indent="-1524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lodash-es</a:t>
            </a:r>
            <a:endParaRPr lang="en-US" sz="1250" dirty="0"/>
          </a:p>
          <a:p>
            <a:pPr marL="152400" indent="-1524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i18next · uuid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284464" y="4069080"/>
            <a:ext cx="3566160" cy="2240280"/>
          </a:xfrm>
          <a:prstGeom prst="roundRect">
            <a:avLst>
              <a:gd name="adj" fmla="val 4082"/>
            </a:avLst>
          </a:prstGeom>
          <a:solidFill>
            <a:srgbClr val="F4F6FB"/>
          </a:solidFill>
          <a:ln w="12700">
            <a:solidFill>
              <a:srgbClr val="E4E8F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84464" y="4069080"/>
            <a:ext cx="128016" cy="2240280"/>
          </a:xfrm>
          <a:prstGeom prst="roundRect">
            <a:avLst>
              <a:gd name="adj" fmla="val 35714"/>
            </a:avLst>
          </a:prstGeom>
          <a:solidFill>
            <a:srgbClr val="0EA5A4"/>
          </a:solidFill>
          <a:ln/>
        </p:spPr>
      </p:sp>
      <p:sp>
        <p:nvSpPr>
          <p:cNvPr id="26" name="Text 24"/>
          <p:cNvSpPr/>
          <p:nvPr/>
        </p:nvSpPr>
        <p:spPr>
          <a:xfrm>
            <a:off x="8604504" y="427024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· Mock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650224" y="4782312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Playwright (E2E)</a:t>
            </a:r>
            <a:endParaRPr lang="en-US" sz="1250" dirty="0"/>
          </a:p>
          <a:p>
            <a:pPr marL="152400" indent="-1524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Vitest</a:t>
            </a:r>
            <a:endParaRPr lang="en-US" sz="1250" dirty="0"/>
          </a:p>
          <a:p>
            <a:pPr marL="152400" indent="-1524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Testing Library</a:t>
            </a:r>
            <a:endParaRPr lang="en-US" sz="1250" dirty="0"/>
          </a:p>
          <a:p>
            <a:pPr marL="152400" indent="-1524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json-server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63550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BX-CF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8D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MONOREPO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모노레포 구성 · 3 Apps + Shared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0F1535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00784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packages/shared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199339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@bx/shared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120640" y="1700784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9B4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도메인(entities) · 공통 UI · HTTP(httpService) · 인증(JWT) · 상수 — 세 앱이 함께 사용하는 단일 공유 패키지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880360"/>
            <a:ext cx="3566160" cy="2514600"/>
          </a:xfrm>
          <a:prstGeom prst="roundRect">
            <a:avLst>
              <a:gd name="adj" fmla="val 3636"/>
            </a:avLst>
          </a:prstGeom>
          <a:solidFill>
            <a:srgbClr val="F4F6FB"/>
          </a:solidFill>
          <a:ln w="12700">
            <a:solidFill>
              <a:srgbClr val="E4E8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31720" y="2514600"/>
            <a:ext cx="0" cy="365760"/>
          </a:xfrm>
          <a:prstGeom prst="line">
            <a:avLst/>
          </a:prstGeom>
          <a:noFill/>
          <a:ln w="25400">
            <a:solidFill>
              <a:srgbClr val="E4E8F4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822960" y="3154680"/>
            <a:ext cx="777240" cy="777240"/>
          </a:xfrm>
          <a:prstGeom prst="roundRect">
            <a:avLst>
              <a:gd name="adj" fmla="val 16471"/>
            </a:avLst>
          </a:prstGeom>
          <a:solidFill>
            <a:srgbClr val="FFFFFF"/>
          </a:solidFill>
          <a:ln w="19050">
            <a:solidFill>
              <a:srgbClr val="5B8D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1546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💻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737360" y="3191256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PC 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737360" y="3557016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pc-web  </a:t>
            </a:r>
            <a:pPr indent="0" marL="0">
              <a:buNone/>
            </a:pPr>
            <a:r>
              <a:rPr lang="en-US" sz="1200" dirty="0">
                <a:solidFill>
                  <a:srgbClr val="5A62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:3000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4206240"/>
            <a:ext cx="3017520" cy="0"/>
          </a:xfrm>
          <a:prstGeom prst="line">
            <a:avLst/>
          </a:prstGeom>
          <a:noFill/>
          <a:ln w="12700">
            <a:solidFill>
              <a:srgbClr val="E4E8F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3434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FSD 앱 · 중앙 다이얼로그 모달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416552" y="2880360"/>
            <a:ext cx="3566160" cy="2514600"/>
          </a:xfrm>
          <a:prstGeom prst="roundRect">
            <a:avLst>
              <a:gd name="adj" fmla="val 3636"/>
            </a:avLst>
          </a:prstGeom>
          <a:solidFill>
            <a:srgbClr val="F4F6FB"/>
          </a:solidFill>
          <a:ln w="12700">
            <a:solidFill>
              <a:srgbClr val="E4E8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99632" y="2514600"/>
            <a:ext cx="0" cy="365760"/>
          </a:xfrm>
          <a:prstGeom prst="line">
            <a:avLst/>
          </a:prstGeom>
          <a:noFill/>
          <a:ln w="25400">
            <a:solidFill>
              <a:srgbClr val="E4E8F4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4690872" y="3154680"/>
            <a:ext cx="777240" cy="777240"/>
          </a:xfrm>
          <a:prstGeom prst="roundRect">
            <a:avLst>
              <a:gd name="adj" fmla="val 16471"/>
            </a:avLst>
          </a:prstGeom>
          <a:solidFill>
            <a:srgbClr val="FFFFFF"/>
          </a:solidFill>
          <a:ln w="19050">
            <a:solidFill>
              <a:srgbClr val="2DD4B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90872" y="31546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📱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605272" y="3191256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웹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605272" y="3557016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mobile-web  </a:t>
            </a:r>
            <a:pPr indent="0" marL="0">
              <a:buNone/>
            </a:pPr>
            <a:r>
              <a:rPr lang="en-US" sz="1200" dirty="0">
                <a:solidFill>
                  <a:srgbClr val="5A62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:3001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90872" y="4206240"/>
            <a:ext cx="3017520" cy="0"/>
          </a:xfrm>
          <a:prstGeom prst="line">
            <a:avLst/>
          </a:prstGeom>
          <a:noFill/>
          <a:ln w="12700">
            <a:solidFill>
              <a:srgbClr val="E4E8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90872" y="43434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FSD 앱(동일 구조) · 풀스크린 모달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284464" y="2880360"/>
            <a:ext cx="3566160" cy="2514600"/>
          </a:xfrm>
          <a:prstGeom prst="roundRect">
            <a:avLst>
              <a:gd name="adj" fmla="val 3636"/>
            </a:avLst>
          </a:prstGeom>
          <a:solidFill>
            <a:srgbClr val="F4F6FB"/>
          </a:solidFill>
          <a:ln w="12700">
            <a:solidFill>
              <a:srgbClr val="E4E8F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067544" y="2514600"/>
            <a:ext cx="0" cy="365760"/>
          </a:xfrm>
          <a:prstGeom prst="line">
            <a:avLst/>
          </a:prstGeom>
          <a:noFill/>
          <a:ln w="25400">
            <a:solidFill>
              <a:srgbClr val="E4E8F4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8558784" y="3154680"/>
            <a:ext cx="777240" cy="777240"/>
          </a:xfrm>
          <a:prstGeom prst="roundRect">
            <a:avLst>
              <a:gd name="adj" fmla="val 16471"/>
            </a:avLst>
          </a:prstGeom>
          <a:solidFill>
            <a:srgbClr val="FFFFFF"/>
          </a:solidFill>
          <a:ln w="19050">
            <a:solidFill>
              <a:srgbClr val="F6B45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58784" y="31546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⚙️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9473184" y="3191256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포탈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473184" y="3557016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6B4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admin-portal  </a:t>
            </a:r>
            <a:pPr indent="0" marL="0">
              <a:buNone/>
            </a:pPr>
            <a:r>
              <a:rPr lang="en-US" sz="1200" dirty="0">
                <a:solidFill>
                  <a:srgbClr val="5A62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:3002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558784" y="4206240"/>
            <a:ext cx="3017520" cy="0"/>
          </a:xfrm>
          <a:prstGeom prst="line">
            <a:avLst/>
          </a:prstGeom>
          <a:noFill/>
          <a:ln w="12700">
            <a:solidFill>
              <a:srgbClr val="E4E8F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58784" y="43434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스켈레톤(템플릿) 단계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63550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BX-CF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8D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Feature-Sliced Design 계층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4F6FB"/>
          </a:solidFill>
          <a:ln w="15875">
            <a:solidFill>
              <a:srgbClr val="F9616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0020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F96167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00200"/>
            <a:ext cx="1417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148840" y="1600200"/>
            <a:ext cx="9326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 프로바이더 · 진입점 (main.tsx, modal provider)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253996"/>
            <a:ext cx="10241280" cy="566928"/>
          </a:xfrm>
          <a:prstGeom prst="roundRect">
            <a:avLst>
              <a:gd name="adj" fmla="val 12903"/>
            </a:avLst>
          </a:prstGeom>
          <a:solidFill>
            <a:srgbClr val="F4F6FB"/>
          </a:solidFill>
          <a:ln w="15875">
            <a:solidFill>
              <a:srgbClr val="8B7C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253996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8B7CF6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253996"/>
            <a:ext cx="1417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148840" y="2253996"/>
            <a:ext cx="8503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TanStack Router 파일 기반 라우팅 — (auth) · (page) · (modal)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907792"/>
            <a:ext cx="9418320" cy="566928"/>
          </a:xfrm>
          <a:prstGeom prst="roundRect">
            <a:avLst>
              <a:gd name="adj" fmla="val 12903"/>
            </a:avLst>
          </a:prstGeom>
          <a:solidFill>
            <a:srgbClr val="F4F6FB"/>
          </a:solidFill>
          <a:ln w="15875">
            <a:solidFill>
              <a:srgbClr val="5B8D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907792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5B8DEF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2907792"/>
            <a:ext cx="1417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148840" y="2907792"/>
            <a:ext cx="7680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라우트에 매핑되는 페이지 컴포넌트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561588"/>
            <a:ext cx="8595360" cy="566928"/>
          </a:xfrm>
          <a:prstGeom prst="roundRect">
            <a:avLst>
              <a:gd name="adj" fmla="val 12903"/>
            </a:avLst>
          </a:prstGeom>
          <a:solidFill>
            <a:srgbClr val="F4F6FB"/>
          </a:solidFill>
          <a:ln w="15875">
            <a:solidFill>
              <a:srgbClr val="F6B45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561588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F6B454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561588"/>
            <a:ext cx="1417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widgets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148840" y="3561588"/>
            <a:ext cx="6858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레이아웃 단위 위젯 (sidebar 등)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215384"/>
            <a:ext cx="7772400" cy="566928"/>
          </a:xfrm>
          <a:prstGeom prst="roundRect">
            <a:avLst>
              <a:gd name="adj" fmla="val 12903"/>
            </a:avLst>
          </a:prstGeom>
          <a:solidFill>
            <a:srgbClr val="F4F6FB"/>
          </a:solidFill>
          <a:ln w="15875">
            <a:solidFill>
              <a:srgbClr val="0EA5A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4215384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0EA5A4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4215384"/>
            <a:ext cx="1417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148840" y="4215384"/>
            <a:ext cx="6035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단위 (auth, dashboard …)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4869180"/>
            <a:ext cx="6949440" cy="566928"/>
          </a:xfrm>
          <a:prstGeom prst="roundRect">
            <a:avLst>
              <a:gd name="adj" fmla="val 12903"/>
            </a:avLst>
          </a:prstGeom>
          <a:solidFill>
            <a:srgbClr val="F4F6FB"/>
          </a:solidFill>
          <a:ln w="15875">
            <a:solidFill>
              <a:srgbClr val="2DD4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486918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2DD4BF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4869180"/>
            <a:ext cx="1417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entities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148840" y="4869180"/>
            <a:ext cx="5212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단위 — account · alarm · auth · menu · product · user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522976"/>
            <a:ext cx="6126480" cy="566928"/>
          </a:xfrm>
          <a:prstGeom prst="roundRect">
            <a:avLst>
              <a:gd name="adj" fmla="val 12903"/>
            </a:avLst>
          </a:prstGeom>
          <a:solidFill>
            <a:srgbClr val="F4F6FB"/>
          </a:solidFill>
          <a:ln w="15875">
            <a:solidFill>
              <a:srgbClr val="7F8AC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5522976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7F8AC0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5522976"/>
            <a:ext cx="1417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shared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148840" y="5522976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로컬 공통 (guards 등) + @bx/shared 공유 자원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8138160" y="162763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의존성 방향 ↓ (상위 → 하위만 참조)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63550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BX-CF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8D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FOLDER STRUCTURE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 구조 한눈에 보기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4754880"/>
          </a:xfrm>
          <a:prstGeom prst="roundRect">
            <a:avLst>
              <a:gd name="adj" fmla="val 1923"/>
            </a:avLst>
          </a:prstGeom>
          <a:solidFill>
            <a:srgbClr val="0F1535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830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bx-cf-fe/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77240" y="209854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4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package.json · turbo.json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241401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4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pnpm-workspace.yaml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272948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4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biome.json · tsconfig.json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30449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8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db.json  (json-server mock)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77240" y="33604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8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docs/  (order · todo · wbs)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77240" y="367588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8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77240" y="399135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6B4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 apps/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77240" y="43068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 pc-web/        :3000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77240" y="462229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4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│   └─ src/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77240" y="49377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8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│       app · routes · pages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77240" y="525322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8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│       features · widgets · shared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77240" y="556869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 mobile-web/    :3001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77240" y="588416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 admin-portal/  :3002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155448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B2350"/>
          </a:solidFill>
          <a:ln/>
        </p:spPr>
      </p:sp>
      <p:sp>
        <p:nvSpPr>
          <p:cNvPr id="20" name="Text 18"/>
          <p:cNvSpPr/>
          <p:nvPr/>
        </p:nvSpPr>
        <p:spPr>
          <a:xfrm>
            <a:off x="6492240" y="17830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packages/shared/src/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92240" y="209854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6B4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entities/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92240" y="2414016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 &lt;entity&gt;/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92240" y="2729484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4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├─ api/    HTTP 호출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92240" y="304495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4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├─ model/  타입·hook·store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92240" y="33604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4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└─ ui/     도메인 컴포넌트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92240" y="367588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8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492240" y="3991356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6B4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shared/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92240" y="4306824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4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 ajax/      http.service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492240" y="462229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4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 constants/ api·errors·config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492240" y="49377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4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 ui/        dialog·drawer·modal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492240" y="52532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4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 hooks·lib·model·types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492240" y="5568696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8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492240" y="5884164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 index.ts  (배럴 일괄 export)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3550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BX-CF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5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시스템 흐름 · 프론트 ↔ 백엔드 ↔ 외부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1B2350"/>
          </a:solidFill>
          <a:ln w="19050">
            <a:solidFill>
              <a:srgbClr val="5B8D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450592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8D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Client Apps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2852928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A9B4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PC · Mobile · Admin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A9B4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19 + FSD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429000" y="2286000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1B2350"/>
          </a:solidFill>
          <a:ln w="19050">
            <a:solidFill>
              <a:srgbClr val="2DD4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2450592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httpService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566160" y="2852928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A9B4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Axios 인스턴스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A9B4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envelope · 인터셉터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09360" y="2286000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1B2350"/>
          </a:solidFill>
          <a:ln w="19050">
            <a:solidFill>
              <a:srgbClr val="F6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450592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6B4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Backend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46520" y="2852928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A9B4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(JWT)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A9B4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 json-server Mock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189720" y="2286000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1B2350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89720" y="2450592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External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326880" y="2852928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A9B4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금융·자산 API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A9B4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토큰 발급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017520" y="2971800"/>
            <a:ext cx="411480" cy="0"/>
          </a:xfrm>
          <a:prstGeom prst="line">
            <a:avLst/>
          </a:prstGeom>
          <a:noFill/>
          <a:ln w="25400">
            <a:solidFill>
              <a:srgbClr val="7F8AC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897880" y="2971800"/>
            <a:ext cx="411480" cy="0"/>
          </a:xfrm>
          <a:prstGeom prst="line">
            <a:avLst/>
          </a:prstGeom>
          <a:noFill/>
          <a:ln w="25400">
            <a:solidFill>
              <a:srgbClr val="7F8AC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778240" y="2971800"/>
            <a:ext cx="411480" cy="0"/>
          </a:xfrm>
          <a:prstGeom prst="line">
            <a:avLst/>
          </a:prstGeom>
          <a:noFill/>
          <a:ln w="25400">
            <a:solidFill>
              <a:srgbClr val="7F8AC0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548640" y="182880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 →  Bearer 토큰 자동 부착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743200" y="397764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B4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 응답  payload 자동 언래핑 · 401/-1004 시 자동 재발급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502920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1B2350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51663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전환은 코드 수정 없이 .env 한 줄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68680" y="55778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VITE_API_URL</a:t>
            </a:r>
            <a:pPr indent="0" marL="0">
              <a:buNone/>
            </a:pPr>
            <a:r>
              <a:rPr lang="en-US" sz="1250" dirty="0">
                <a:solidFill>
                  <a:srgbClr val="A9B4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…:18081/channel/backend/api/v1  (Spring · JWT)    또는    …:3333  (Mock · 인증 OFF)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A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63550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7F8A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BX-CF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8D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COMMUNICATION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 통신 계층 · 공통 응답 규격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760720" cy="1024128"/>
          </a:xfrm>
          <a:prstGeom prst="roundRect">
            <a:avLst>
              <a:gd name="adj" fmla="val 8036"/>
            </a:avLst>
          </a:prstGeom>
          <a:solidFill>
            <a:srgbClr val="F4F6FB"/>
          </a:solidFill>
          <a:ln w="12700">
            <a:solidFill>
              <a:srgbClr val="E4E8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938528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5B8DE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9385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792224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진입점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25880" y="21488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호출은 httpService.get/post/… 사용 · baseURL은 init()에서 1회 설정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788920"/>
            <a:ext cx="5760720" cy="1024128"/>
          </a:xfrm>
          <a:prstGeom prst="roundRect">
            <a:avLst>
              <a:gd name="adj" fmla="val 8036"/>
            </a:avLst>
          </a:prstGeom>
          <a:solidFill>
            <a:srgbClr val="F4F6FB"/>
          </a:solidFill>
          <a:ln w="12700">
            <a:solidFill>
              <a:srgbClr val="E4E8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3081528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5B8DEF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0815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25880" y="2935224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 경로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25880" y="32918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API 함수는 상대 경로만 전달  (예: httpService.get('/products'))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5760720" cy="1024128"/>
          </a:xfrm>
          <a:prstGeom prst="roundRect">
            <a:avLst>
              <a:gd name="adj" fmla="val 8036"/>
            </a:avLst>
          </a:prstGeom>
          <a:solidFill>
            <a:srgbClr val="F4F6FB"/>
          </a:solidFill>
          <a:ln w="12700">
            <a:solidFill>
              <a:srgbClr val="E4E8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4224528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5B8DEF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2245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25880" y="4078224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언래핑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25880" y="44348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execute()가 envelope의 payload를 풀어 반환 · success:false는 throw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5074920"/>
            <a:ext cx="5760720" cy="1024128"/>
          </a:xfrm>
          <a:prstGeom prst="roundRect">
            <a:avLst>
              <a:gd name="adj" fmla="val 8036"/>
            </a:avLst>
          </a:prstGeom>
          <a:solidFill>
            <a:srgbClr val="F4F6FB"/>
          </a:solidFill>
          <a:ln w="12700">
            <a:solidFill>
              <a:srgbClr val="E4E8F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5367528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5B8DEF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53675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25880" y="5221224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Mock 보정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25880" y="55778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IS_MOCK_API일 때 raw JSON을 envelope로 감싸는 인터셉터 적용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37960" y="1645920"/>
            <a:ext cx="5074920" cy="2194560"/>
          </a:xfrm>
          <a:prstGeom prst="roundRect">
            <a:avLst>
              <a:gd name="adj" fmla="val 4167"/>
            </a:avLst>
          </a:prstGeom>
          <a:solidFill>
            <a:srgbClr val="0F1535"/>
          </a:solidFill>
          <a:ln/>
        </p:spPr>
      </p:sp>
      <p:sp>
        <p:nvSpPr>
          <p:cNvPr id="25" name="Text 23"/>
          <p:cNvSpPr/>
          <p:nvPr/>
        </p:nvSpPr>
        <p:spPr>
          <a:xfrm>
            <a:off x="6766560" y="1783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응답 envelope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766560" y="2103120"/>
            <a:ext cx="46634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A9B4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
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8D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"success"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A9B4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true,        // 성공/실패
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8D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"code"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A9B4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"0",         // 성공 "0"
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8D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"msg"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A9B4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"success",
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6B4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"payload"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A9B4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{ … }      // 실제 데이터
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A9B4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37960" y="4023360"/>
            <a:ext cx="5074920" cy="228600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4E8F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0" y="41605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API 에러 코드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766560" y="45262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-1002 / -1003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03920" y="45262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실패 → 즉시 로그아웃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766560" y="4946904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6B4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-1004 / 401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503920" y="4946904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만료 → 자동 재발급(refresh)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766560" y="5367528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-1005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503920" y="5367528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없음 → 로그아웃 없이 에러 전달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766560" y="5788152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2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-9999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503920" y="5788152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내부 오류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57200" y="63550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BX-CF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8D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AUTHENTICATION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인증(JWT) 흐름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468880" cy="1737360"/>
          </a:xfrm>
          <a:prstGeom prst="roundRect">
            <a:avLst>
              <a:gd name="adj" fmla="val 5263"/>
            </a:avLst>
          </a:prstGeom>
          <a:solidFill>
            <a:srgbClr val="F4F6FB"/>
          </a:solidFill>
          <a:ln w="15875">
            <a:solidFill>
              <a:srgbClr val="5B8D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56232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5B8DE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562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7320" y="187452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514600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sha256() 해싱 후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 /auth/login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017520" y="2468880"/>
            <a:ext cx="365760" cy="0"/>
          </a:xfrm>
          <a:prstGeom prst="line">
            <a:avLst/>
          </a:prstGeom>
          <a:noFill/>
          <a:ln w="25400">
            <a:solidFill>
              <a:srgbClr val="5B8DE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383280" y="1600200"/>
            <a:ext cx="2468880" cy="1737360"/>
          </a:xfrm>
          <a:prstGeom prst="roundRect">
            <a:avLst>
              <a:gd name="adj" fmla="val 5263"/>
            </a:avLst>
          </a:prstGeom>
          <a:solidFill>
            <a:srgbClr val="F4F6FB"/>
          </a:solidFill>
          <a:ln w="15875">
            <a:solidFill>
              <a:srgbClr val="2DD4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0" y="1856232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2DD4BF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0" y="18562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251960" y="187452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저장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57600" y="2514600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payload를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useAuthStore.setAuth()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852160" y="2468880"/>
            <a:ext cx="365760" cy="0"/>
          </a:xfrm>
          <a:prstGeom prst="line">
            <a:avLst/>
          </a:prstGeom>
          <a:noFill/>
          <a:ln w="25400">
            <a:solidFill>
              <a:srgbClr val="2DD4BF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217920" y="1600200"/>
            <a:ext cx="2468880" cy="1737360"/>
          </a:xfrm>
          <a:prstGeom prst="roundRect">
            <a:avLst>
              <a:gd name="adj" fmla="val 5263"/>
            </a:avLst>
          </a:prstGeom>
          <a:solidFill>
            <a:srgbClr val="F4F6FB"/>
          </a:solidFill>
          <a:ln w="15875">
            <a:solidFill>
              <a:srgbClr val="F6B45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92240" y="1856232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F6B454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0" y="18562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086600" y="187452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localStorage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92240" y="2514600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간 공유 ·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새로고침 유지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686800" y="2468880"/>
            <a:ext cx="365760" cy="0"/>
          </a:xfrm>
          <a:prstGeom prst="line">
            <a:avLst/>
          </a:prstGeom>
          <a:noFill/>
          <a:ln w="25400">
            <a:solidFill>
              <a:srgbClr val="F6B45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052560" y="1600200"/>
            <a:ext cx="2468880" cy="1737360"/>
          </a:xfrm>
          <a:prstGeom prst="roundRect">
            <a:avLst>
              <a:gd name="adj" fmla="val 5263"/>
            </a:avLst>
          </a:prstGeom>
          <a:solidFill>
            <a:srgbClr val="F4F6FB"/>
          </a:solidFill>
          <a:ln w="15875">
            <a:solidFill>
              <a:srgbClr val="F9616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326880" y="1856232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F96167"/>
          </a:solidFill>
          <a:ln/>
        </p:spPr>
      </p:sp>
      <p:sp>
        <p:nvSpPr>
          <p:cNvPr id="24" name="Text 22"/>
          <p:cNvSpPr/>
          <p:nvPr/>
        </p:nvSpPr>
        <p:spPr>
          <a:xfrm>
            <a:off x="9326880" y="18562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921240" y="187452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부착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326880" y="2514600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요청에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Bearer 토큰 자동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3657600"/>
            <a:ext cx="5760720" cy="2606040"/>
          </a:xfrm>
          <a:prstGeom prst="roundRect">
            <a:avLst>
              <a:gd name="adj" fmla="val 3509"/>
            </a:avLst>
          </a:prstGeom>
          <a:solidFill>
            <a:srgbClr val="0F1535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382219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자동 재발급 (single-flight)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68680" y="4251960"/>
            <a:ext cx="5303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250" dirty="0">
                <a:solidFill>
                  <a:srgbClr val="A9B4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-1004 또는 HTTP 401 감지 시 자동 동작</a:t>
            </a:r>
            <a:endParaRPr lang="en-US" sz="1250" dirty="0"/>
          </a:p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250" dirty="0">
                <a:solidFill>
                  <a:srgbClr val="A9B4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 /auth/refresh-token 으로 재발급</a:t>
            </a:r>
            <a:endParaRPr lang="en-US" sz="1250" dirty="0"/>
          </a:p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250" dirty="0">
                <a:solidFill>
                  <a:srgbClr val="A9B4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원요청을 자동 재시도 — 사용자 개입 없음</a:t>
            </a:r>
            <a:endParaRPr lang="en-US" sz="1250" dirty="0"/>
          </a:p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250" dirty="0">
                <a:solidFill>
                  <a:srgbClr val="A9B4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다발 요청은 refresh 1회만 호출</a:t>
            </a:r>
            <a:endParaRPr lang="en-US" sz="1250" dirty="0"/>
          </a:p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250" dirty="0">
                <a:solidFill>
                  <a:srgbClr val="A9B4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재발급 실패 → 로그아웃 + /login 리다이렉트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537960" y="3657600"/>
            <a:ext cx="5074920" cy="2606040"/>
          </a:xfrm>
          <a:prstGeom prst="roundRect">
            <a:avLst>
              <a:gd name="adj" fmla="val 3509"/>
            </a:avLst>
          </a:prstGeom>
          <a:solidFill>
            <a:srgbClr val="F4F6FB"/>
          </a:solidFill>
          <a:ln w="12700">
            <a:solidFill>
              <a:srgbClr val="E4E8F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12280" y="382219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라우트 가드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812280" y="422452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보호 라우트 (page)/_page 는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5B8D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beforeLoad: requireAuth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로 진입 시 토큰을 검사합니다.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812280" y="507492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isAuthenticated()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는 refreshToken 유효성을 기준으로 판단 — accessToken이 만료돼도 refreshToken이 살아있으면 통과 후 다음 요청에서 자동 재발급.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3550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BX-CF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8D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CONVENTIONS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표준 · 모달 시스템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F4F6FB"/>
          </a:solidFill>
          <a:ln w="12700">
            <a:solidFill>
              <a:srgbClr val="E4E8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745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5B8D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745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🎨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00200" y="187452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· 스타일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743200"/>
            <a:ext cx="3017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Biome (Rust 린터·포매터)로 ESLint/Prettier 대체</a:t>
            </a:r>
            <a:endParaRPr lang="en-US" sz="1200" dirty="0"/>
          </a:p>
          <a:p>
            <a:pPr marL="152400" indent="-1524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Space 2 · LF · 작은따옴표 · 세미콜론 항상</a:t>
            </a:r>
            <a:endParaRPr lang="en-US" sz="1200" dirty="0"/>
          </a:p>
          <a:p>
            <a:pPr marL="152400" indent="-1524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프로토타이핑 속도 위해 a11y 규칙 제외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16552" y="160020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F4F6FB"/>
          </a:solidFill>
          <a:ln w="12700">
            <a:solidFill>
              <a:srgbClr val="E4E8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18745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2DD4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90872" y="18745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🔗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468112" y="187452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Barrel · 임포트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36592" y="2743200"/>
            <a:ext cx="3017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엔티티·훅·UI는 index.ts로 묶어 노출</a:t>
            </a:r>
            <a:endParaRPr lang="en-US" sz="1200" dirty="0"/>
          </a:p>
          <a:p>
            <a:pPr marL="152400" indent="-1524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→ @bx/shared 배럴로 일괄 임포트</a:t>
            </a:r>
            <a:endParaRPr lang="en-US" sz="1200" dirty="0"/>
          </a:p>
          <a:p>
            <a:pPr marL="152400" indent="-1524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패키지 내부는 상대 경로 (순환 참조 금지)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84464" y="160020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F4F6FB"/>
          </a:solidFill>
          <a:ln w="12700">
            <a:solidFill>
              <a:srgbClr val="E4E8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58784" y="18745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F6B4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58784" y="18745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🖼️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336024" y="187452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모달 시스템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04504" y="2743200"/>
            <a:ext cx="3017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Zustand 스토어로 모달 스택 관리</a:t>
            </a:r>
            <a:endParaRPr lang="en-US" sz="1200" dirty="0"/>
          </a:p>
          <a:p>
            <a:pPr marL="152400" indent="-1524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Radix Dialog 기반 · open({ path })로 호출</a:t>
            </a:r>
            <a:endParaRPr lang="en-US" sz="1200" dirty="0"/>
          </a:p>
          <a:p>
            <a:pPr marL="152400" indent="-1524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PC 중앙 다이얼로그 / 모바일 풀스크린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84632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0F1535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983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 커밋 컨벤션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22960" y="53492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Type(Scope): Subject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074920" y="502920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74920" y="502920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8D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702552" y="502920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02552" y="502920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8D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fix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30184" y="502920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30184" y="502920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8D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957816" y="502920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957816" y="502920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8D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style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74920" y="553212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74920" y="553212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8D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refactor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702552" y="553212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02552" y="553212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8D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330184" y="553212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30184" y="553212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8D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chore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63550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A62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BX-CF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5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0" y="4206240"/>
            <a:ext cx="2194560" cy="2194560"/>
          </a:xfrm>
          <a:prstGeom prst="roundRect">
            <a:avLst>
              <a:gd name="adj" fmla="val 7500"/>
            </a:avLst>
          </a:prstGeom>
          <a:solidFill>
            <a:srgbClr val="1B2350"/>
          </a:solidFill>
          <a:ln w="19050">
            <a:solidFill>
              <a:srgbClr val="2DD4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384048" y="4370832"/>
            <a:ext cx="2194560" cy="2194560"/>
          </a:xfrm>
          <a:prstGeom prst="roundRect">
            <a:avLst>
              <a:gd name="adj" fmla="val 7500"/>
            </a:avLst>
          </a:prstGeom>
          <a:solidFill>
            <a:srgbClr val="1B2350">
              <a:alpha val="78000"/>
            </a:srgbClr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219456" y="4535424"/>
            <a:ext cx="2194560" cy="2194560"/>
          </a:xfrm>
          <a:prstGeom prst="roundRect">
            <a:avLst>
              <a:gd name="adj" fmla="val 7500"/>
            </a:avLst>
          </a:prstGeom>
          <a:solidFill>
            <a:srgbClr val="1B2350">
              <a:alpha val="56000"/>
            </a:srgbClr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178308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공유 패키지,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개의 앱, 일관된 표준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822960" y="3977640"/>
            <a:ext cx="146304" cy="777240"/>
          </a:xfrm>
          <a:prstGeom prst="roundRect">
            <a:avLst>
              <a:gd name="adj" fmla="val 31250"/>
            </a:avLst>
          </a:prstGeom>
          <a:solidFill>
            <a:srgbClr val="2DD4BF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397764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19 + Vite 모노레포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436168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4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Turborepo 캐싱 · 초고속 빌드/DX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0" y="3977640"/>
            <a:ext cx="146304" cy="777240"/>
          </a:xfrm>
          <a:prstGeom prst="roundRect">
            <a:avLst>
              <a:gd name="adj" fmla="val 31250"/>
            </a:avLst>
          </a:prstGeom>
          <a:solidFill>
            <a:srgbClr val="2DD4BF"/>
          </a:solidFill>
          <a:ln/>
        </p:spPr>
      </p:sp>
      <p:sp>
        <p:nvSpPr>
          <p:cNvPr id="11" name="Text 9"/>
          <p:cNvSpPr/>
          <p:nvPr/>
        </p:nvSpPr>
        <p:spPr>
          <a:xfrm>
            <a:off x="6720840" y="397764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FSD + @bx/shared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720840" y="436168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4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도메인·UI·HTTP·인증 단일 공유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5074920"/>
            <a:ext cx="146304" cy="777240"/>
          </a:xfrm>
          <a:prstGeom prst="roundRect">
            <a:avLst>
              <a:gd name="adj" fmla="val 31250"/>
            </a:avLst>
          </a:prstGeom>
          <a:solidFill>
            <a:srgbClr val="2DD4BF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50749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JWT 자동 인증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43000" y="545896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4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single-flight 재발급 · 라우트 가드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0" y="5074920"/>
            <a:ext cx="146304" cy="777240"/>
          </a:xfrm>
          <a:prstGeom prst="roundRect">
            <a:avLst>
              <a:gd name="adj" fmla="val 31250"/>
            </a:avLst>
          </a:prstGeom>
          <a:solidFill>
            <a:srgbClr val="2DD4BF"/>
          </a:solidFill>
          <a:ln/>
        </p:spPr>
      </p:sp>
      <p:sp>
        <p:nvSpPr>
          <p:cNvPr id="17" name="Text 15"/>
          <p:cNvSpPr/>
          <p:nvPr/>
        </p:nvSpPr>
        <p:spPr>
          <a:xfrm>
            <a:off x="6720840" y="50749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.env 한 줄 백엔드 전환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720840" y="545896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4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Spring(JWT) ↔ Mock 코드 수정 0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A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63550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7F8A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BX-CF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BX-CF Enterprise Frontend Framework</dc:title>
  <dc:subject>PptxGenJS Presentation</dc:subject>
  <dc:creator>BX-CF</dc:creator>
  <cp:lastModifiedBy>BX-CF</cp:lastModifiedBy>
  <cp:revision>1</cp:revision>
  <dcterms:created xsi:type="dcterms:W3CDTF">2026-07-22T06:45:35Z</dcterms:created>
  <dcterms:modified xsi:type="dcterms:W3CDTF">2026-07-22T06:45:35Z</dcterms:modified>
</cp:coreProperties>
</file>