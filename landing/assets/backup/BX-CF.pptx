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8172e9b00e4bee" /><Relationship Type="http://schemas.openxmlformats.org/officeDocument/2006/relationships/extended-properties" Target="/docProps/app.xml" Id="Rd380f32b33e54391" /><Relationship Type="http://schemas.openxmlformats.org/officeDocument/2006/relationships/officeDocument" Target="/ppt/presentation.xml" Id="R867830462eef49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58d7b41220d468f"/>
  </p:sldMasterIdLst>
  <p:notesMasterIdLst>
    <p:notesMasterId xmlns:r="http://schemas.openxmlformats.org/officeDocument/2006/relationships" r:id="Rde28f96af8304064"/>
  </p:notesMasterIdLst>
  <p:sldIdLst>
    <p:sldId xmlns:r="http://schemas.openxmlformats.org/officeDocument/2006/relationships" id="256" r:id="R689b3fcfdb6247cb"/>
    <p:sldId xmlns:r="http://schemas.openxmlformats.org/officeDocument/2006/relationships" id="257" r:id="R1096d2039c7c4a4e"/>
    <p:sldId xmlns:r="http://schemas.openxmlformats.org/officeDocument/2006/relationships" id="258" r:id="R4fee641c9dd846ee"/>
    <p:sldId xmlns:r="http://schemas.openxmlformats.org/officeDocument/2006/relationships" id="259" r:id="R79faa8e621744441"/>
    <p:sldId xmlns:r="http://schemas.openxmlformats.org/officeDocument/2006/relationships" id="260" r:id="R58bd5750238e4b48"/>
    <p:sldId xmlns:r="http://schemas.openxmlformats.org/officeDocument/2006/relationships" id="261" r:id="R58f8c4bdfc264915"/>
    <p:sldId xmlns:r="http://schemas.openxmlformats.org/officeDocument/2006/relationships" id="262" r:id="Rbf03abde2caf438c"/>
    <p:sldId xmlns:r="http://schemas.openxmlformats.org/officeDocument/2006/relationships" id="263" r:id="R9c21ee7745544a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1934c6f3dc3442e" /><Relationship Type="http://schemas.openxmlformats.org/officeDocument/2006/relationships/slideMaster" Target="/ppt/slideMasters/slideMaster1.xml" Id="R558d7b41220d468f" /><Relationship Type="http://schemas.openxmlformats.org/officeDocument/2006/relationships/notesMaster" Target="/ppt/notesMasters/notesMaster1.xml" Id="Rde28f96af8304064" /><Relationship Type="http://schemas.openxmlformats.org/officeDocument/2006/relationships/presProps" Target="/ppt/presProps.xml" Id="R65ba0d25a6b84c06" /><Relationship Type="http://schemas.openxmlformats.org/officeDocument/2006/relationships/tableStyles" Target="/ppt/tableStyles.xml" Id="R19313947a2394508" /><Relationship Type="http://schemas.openxmlformats.org/officeDocument/2006/relationships/slide" Target="/ppt/slides/slide1.xml" Id="R689b3fcfdb6247cb" /><Relationship Type="http://schemas.openxmlformats.org/officeDocument/2006/relationships/slide" Target="/ppt/slides/slide2.xml" Id="R1096d2039c7c4a4e" /><Relationship Type="http://schemas.openxmlformats.org/officeDocument/2006/relationships/slide" Target="/ppt/slides/slide3.xml" Id="R4fee641c9dd846ee" /><Relationship Type="http://schemas.openxmlformats.org/officeDocument/2006/relationships/slide" Target="/ppt/slides/slide4.xml" Id="R79faa8e621744441" /><Relationship Type="http://schemas.openxmlformats.org/officeDocument/2006/relationships/slide" Target="/ppt/slides/slide5.xml" Id="R58bd5750238e4b48" /><Relationship Type="http://schemas.openxmlformats.org/officeDocument/2006/relationships/slide" Target="/ppt/slides/slide6.xml" Id="R58f8c4bdfc264915" /><Relationship Type="http://schemas.openxmlformats.org/officeDocument/2006/relationships/slide" Target="/ppt/slides/slide7.xml" Id="Rbf03abde2caf438c" /><Relationship Type="http://schemas.openxmlformats.org/officeDocument/2006/relationships/slide" Target="/ppt/slides/slide8.xml" Id="R9c21ee7745544a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09afa2b8274d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7360b76e8d418d" /><Relationship Type="http://schemas.openxmlformats.org/officeDocument/2006/relationships/notesMaster" Target="/ppt/notesMasters/notesMaster1.xml" Id="R71407cf5474f49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94dd18d34c45e7" /><Relationship Type="http://schemas.openxmlformats.org/officeDocument/2006/relationships/notesMaster" Target="/ppt/notesMasters/notesMaster1.xml" Id="Rdbbe869a0b994f6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2fd877a1af4fbf" /><Relationship Type="http://schemas.openxmlformats.org/officeDocument/2006/relationships/notesMaster" Target="/ppt/notesMasters/notesMaster1.xml" Id="Rd9a8c84e428149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36e3f2279d489f" /><Relationship Type="http://schemas.openxmlformats.org/officeDocument/2006/relationships/notesMaster" Target="/ppt/notesMasters/notesMaster1.xml" Id="Ra98159913bc044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cf1ba8f7644455" /><Relationship Type="http://schemas.openxmlformats.org/officeDocument/2006/relationships/notesMaster" Target="/ppt/notesMasters/notesMaster1.xml" Id="Rf6add633b39e49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d46113fbbd41ed" /><Relationship Type="http://schemas.openxmlformats.org/officeDocument/2006/relationships/notesMaster" Target="/ppt/notesMasters/notesMaster1.xml" Id="R8ffba6d9053545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5ae32a9d444caf" /><Relationship Type="http://schemas.openxmlformats.org/officeDocument/2006/relationships/notesMaster" Target="/ppt/notesMasters/notesMaster1.xml" Id="Rc7137121f3454f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a2edc3bf03407f" /><Relationship Type="http://schemas.openxmlformats.org/officeDocument/2006/relationships/notesMaster" Target="/ppt/notesMasters/notesMaster1.xml" Id="Re1a545f2f5f841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afbbd0748c44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de11a59139453e" /><Relationship Type="http://schemas.openxmlformats.org/officeDocument/2006/relationships/slideLayout" Target="/ppt/slideLayouts/slideLayout1.xml" Id="R3b55284446e147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55284446e147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ebea45d1e4689" /><Relationship Type="http://schemas.openxmlformats.org/officeDocument/2006/relationships/notesSlide" Target="/ppt/notesSlides/notesSlide1.xml" Id="Ra892ab6af37042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12ca6a5444ac5" /><Relationship Type="http://schemas.openxmlformats.org/officeDocument/2006/relationships/notesSlide" Target="/ppt/notesSlides/notesSlide2.xml" Id="R99c8aceb9877498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fbca64aca54f44" /><Relationship Type="http://schemas.openxmlformats.org/officeDocument/2006/relationships/notesSlide" Target="/ppt/notesSlides/notesSlide3.xml" Id="Rb21bd978cd7b48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9cdafd2584479" /><Relationship Type="http://schemas.openxmlformats.org/officeDocument/2006/relationships/notesSlide" Target="/ppt/notesSlides/notesSlide4.xml" Id="R86d1780a80d54b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10587ec3144e9" /><Relationship Type="http://schemas.openxmlformats.org/officeDocument/2006/relationships/notesSlide" Target="/ppt/notesSlides/notesSlide5.xml" Id="Rd68f7005251749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524f163d34856" /><Relationship Type="http://schemas.openxmlformats.org/officeDocument/2006/relationships/notesSlide" Target="/ppt/notesSlides/notesSlide6.xml" Id="R8cf3fc01507b4e9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f980811de4863" /><Relationship Type="http://schemas.openxmlformats.org/officeDocument/2006/relationships/notesSlide" Target="/ppt/notesSlides/notesSlide7.xml" Id="Rbd33629675b14f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68c7ca1bee49ce" /><Relationship Type="http://schemas.openxmlformats.org/officeDocument/2006/relationships/notesSlide" Target="/ppt/notesSlides/notesSlide8.xml" Id="R129b1233d93740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62788FB4-30E7-486A-A779-E72B8F4D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solidFill>
              <a:srgbClr val="F4F7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890A8-4DC2-4F5B-ACB0-C4FB5DAA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81FB5-2978-4029-82FB-F3AD80DC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86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CHANNEL UNIT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1E095-E0D0-431A-A073-F66C5FB9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8001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2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채널 파운데이션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4A470-964F-40CA-8B0D-A18C6672A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Channel Foundation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21E50-6857-410D-97B5-1CCDFAF8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채널 프로젝트 공통 기반(Backend · Frontend) 구축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AB2F5E-84CD-4417-BBD2-658BCC5B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0572750" cy="1466850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235C3E-57E1-4F6F-A58D-603EAF30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1480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기간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A464F-871B-4830-84FA-8BCF4045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3개월 · 1단계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BFFE6D-3683-4809-884F-5CFE6ADE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1148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인원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4C0B33-E59F-403F-A976-491E96C2C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476750"/>
            <a:ext cx="219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2명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6CD6C5-9557-48C6-85D9-10B60641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148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DA53B0-E708-432D-9C53-D8124E23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3905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스타터 키트 + 개발 가이드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21C6C8-F42E-4ED3-B7B1-764D4EBD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2579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</p:spTree>
    <p:extLst>
      <p:ext uri="{BB962C8B-B14F-4D97-AF65-F5344CB8AC3E}">
        <p14:creationId xmlns:p14="http://schemas.microsoft.com/office/powerpoint/2010/main" val="566900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AD42E117-8AAB-4300-BBCC-C51E561B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solidFill>
              <a:srgbClr val="F4F7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62CDE-59F3-4FF1-9761-025F1230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E053F-065F-49AD-B361-37116AFD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245834-8641-4FBD-A563-B4F09DBB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11270E40-4FA1-4769-90AE-325F92B7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E6EDF9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E6EDF9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CC54D-3364-4C32-A470-79CD9510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2CFEA-82C1-4BBC-B856-AEE39ED11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DEFINITION · 무엇인가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913A18-53F5-46C1-8F73-DC0EAEF7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채널 파운데이션이란?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3239D-4528-4E26-9401-43D9E95D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049CBE-C325-4FFB-B9F5-F589D8DB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채널 프로젝트 반복 영역 표준화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E19D4-62DB-44E6-8D0A-604633FF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0134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프론트엔드·관리자 UI · 인증/권한 · 게이트웨이 · MCI 연동 기반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5BE41E-F0CE-4B42-92F3-2F4443531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013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완제품 솔루션이 아닌 빠른 프로젝트 착수를 위한 기반 자산  →  core · mci · full 모듈 단위 제공으로 단계적 확장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C4907E-E585-4B29-A5CD-0DB7C206F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3333750" cy="2305050"/>
          </a:xfrm>
          <a:prstGeom xmlns:a="http://schemas.openxmlformats.org/drawingml/2006/main" prst="roundRect">
            <a:avLst>
              <a:gd name="adj" fmla="val 57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980F30-6111-4D45-9378-05908ED43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92F99-009E-4E74-9D66-92FA7CB7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공통 구조 표준화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BF601E-1BCF-4DDB-8B73-97A0F331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2895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FE/BE 기본 구조·개발 규칙 표준화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→ 초기 구축 부담 축소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537B6-2DF8-438E-AE72-6FCBDE75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05200"/>
            <a:ext cx="3333750" cy="2305050"/>
          </a:xfrm>
          <a:prstGeom xmlns:a="http://schemas.openxmlformats.org/drawingml/2006/main" prst="roundRect">
            <a:avLst>
              <a:gd name="adj" fmla="val 5785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111E1E-A7A7-4A01-9406-EE01023C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52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2FD8D7-638E-4C35-A001-7F3B81EC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338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고객사별 확장 대응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F42C2A-46FB-4EAD-B5E5-EFB2C8FA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86300"/>
            <a:ext cx="2895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adapter · mapper · config로 차이 격리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→ 고객사별 연동 유연성 확보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23C4F8-C411-42D6-B016-A63C71618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05200"/>
            <a:ext cx="3333750" cy="2305050"/>
          </a:xfrm>
          <a:prstGeom xmlns:a="http://schemas.openxmlformats.org/drawingml/2006/main" prst="roundRect">
            <a:avLst>
              <a:gd name="adj" fmla="val 57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1237BD-A100-4A8F-AE8D-9B86688D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5285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3FED4D-B181-4EA1-8164-2F326707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33850"/>
            <a:ext cx="2876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모듈형 확장 기반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2FC39E-613F-4DDF-A2E3-38EC1C7F8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86300"/>
            <a:ext cx="2895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구축 베이스 우선 활용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→ core · mci · full 제품화 확장</a:t>
            </a:r>
          </a:p>
        </p:txBody>
      </p:sp>
      <p:sp>
        <p:nvSpPr>
          <p:cNvPr id="25" name="definition-card-1-stripe">
            <a:extLst xmlns:a="http://schemas.openxmlformats.org/drawingml/2006/main">
              <a:ext uri="{FF2B5EF4-FFF2-40B4-BE49-F238E27FC236}">
                <a16:creationId xmlns:a16="http://schemas.microsoft.com/office/drawing/2014/main" id="{11865DD7-0035-4AF2-A618-5CAF0813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26" name="definition-card-2-stripe">
            <a:extLst xmlns:a="http://schemas.openxmlformats.org/drawingml/2006/main">
              <a:ext uri="{FF2B5EF4-FFF2-40B4-BE49-F238E27FC236}">
                <a16:creationId xmlns:a16="http://schemas.microsoft.com/office/drawing/2014/main" id="{8285C768-20C2-4101-A1FB-E550F8F7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052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27" name="definition-card-3-stripe">
            <a:extLst xmlns:a="http://schemas.openxmlformats.org/drawingml/2006/main">
              <a:ext uri="{FF2B5EF4-FFF2-40B4-BE49-F238E27FC236}">
                <a16:creationId xmlns:a16="http://schemas.microsoft.com/office/drawing/2014/main" id="{218E168E-D2B5-45A6-8E9C-7B71E7D7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0520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524929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3700C2F8-801A-4771-A696-B6CD1961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solidFill>
              <a:srgbClr val="F4F7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8700E-AED7-4B42-87BA-A572B95F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AEBE6-53FC-4AC0-BA0A-35F33602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2F651-BB6E-44A9-9E0F-078D9C30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9838B387-F3BE-4125-A950-9FEAF732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E6EDF9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E6EDF9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711F5-7E3F-41C2-BE4A-5BB30701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72455F-F766-429D-8C6F-47254D90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WHY NOW · 추진 배경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61B26C-B22D-4188-BA50-D7C529E4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왜 지금 필요한가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EB946-9611-497F-9868-20DADA85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A8AA3-04AB-40D4-B58C-8DDCB077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1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기제품 적용 제약  →  채널 프로젝트 공통 기반 선제 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BBAA5-F7CB-484A-8D7F-20506213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9DB287-3A75-41CE-A688-BBBE29703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31AC6-A1DB-4D53-BF9A-FE6EA27A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194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공통 기반 부재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69BAC5-C0B8-4AA6-A7EC-950793E7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8130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프로젝트별 BE·FE 기초 재구축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B7FA2-3612-4779-9E15-F41302A3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318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→ 초기 작업 반복·시간 소모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994C79-9ED3-49A1-BD35-EC091F68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665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195388-F7A0-4504-9E50-238C51C4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ECF09-FF52-471D-8149-1E87B861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862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고객사별 차이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7334A-72AA-4722-BCE8-222C0F75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4810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업무·인증·MCI·계정계/정보계/대외계 차이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EDAC73-8903-45C4-B50C-1F898F8CA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318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→ 공통 영역 표준화 + 확장 구조 분리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055D58-2D6C-4D61-9272-614C533E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10858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70B4BC-2612-44A7-B1AE-98B64B16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29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7612FF-7876-487A-A155-100CB088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추진 적기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A6CC26-5ADD-4E96-ACA4-9D6CDB14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14900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차기 투입 전 가용 인력 활용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6A6FF5-4337-4CFE-A849-279508D3F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14900"/>
            <a:ext cx="3181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08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→ 반복 활용 가능한 공통 자산 확보</a:t>
            </a:r>
          </a:p>
        </p:txBody>
      </p:sp>
      <p:sp>
        <p:nvSpPr>
          <p:cNvPr id="26" name="why-row-1-divider-a">
            <a:extLst xmlns:a="http://schemas.openxmlformats.org/drawingml/2006/main">
              <a:ext uri="{FF2B5EF4-FFF2-40B4-BE49-F238E27FC236}">
                <a16:creationId xmlns:a16="http://schemas.microsoft.com/office/drawing/2014/main" id="{3F91841C-E94D-46EF-A621-439AA3112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813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27" name="why-row-1-divider-b">
            <a:extLst xmlns:a="http://schemas.openxmlformats.org/drawingml/2006/main">
              <a:ext uri="{FF2B5EF4-FFF2-40B4-BE49-F238E27FC236}">
                <a16:creationId xmlns:a16="http://schemas.microsoft.com/office/drawing/2014/main" id="{28F3283A-5AB8-4A88-8377-34448FEA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28" name="why-row-2-divider-a">
            <a:extLst xmlns:a="http://schemas.openxmlformats.org/drawingml/2006/main">
              <a:ext uri="{FF2B5EF4-FFF2-40B4-BE49-F238E27FC236}">
                <a16:creationId xmlns:a16="http://schemas.microsoft.com/office/drawing/2014/main" id="{4AD9A378-0FD7-43F2-8FD3-D65E664D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481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29" name="why-row-2-divider-b">
            <a:extLst xmlns:a="http://schemas.openxmlformats.org/drawingml/2006/main">
              <a:ext uri="{FF2B5EF4-FFF2-40B4-BE49-F238E27FC236}">
                <a16:creationId xmlns:a16="http://schemas.microsoft.com/office/drawing/2014/main" id="{CB0DBA89-EE8B-4C3A-A43A-75C388FD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481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30" name="why-row-3-divider-a">
            <a:extLst xmlns:a="http://schemas.openxmlformats.org/drawingml/2006/main">
              <a:ext uri="{FF2B5EF4-FFF2-40B4-BE49-F238E27FC236}">
                <a16:creationId xmlns:a16="http://schemas.microsoft.com/office/drawing/2014/main" id="{D553E1A5-0294-48D8-9F0F-35DC47DB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9149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31" name="why-row-3-divider-b">
            <a:extLst xmlns:a="http://schemas.openxmlformats.org/drawingml/2006/main">
              <a:ext uri="{FF2B5EF4-FFF2-40B4-BE49-F238E27FC236}">
                <a16:creationId xmlns:a16="http://schemas.microsoft.com/office/drawing/2014/main" id="{5617B577-9A54-480E-AE98-CA378B26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14900"/>
            <a:ext cx="95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3626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960E302E-AA4D-49FB-BCA9-D946855A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solidFill>
              <a:srgbClr val="F4F7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FECB6-179B-4748-BBBE-71DFA622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4A189-9547-4217-88FD-08280423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B7F89-A975-4A0A-9C40-56C18BEF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6A4EFEAA-8B17-47EA-AF8B-1847571A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E6EDF9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E6EDF9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6D355-0EB2-43DA-B559-669EFCB4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F05C1-B779-4108-A693-9EE5FBA6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ARCHITECTURE · 구성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5B9D87-F7A8-4147-903E-F662623E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Channel Foundation 구성도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7FAB0-259B-42D9-B1F4-6976595A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D862D9-9290-40AD-A164-12045603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337185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760629-8F14-40DE-A55C-5A937E13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3371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D5CDD-C00E-48CE-9117-0ED6B017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FRONTEND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14227-3446-436E-AB65-64212A36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React 19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14B33-30EA-4113-9368-D386068C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2F9B9-ECB2-450D-A40B-3DA0E031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8953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모노레포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9D6AD-C2CB-4F8B-B315-C22482C6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809875"/>
            <a:ext cx="19621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Turbo + pnpm · PC · Mobile · Admin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9E341-BF43-4D7B-AFB0-C7E1F076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8963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C9A09-1F58-49C8-AC19-0FBA4730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7063"/>
            <a:ext cx="8953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공통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0B241-B271-4C4A-86D2-02DB0F48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57538"/>
            <a:ext cx="19621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@bx/shared · 도메인 8종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EA0756-E644-4ADA-AB38-C3D27C5D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7662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6E0C09-A0D9-49CB-8195-780A35B4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8953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도메인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10524-5822-4ACD-8965-A0D16315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19621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auth · user · account · menu · product · alarm · base-info · common-code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41A37B-FABA-441D-B899-B7E139BE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4288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B32A20-2BCE-4490-A43D-3134862A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2388"/>
            <a:ext cx="8953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라우팅·데이터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5BA82-87C5-47D9-82F7-F99BF8F8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852863"/>
            <a:ext cx="19621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TanStack Router · Query · Zustand · Axios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D0638F-175A-40EE-83CC-EFF529F0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EE0275-3D94-4DBD-B343-B6C929C61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8953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인증·UI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80748C-CB67-4FD5-9FD0-8BEF1A0C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200525"/>
            <a:ext cx="19621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JWT 401 자동재발급 · Radix · Tailwind v4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614249-7D2A-4FA2-A8A6-BFE28456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9613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AD2240-C9F9-47C6-A245-221E41EA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7713"/>
            <a:ext cx="895350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빌드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53B10B-F522-4C06-A406-3CC4D9BB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48188"/>
            <a:ext cx="1962150" cy="300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Vite 8 · Biome · Vitest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6B1B26-9A3E-4C36-B01C-DC47F223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47850"/>
            <a:ext cx="337185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1FB2D8-3FC1-4380-9307-D7A9331A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847850"/>
            <a:ext cx="3371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1B2DCF-3B12-473F-853F-E0BC1B91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19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API 연계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EAEF40-BE5E-4654-A5A9-A00FAA5C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241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HTTPS · Envelope · JWT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A25EE6-F017-413C-A970-B6FA4C6C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575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FDE301-9567-4242-9EF1-4142C0D2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95600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OpenAPI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7BAEE7-2E22-4303-A97F-F7EB8429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88607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TypeBridge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DC7745D-9131-426D-97F2-E153DEF8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4956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6F1FE8C-C47E-41EA-B9A8-86B087BE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33775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타입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2FC9DB-F7DC-4D67-9F5A-F65614CD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524250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FE·BE 타입 자동 일치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CAAA176-EE6E-4F3B-AAA5-DBA81090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338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341C28-0672-4B4D-8933-BD0D034A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171950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자동화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DC2573-6B65-4404-AF45-D0823562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162425"/>
            <a:ext cx="1962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gen:api · CI drift gate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4EF26C-49B9-4673-839B-603FAE4C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47850"/>
            <a:ext cx="337185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D422B0-BE4D-497A-B8D2-DB1E3DAA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847850"/>
            <a:ext cx="33718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B669FDB-80D8-4302-BDD4-FEA63CCC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193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BACKEND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C5C0C8F-190B-4776-9DE4-4FD9FE6D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241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Java 21 · Boot 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0CB8133-24DC-4967-8A34-C4FB953F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8130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A62107-075B-4E8D-99EA-E5732668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19400"/>
            <a:ext cx="89535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MSA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C3F416-388B-4057-B304-076AF050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09875"/>
            <a:ext cx="196215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Spring Cloud · Gateway · Eureka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C0FAE6-5AC0-4932-9871-8A7A9386B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5638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EB05158-DA84-4697-9015-C89FCB0F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33738"/>
            <a:ext cx="89535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Services 5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3AB7144-EECA-43E4-89DB-3942B3A9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24213"/>
            <a:ext cx="196215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auth · mci · system · product · integration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060B1F-FB91-45CB-8523-C7D7C3A1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9975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087BEB-2AA2-4D36-8FFF-C060BE88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48075"/>
            <a:ext cx="89535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libs 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6F569E-C1AA-45A8-8881-FD812EFB0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38550"/>
            <a:ext cx="196215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common · business-common · mci-common · security-common · session-context-common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EB07EC-8C50-440B-AE7A-DC1D92B1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24313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6F9BA91-103F-44A5-8970-1B01D290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62413"/>
            <a:ext cx="89535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인증·세션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F5064F-0B48-41F5-8862-7BB5C99C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52888"/>
            <a:ext cx="196215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Gateway JWT 검증 · X-Auth-* · Redis 세션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20EB7F-B273-42D3-9115-FC1FBAEA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295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377A59-12B8-46C2-A504-69DC633A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76750"/>
            <a:ext cx="89535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3A83D8"/>
                </a:solidFill>
                <a:latin typeface="Malgun Gothic"/>
                <a:ea typeface="Malgun Gothic"/>
                <a:cs typeface="Malgun Gothic"/>
              </a:rPr>
              <a:t>MCI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3F07EA-415B-4F27-90D0-B0AC0933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467225"/>
            <a:ext cx="196215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769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YAML registry · Adapter/Mapper SPI · Router</a:t>
            </a:r>
          </a:p>
        </p:txBody>
      </p:sp>
      <p:sp>
        <p:nvSpPr>
          <p:cNvPr id="64" name="e2e-automation-band">
            <a:extLst xmlns:a="http://schemas.openxmlformats.org/drawingml/2006/main">
              <a:ext uri="{FF2B5EF4-FFF2-40B4-BE49-F238E27FC236}">
                <a16:creationId xmlns:a16="http://schemas.microsoft.com/office/drawing/2014/main" id="{7B61C6BF-7636-4D07-98C8-F2C68A79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107061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245BFF"/>
            </a:solidFill>
            <a:prstDash val="solid"/>
          </a:ln>
        </p:spPr>
      </p:sp>
      <p:sp>
        <p:nvSpPr>
          <p:cNvPr id="65" name="e2e-automation-label">
            <a:extLst xmlns:a="http://schemas.openxmlformats.org/drawingml/2006/main">
              <a:ext uri="{FF2B5EF4-FFF2-40B4-BE49-F238E27FC236}">
                <a16:creationId xmlns:a16="http://schemas.microsoft.com/office/drawing/2014/main" id="{9110A5F2-3265-4AC6-A1BC-C1B0565FC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E2E 테스트 자동화</a:t>
            </a:r>
          </a:p>
        </p:txBody>
      </p:sp>
      <p:sp>
        <p:nvSpPr>
          <p:cNvPr id="66" name="e2e-automation-detail">
            <a:extLst xmlns:a="http://schemas.openxmlformats.org/drawingml/2006/main">
              <a:ext uri="{FF2B5EF4-FFF2-40B4-BE49-F238E27FC236}">
                <a16:creationId xmlns:a16="http://schemas.microsoft.com/office/drawing/2014/main" id="{9EEA63DA-DB18-4932-8957-D861C71E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14950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Playwright · PC · Mobile · Admin 주요 시나리오 검증  →  CI 파이프라인 연동 · Vitest 단위 테스트 병행</a:t>
            </a:r>
          </a:p>
        </p:txBody>
      </p:sp>
    </p:spTree>
    <p:extLst>
      <p:ext uri="{BB962C8B-B14F-4D97-AF65-F5344CB8AC3E}">
        <p14:creationId xmlns:p14="http://schemas.microsoft.com/office/powerpoint/2010/main" val="18671067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8C31ADD2-1A45-4FA1-B41C-2FB36507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solidFill>
              <a:srgbClr val="F4F7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E16B2-2F8F-4519-A4E7-1EF09E93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B71D35-E4F0-4AE3-9932-EAADB83F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16315-B624-47AB-9330-ADA30C14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ABA681A6-9EFE-44CC-9C7E-BF5D1391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E6EDF9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E6EDF9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794A0-16DC-4F1F-A2D7-55EC9455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6D2B2-5E8C-47B6-9FA7-41434C2D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PLAN · 개발 계획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0E226-2075-4D1F-863F-3A392703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2명 · 3개월 — 1단계 마일스톤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77E70-71D9-45F3-A189-A331BABA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CAC7D-2E81-47A2-9897-6373FB4A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76425"/>
            <a:ext cx="1042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공통 뼈대 집중: 인프라 · 통신 · 인증 · 모듈 구조  /  고객별 비즈니스 로직 제외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A5A096-1B26-4DA5-B69C-751DD91D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333750" cy="3276600"/>
          </a:xfrm>
          <a:prstGeom xmlns:a="http://schemas.openxmlformats.org/drawingml/2006/main" prst="roundRect">
            <a:avLst>
              <a:gd name="adj" fmla="val 40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8A9BA-0907-4B7D-B278-61006145D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45BFF"/>
          </a:solidFill>
          <a:ln xmlns:a="http://schemas.openxmlformats.org/drawingml/2006/main" w="9525">
            <a:solidFill>
              <a:srgbClr val="245B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A6851-35D4-45C1-9328-7B0E1F73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57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1개월차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57656-42AA-487D-BE70-DDA1577F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기반 구축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9A8DA-D1CD-4B17-80BC-79D95BF7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914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00000"/>
              </a:lnSpc>
              <a:buChar char="•"/>
              <a:def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모노레포 구조화 · @bx/shared 세팅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buChar char="•"/>
              <a:def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번들러·빌드·배포 검증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831F6B-51E0-482E-A7D2-1955A2FB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ADB11-9570-4813-B5AB-7AFABE4B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C98078-9A6C-4D9B-9151-18327C85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0673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아키텍처 설계서 · 공통 뼈대 소스코드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1EEF67-6AAB-4249-813D-0DD23515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3333750" cy="3276600"/>
          </a:xfrm>
          <a:prstGeom xmlns:a="http://schemas.openxmlformats.org/drawingml/2006/main" prst="roundRect">
            <a:avLst>
              <a:gd name="adj" fmla="val 4070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520D45-3F81-428F-9D35-56A90AA3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003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45BFF"/>
          </a:solidFill>
          <a:ln xmlns:a="http://schemas.openxmlformats.org/drawingml/2006/main" w="9525">
            <a:solidFill>
              <a:srgbClr val="245B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AA4A4-CC4B-400F-B0C3-353FFA43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7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2개월차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82878A-F079-4E41-A05D-A8384B3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09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핵심 모듈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5502AA-99FD-4082-AC68-D6C586B3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2914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00000"/>
              </a:lnSpc>
              <a:buChar char="•"/>
              <a:def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auth · system · gateway 안정화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buChar char="•"/>
              <a:def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MCI 거래 정의 · mapper/adapter routing 구현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A731F5-E7F8-4519-9C22-78F865C4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530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99036C-8712-42B1-A3E3-AE9A763D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05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CABF54-803C-419C-B150-D5FE7370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0673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공통 인증/권한 · MCI 기본 흐름 · 샘플 거래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DE444A-4A4B-4893-A1DC-8D1D848F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3333750" cy="3276600"/>
          </a:xfrm>
          <a:prstGeom xmlns:a="http://schemas.openxmlformats.org/drawingml/2006/main" prst="roundRect">
            <a:avLst>
              <a:gd name="adj" fmla="val 40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5D5277-8848-4C25-898C-8A179D74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4191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245BFF"/>
          </a:solidFill>
          <a:ln xmlns:a="http://schemas.openxmlformats.org/drawingml/2006/main" w="9525">
            <a:solidFill>
              <a:srgbClr val="245B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F5A817-205F-4F4B-A443-EFFD6B10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575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3개월차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966CFF-F267-40D9-A5F9-BE721571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0995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검증 &amp; 가이드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844BFC-F01C-44D7-96FE-5D8A071C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05250"/>
            <a:ext cx="2914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8" indent="-10" algn="l">
              <a:lnSpc>
                <a:spcPct val="100000"/>
              </a:lnSpc>
              <a:buChar char="•"/>
              <a:def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Admin UI ↔ Backend API 연계 검증</a:t>
            </a:r>
          </a:p>
          <a:p xmlns:a="http://schemas.openxmlformats.org/drawingml/2006/main">
            <a:pPr marL="18" indent="-10" algn="l">
              <a:lnSpc>
                <a:spcPct val="100000"/>
              </a:lnSpc>
              <a:buChar char="•"/>
              <a:def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E2E 자동화 · 개발 가이드 · 샘플 정리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324009-CA57-4AC1-8239-1479469E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53000"/>
            <a:ext cx="2914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57B4DF-C895-41CF-A495-811518C7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1054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63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산출물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71038D-0503-4D25-A57B-43B85E43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6730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개발 가이드 · 샘플 업무 · 테스트 자동화 기반</a:t>
            </a:r>
          </a:p>
        </p:txBody>
      </p:sp>
      <p:sp>
        <p:nvSpPr>
          <p:cNvPr id="35" name="month-card-1-stripe">
            <a:extLst xmlns:a="http://schemas.openxmlformats.org/drawingml/2006/main">
              <a:ext uri="{FF2B5EF4-FFF2-40B4-BE49-F238E27FC236}">
                <a16:creationId xmlns:a16="http://schemas.microsoft.com/office/drawing/2014/main" id="{B020A0C4-654D-4C2E-B93B-EEF11463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36" name="month-card-2-stripe">
            <a:extLst xmlns:a="http://schemas.openxmlformats.org/drawingml/2006/main">
              <a:ext uri="{FF2B5EF4-FFF2-40B4-BE49-F238E27FC236}">
                <a16:creationId xmlns:a16="http://schemas.microsoft.com/office/drawing/2014/main" id="{C1A3D79F-D7D9-44F1-926C-D73083B4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37" name="month-card-3-stripe">
            <a:extLst xmlns:a="http://schemas.openxmlformats.org/drawingml/2006/main">
              <a:ext uri="{FF2B5EF4-FFF2-40B4-BE49-F238E27FC236}">
                <a16:creationId xmlns:a16="http://schemas.microsoft.com/office/drawing/2014/main" id="{780D1F96-1EED-4493-B731-27B0F292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481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817BB2F1-0740-4CED-B739-1CADE96F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solidFill>
              <a:srgbClr val="F4F7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F27F6-1668-45A5-B1D4-7812F1C1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16B98E-78A5-4A66-8BA2-005B7B9E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120BE-4951-4D2C-8905-51E80A8B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186EC5D5-88A8-4E76-BFF5-BCA1604BC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E6EDF9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E6EDF9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E82140-63CD-4223-BE37-1196F1A7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1F584-9DC6-41F4-AF53-47FD56E6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DELIVERABLES · 산출물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CF6B1-64A5-4879-9437-6CDFD0BB5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1단계 주요 산출물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5C1F8-EBAC-4C4C-BA88-C4582755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0A273-8672-403E-A581-00C90F99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76425"/>
            <a:ext cx="1042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고객별 비즈니스 로직 제외  →  파생 프로젝트 공통 기반 우선 확보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20C398-CA8B-4F49-8728-4C45CC12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3337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63032A-8CA7-4FD1-AD45-429E3656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E82A2-D34C-43B1-A6A2-C06E85EDE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1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Frontend 개발 가이드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B3951-0A56-4921-9147-52E2D36F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71825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PC · Mobile · Admin 스켈레톤 + 개발 가이드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CDE36D-3EF4-447F-B8F7-A98C02CE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33337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550ED-7722-4F14-8D90-4DA462C8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CE8EC5-66DD-4239-B978-1EF67EAB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7813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1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Backend 개발 가이드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020CDD-4AA4-408E-91E0-E792FF46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71825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공통 모듈 · 표준 레이아웃 + 개발 가이드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06C10A-E5BE-40C1-B342-5AE5A893A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33337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759776-6276-4592-B589-43E32D71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194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A1BA1-4809-4019-B0F6-1C5196C7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1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인증 / 권한 기본 체계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FD1740-823B-4930-9690-BCB57B78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71825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JWT 자동 재발급 · Gateway 내부 인증 · Redis 세션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37BB3-1AD7-4F0B-8103-69723241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3337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15342E-66C8-436D-9016-C75F07FF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F4BAF8-E77E-4271-B507-EF674CC3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1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MCI 연동 표준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F735E7-B4C2-41EE-B467-FDE34C80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33925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YAML 거래 registry · Adapter/Mapper · 샘플 거래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383FD3-A9A5-4FC3-BA2B-F6BDF6A8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10050"/>
            <a:ext cx="33337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A2066D-3ED8-4882-9579-073561BB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81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7187E6-CCBC-450B-BD24-7E4B14DB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1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API 연계 · 타입 자동화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0B082D-5FC1-4D9E-B8C0-67C0A459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733925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OpenAPI TypeBridge · Envelope 처리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36F2BB-15AE-44AD-B3CD-0CFB4F6DD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10050"/>
            <a:ext cx="3333750" cy="1314450"/>
          </a:xfrm>
          <a:prstGeom xmlns:a="http://schemas.openxmlformats.org/drawingml/2006/main" prst="roundRect">
            <a:avLst>
              <a:gd name="adj" fmla="val 10145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EF02DC-F099-4404-B490-6B7CC00FC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81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B8AD79-CAFB-4809-A2EB-B7240675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434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1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313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프로젝트 관리 · WBS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2F2BF2-5813-4C59-A60F-ECA0C4FC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733925"/>
            <a:ext cx="2400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94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994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GitHub Project 기반 WBS · 일정 관리</a:t>
            </a:r>
          </a:p>
        </p:txBody>
      </p:sp>
      <p:sp>
        <p:nvSpPr>
          <p:cNvPr id="35" name="deliverable-card-1-stripe">
            <a:extLst xmlns:a="http://schemas.openxmlformats.org/drawingml/2006/main">
              <a:ext uri="{FF2B5EF4-FFF2-40B4-BE49-F238E27FC236}">
                <a16:creationId xmlns:a16="http://schemas.microsoft.com/office/drawing/2014/main" id="{70D6968D-2AD3-45F5-AE6D-59B8DCAD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36" name="deliverable-card-2-stripe">
            <a:extLst xmlns:a="http://schemas.openxmlformats.org/drawingml/2006/main">
              <a:ext uri="{FF2B5EF4-FFF2-40B4-BE49-F238E27FC236}">
                <a16:creationId xmlns:a16="http://schemas.microsoft.com/office/drawing/2014/main" id="{77967A70-9B3F-49CA-AF0A-20CCC0F51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37" name="deliverable-card-3-stripe">
            <a:extLst xmlns:a="http://schemas.openxmlformats.org/drawingml/2006/main">
              <a:ext uri="{FF2B5EF4-FFF2-40B4-BE49-F238E27FC236}">
                <a16:creationId xmlns:a16="http://schemas.microsoft.com/office/drawing/2014/main" id="{91E4687B-90D6-418A-92C5-D614976A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38" name="deliverable-card-4-stripe">
            <a:extLst xmlns:a="http://schemas.openxmlformats.org/drawingml/2006/main">
              <a:ext uri="{FF2B5EF4-FFF2-40B4-BE49-F238E27FC236}">
                <a16:creationId xmlns:a16="http://schemas.microsoft.com/office/drawing/2014/main" id="{C951D147-5F99-4245-91F5-BCB1C5A7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100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39" name="deliverable-card-5-stripe">
            <a:extLst xmlns:a="http://schemas.openxmlformats.org/drawingml/2006/main">
              <a:ext uri="{FF2B5EF4-FFF2-40B4-BE49-F238E27FC236}">
                <a16:creationId xmlns:a16="http://schemas.microsoft.com/office/drawing/2014/main" id="{BD3A7E33-F935-413B-B0C5-04F40BB6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100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3D8"/>
          </a:solidFill>
          <a:ln xmlns:a="http://schemas.openxmlformats.org/drawingml/2006/main" w="0">
            <a:solidFill>
              <a:srgbClr val="3A83D8"/>
            </a:solidFill>
            <a:prstDash val="solid"/>
          </a:ln>
        </p:spPr>
      </p:sp>
      <p:sp>
        <p:nvSpPr>
          <p:cNvPr id="40" name="deliverable-card-6-stripe">
            <a:extLst xmlns:a="http://schemas.openxmlformats.org/drawingml/2006/main">
              <a:ext uri="{FF2B5EF4-FFF2-40B4-BE49-F238E27FC236}">
                <a16:creationId xmlns:a16="http://schemas.microsoft.com/office/drawing/2014/main" id="{63E4BE90-4115-43A1-9C21-0B350FBE8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100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95279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5522BBF1-920E-4CE1-8A8E-B71B72BE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solidFill>
              <a:srgbClr val="F4F7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2F051-97FF-4CCE-BD60-4643774B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631113-1024-4DA2-B87D-CF7B2B1F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992D5-C543-474A-82FB-1A20A5A8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9F4DA1B6-E277-41F7-83B0-EA229C4D7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E6EDF9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E6EDF9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AFAD0-044F-46F1-AE5B-6C49314D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D8749-C2BC-4C0A-BC40-09A97431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IMPACT · 기대효과 &amp; 로드맵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590FF-6315-43CA-AC74-157D2D13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기대효과와 향후 확장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D87BF3-2BA8-4DCD-8FE9-40FE83A2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62505-1E3B-467D-B865-DDD783C5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4953000" cy="4000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4D0FB-E674-472E-BD40-2F5161C4B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5524500" cy="40005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AA1923-0113-4D7C-BAEE-70B32E0B3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336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기대효과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28AB1B-294B-42C5-8644-81A4B1ED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336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향후 확장 — 모듈 단위 제품화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458D4-7A0B-40B0-ABFA-6A0A7EF9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62250"/>
            <a:ext cx="1047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45BFF"/>
          </a:solidFill>
          <a:ln xmlns:a="http://schemas.openxmlformats.org/drawingml/2006/main" w="9525">
            <a:solidFill>
              <a:srgbClr val="245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D7026B-C281-4D4F-AC28-B50DDEB8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7CBD6-E85F-42C1-88F3-7215A9C2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28925"/>
            <a:ext cx="3638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auth + system + gateway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9186D-D8B3-4DCD-970A-701CCE96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194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373D0-1492-4B6D-8D62-82A3B9AEB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448050"/>
            <a:ext cx="1047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45BFF"/>
          </a:solidFill>
          <a:ln xmlns:a="http://schemas.openxmlformats.org/drawingml/2006/main" w="9525">
            <a:solidFill>
              <a:srgbClr val="245B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C9A7C-AD32-47E7-85E3-A16F6A73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433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mci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40F753-7485-4D64-B416-E251C8BD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14725"/>
            <a:ext cx="3638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core + mci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A3C5F4-A32D-46A2-B3FB-01D61B73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05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45194-2547-4D5D-ABD6-59BEE84D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33850"/>
            <a:ext cx="10477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45BFF"/>
          </a:solidFill>
          <a:ln xmlns:a="http://schemas.openxmlformats.org/drawingml/2006/main" w="9525">
            <a:solidFill>
              <a:srgbClr val="245B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3786B6-D6B7-4BF5-89D6-418278CD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full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7A5059-9542-4180-8360-96D5AC79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00525"/>
            <a:ext cx="3638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013" b="0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core + mci + integration + 샘플 업무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49EB47-353D-46A0-9608-9BAFA9CE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57750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F"/>
          </a:solidFill>
          <a:ln xmlns:a="http://schemas.openxmlformats.org/drawingml/2006/main" w="0">
            <a:solidFill>
              <a:srgbClr val="C8D6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150845-FED8-4481-A68B-1AC4944D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010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63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63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채널 서비스 모니터링 도구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FA902E-D9F9-4B6D-BC86-B80B0566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3911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PC · Mobile · Admin 실시간 상태 감시  |  가동률 · 응답속도 · 점검 상태</a:t>
            </a:r>
          </a:p>
        </p:txBody>
      </p:sp>
      <p:sp>
        <p:nvSpPr>
          <p:cNvPr id="29" name="impact-benefit-1">
            <a:extLst xmlns:a="http://schemas.openxmlformats.org/drawingml/2006/main">
              <a:ext uri="{FF2B5EF4-FFF2-40B4-BE49-F238E27FC236}">
                <a16:creationId xmlns:a16="http://schemas.microsoft.com/office/drawing/2014/main" id="{4BE93CFF-774E-4050-ADCB-B1B71632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266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30" name="impact-benefit-1-number">
            <a:extLst xmlns:a="http://schemas.openxmlformats.org/drawingml/2006/main">
              <a:ext uri="{FF2B5EF4-FFF2-40B4-BE49-F238E27FC236}">
                <a16:creationId xmlns:a16="http://schemas.microsoft.com/office/drawing/2014/main" id="{A0F4A116-421F-461A-BE68-453576BC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361950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245BFF"/>
          </a:solidFill>
          <a:ln xmlns:a="http://schemas.openxmlformats.org/drawingml/2006/main" w="9525">
            <a:solidFill>
              <a:srgbClr val="245B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1" name="impact-benefit-1-text">
            <a:extLst xmlns:a="http://schemas.openxmlformats.org/drawingml/2006/main">
              <a:ext uri="{FF2B5EF4-FFF2-40B4-BE49-F238E27FC236}">
                <a16:creationId xmlns:a16="http://schemas.microsoft.com/office/drawing/2014/main" id="{74664268-8247-4D64-85A4-4EFADABC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781300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채널 프로젝트 초기 구축 기간 단축</a:t>
            </a:r>
          </a:p>
        </p:txBody>
      </p:sp>
      <p:sp>
        <p:nvSpPr>
          <p:cNvPr id="32" name="impact-benefit-2">
            <a:extLst xmlns:a="http://schemas.openxmlformats.org/drawingml/2006/main">
              <a:ext uri="{FF2B5EF4-FFF2-40B4-BE49-F238E27FC236}">
                <a16:creationId xmlns:a16="http://schemas.microsoft.com/office/drawing/2014/main" id="{B72B04E1-D17D-4EC1-8C96-378613636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686050"/>
            <a:ext cx="2266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33" name="impact-benefit-2-number">
            <a:extLst xmlns:a="http://schemas.openxmlformats.org/drawingml/2006/main">
              <a:ext uri="{FF2B5EF4-FFF2-40B4-BE49-F238E27FC236}">
                <a16:creationId xmlns:a16="http://schemas.microsoft.com/office/drawing/2014/main" id="{2934365B-A003-4E58-A08F-4B7A5CBD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19400"/>
            <a:ext cx="361950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245BFF"/>
          </a:solidFill>
          <a:ln xmlns:a="http://schemas.openxmlformats.org/drawingml/2006/main" w="9525">
            <a:solidFill>
              <a:srgbClr val="245B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4" name="impact-benefit-2-text">
            <a:extLst xmlns:a="http://schemas.openxmlformats.org/drawingml/2006/main">
              <a:ext uri="{FF2B5EF4-FFF2-40B4-BE49-F238E27FC236}">
                <a16:creationId xmlns:a16="http://schemas.microsoft.com/office/drawing/2014/main" id="{889E14C2-817E-4204-857C-B4C560F1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81300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개발 표준화 및 품질 향상</a:t>
            </a:r>
          </a:p>
        </p:txBody>
      </p:sp>
      <p:sp>
        <p:nvSpPr>
          <p:cNvPr id="35" name="impact-benefit-3">
            <a:extLst xmlns:a="http://schemas.openxmlformats.org/drawingml/2006/main">
              <a:ext uri="{FF2B5EF4-FFF2-40B4-BE49-F238E27FC236}">
                <a16:creationId xmlns:a16="http://schemas.microsoft.com/office/drawing/2014/main" id="{8425F1AD-6232-4E2C-B9EE-A54F0AE7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266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36" name="impact-benefit-3-number">
            <a:extLst xmlns:a="http://schemas.openxmlformats.org/drawingml/2006/main">
              <a:ext uri="{FF2B5EF4-FFF2-40B4-BE49-F238E27FC236}">
                <a16:creationId xmlns:a16="http://schemas.microsoft.com/office/drawing/2014/main" id="{CC74089B-B320-4FB6-9AB5-6E502002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361950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245BFF"/>
          </a:solidFill>
          <a:ln xmlns:a="http://schemas.openxmlformats.org/drawingml/2006/main" w="9525">
            <a:solidFill>
              <a:srgbClr val="245B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7" name="impact-benefit-3-text">
            <a:extLst xmlns:a="http://schemas.openxmlformats.org/drawingml/2006/main">
              <a:ext uri="{FF2B5EF4-FFF2-40B4-BE49-F238E27FC236}">
                <a16:creationId xmlns:a16="http://schemas.microsoft.com/office/drawing/2014/main" id="{9676A345-A01C-4CE1-A6A8-1028001B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714750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반복 개발 비용 절감</a:t>
            </a:r>
          </a:p>
        </p:txBody>
      </p:sp>
      <p:sp>
        <p:nvSpPr>
          <p:cNvPr id="38" name="impact-benefit-4">
            <a:extLst xmlns:a="http://schemas.openxmlformats.org/drawingml/2006/main">
              <a:ext uri="{FF2B5EF4-FFF2-40B4-BE49-F238E27FC236}">
                <a16:creationId xmlns:a16="http://schemas.microsoft.com/office/drawing/2014/main" id="{725AEB80-F584-49BD-A2B4-FDF9E19C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619500"/>
            <a:ext cx="2266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39" name="impact-benefit-4-number">
            <a:extLst xmlns:a="http://schemas.openxmlformats.org/drawingml/2006/main">
              <a:ext uri="{FF2B5EF4-FFF2-40B4-BE49-F238E27FC236}">
                <a16:creationId xmlns:a16="http://schemas.microsoft.com/office/drawing/2014/main" id="{1EDC16B2-D772-4064-AA99-A6FACD2D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52850"/>
            <a:ext cx="361950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245BFF"/>
          </a:solidFill>
          <a:ln xmlns:a="http://schemas.openxmlformats.org/drawingml/2006/main" w="9525">
            <a:solidFill>
              <a:srgbClr val="245B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0" name="impact-benefit-4-text">
            <a:extLst xmlns:a="http://schemas.openxmlformats.org/drawingml/2006/main">
              <a:ext uri="{FF2B5EF4-FFF2-40B4-BE49-F238E27FC236}">
                <a16:creationId xmlns:a16="http://schemas.microsoft.com/office/drawing/2014/main" id="{DFB5797E-E388-4A7F-983F-9BFF420B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714750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MCI · 외부 연동 구조 재사용</a:t>
            </a:r>
          </a:p>
        </p:txBody>
      </p:sp>
      <p:sp>
        <p:nvSpPr>
          <p:cNvPr id="41" name="impact-benefit-5">
            <a:extLst xmlns:a="http://schemas.openxmlformats.org/drawingml/2006/main">
              <a:ext uri="{FF2B5EF4-FFF2-40B4-BE49-F238E27FC236}">
                <a16:creationId xmlns:a16="http://schemas.microsoft.com/office/drawing/2014/main" id="{EBBDECC6-670E-4A42-A2AA-5730341C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52950"/>
            <a:ext cx="2266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42" name="impact-benefit-5-number">
            <a:extLst xmlns:a="http://schemas.openxmlformats.org/drawingml/2006/main">
              <a:ext uri="{FF2B5EF4-FFF2-40B4-BE49-F238E27FC236}">
                <a16:creationId xmlns:a16="http://schemas.microsoft.com/office/drawing/2014/main" id="{38DE87F5-8DD7-483D-9C4D-5C15F1F7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86300"/>
            <a:ext cx="361950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245BFF"/>
          </a:solidFill>
          <a:ln xmlns:a="http://schemas.openxmlformats.org/drawingml/2006/main" w="9525">
            <a:solidFill>
              <a:srgbClr val="245B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3" name="impact-benefit-5-text">
            <a:extLst xmlns:a="http://schemas.openxmlformats.org/drawingml/2006/main">
              <a:ext uri="{FF2B5EF4-FFF2-40B4-BE49-F238E27FC236}">
                <a16:creationId xmlns:a16="http://schemas.microsoft.com/office/drawing/2014/main" id="{935993C2-713B-40AA-A697-52F6982B4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48200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고객사별 커스터마이징 범위 명확화</a:t>
            </a:r>
          </a:p>
        </p:txBody>
      </p:sp>
      <p:sp>
        <p:nvSpPr>
          <p:cNvPr id="44" name="impact-benefit-6">
            <a:extLst xmlns:a="http://schemas.openxmlformats.org/drawingml/2006/main">
              <a:ext uri="{FF2B5EF4-FFF2-40B4-BE49-F238E27FC236}">
                <a16:creationId xmlns:a16="http://schemas.microsoft.com/office/drawing/2014/main" id="{B50B4EE2-951E-4CDB-98B7-72AB9D5A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552950"/>
            <a:ext cx="22669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45" name="impact-benefit-6-number">
            <a:extLst xmlns:a="http://schemas.openxmlformats.org/drawingml/2006/main">
              <a:ext uri="{FF2B5EF4-FFF2-40B4-BE49-F238E27FC236}">
                <a16:creationId xmlns:a16="http://schemas.microsoft.com/office/drawing/2014/main" id="{66DDEBFE-9839-4CD5-8530-EFB2634E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86300"/>
            <a:ext cx="361950" cy="20955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245BFF"/>
          </a:solidFill>
          <a:ln xmlns:a="http://schemas.openxmlformats.org/drawingml/2006/main" w="9525">
            <a:solidFill>
              <a:srgbClr val="245B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6" name="impact-benefit-6-text">
            <a:extLst xmlns:a="http://schemas.openxmlformats.org/drawingml/2006/main">
              <a:ext uri="{FF2B5EF4-FFF2-40B4-BE49-F238E27FC236}">
                <a16:creationId xmlns:a16="http://schemas.microsoft.com/office/drawing/2014/main" id="{43CD08DB-40F9-495D-A194-588F5F3E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648200"/>
            <a:ext cx="1581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MVP 기반 Pre-sales 데모 · 즉시 커스터마이징</a:t>
            </a:r>
          </a:p>
        </p:txBody>
      </p:sp>
    </p:spTree>
    <p:extLst>
      <p:ext uri="{BB962C8B-B14F-4D97-AF65-F5344CB8AC3E}">
        <p14:creationId xmlns:p14="http://schemas.microsoft.com/office/powerpoint/2010/main" val="5682980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-cover">
            <a:extLst xmlns:a="http://schemas.openxmlformats.org/drawingml/2006/main">
              <a:ext uri="{FF2B5EF4-FFF2-40B4-BE49-F238E27FC236}">
                <a16:creationId xmlns:a16="http://schemas.microsoft.com/office/drawing/2014/main" id="{EE9ECE25-A323-4BB7-A4AB-5AF801CB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C"/>
          </a:solidFill>
          <a:ln xmlns:a="http://schemas.openxmlformats.org/drawingml/2006/main" w="0">
            <a:solidFill>
              <a:srgbClr val="F4F7F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00CADD-7495-4D17-AD8C-95DF90F5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채널 파운데이션  ·  Channel Foundation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C4372-E112-4BC2-9224-FCD5035B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438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2026.06  ·  채널유닛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017308-EDDE-43A6-8142-FEE1394F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389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88" b="1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788" b="1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5" name="ghost-page-number">
            <a:extLst xmlns:a="http://schemas.openxmlformats.org/drawingml/2006/main">
              <a:ext uri="{FF2B5EF4-FFF2-40B4-BE49-F238E27FC236}">
                <a16:creationId xmlns:a16="http://schemas.microsoft.com/office/drawing/2014/main" id="{85395783-FCBD-40BB-A556-A51646E34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6250"/>
            <a:ext cx="112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E6EDF9"/>
                </a:solidFill>
                <a:latin typeface="Malgun Gothic"/>
                <a:ea typeface="Malgun Gothic"/>
                <a:cs typeface="Malgun Gothic"/>
              </a:defRPr>
            </a:pPr>
            <a:r>
              <a:rPr sz="4350" b="1">
                <a:solidFill>
                  <a:srgbClr val="E6EDF9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98689D-E624-49A9-B73F-784D45C6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"/>
            <a:ext cx="76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FDA8D1-AE14-413B-99ED-AAF0BB0F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AI · 개발 방식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DB93F6-FFE8-42EB-B122-A8D48C36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AI 활용 개발 — 실증과 SI 시장 대비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3F3F8-2D58-467A-BD3E-1A51215A9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858500" cy="628650"/>
          </a:xfrm>
          <a:prstGeom xmlns:a="http://schemas.openxmlformats.org/drawingml/2006/main" prst="roundRect">
            <a:avLst>
              <a:gd name="adj" fmla="val 21212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E32A7-0961-4ADC-954B-C9F6E923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76425"/>
            <a:ext cx="10420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238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AI 유료 요금제 도입 확정  →  실제 활용 실증 + 조직 개발 역량 내재화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65E93-146F-4080-A6A4-E380ADC1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333750" cy="3200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DDBA2-5EE4-4634-8D13-F2FD5A56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AI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D266CE-3344-40AD-ADA5-77085458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AI Agent 활용 가치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0724F-A01F-4CD8-A4E7-B0C8BBF6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914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 algn="l">
              <a:lnSpc>
                <a:spcPct val="100000"/>
              </a:lnSpc>
              <a:buChar char="•"/>
              <a:def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전체 소스 의존성 유지 분석</a:t>
            </a:r>
          </a:p>
          <a:p xmlns:a="http://schemas.openxmlformats.org/drawingml/2006/main">
            <a:pPr marL="20" indent="-10" algn="l">
              <a:lnSpc>
                <a:spcPct val="100000"/>
              </a:lnSpc>
              <a:buChar char="•"/>
              <a:def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아키텍처 정합성 기반 코드 생성</a:t>
            </a:r>
          </a:p>
          <a:p xmlns:a="http://schemas.openxmlformats.org/drawingml/2006/main">
            <a:pPr marL="20" indent="-10" algn="l">
              <a:lnSpc>
                <a:spcPct val="100000"/>
              </a:lnSpc>
              <a:buChar char="•"/>
              <a:def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정확한 오류 진단 · 연속 작업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F30E9-B3E5-47C3-8299-E3C23F58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3333750" cy="3200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7EFFF"/>
          </a:solidFill>
          <a:ln xmlns:a="http://schemas.openxmlformats.org/drawingml/2006/main" w="14288">
            <a:solidFill>
              <a:srgbClr val="245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D60AF2-888A-4F4E-A388-7234B5EB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95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PROOF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172FDB-38A3-42E4-A231-0490CE1D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718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실증 — 적용 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5EAE12-BBA6-423D-B07D-7C92C816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95750"/>
            <a:ext cx="2914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 algn="l">
              <a:lnSpc>
                <a:spcPct val="100000"/>
              </a:lnSpc>
              <a:buChar char="•"/>
              <a:def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GitHub Webhook → Notion 자동화</a:t>
            </a:r>
          </a:p>
          <a:p xmlns:a="http://schemas.openxmlformats.org/drawingml/2006/main">
            <a:pPr marL="20" indent="-10" algn="l">
              <a:lnSpc>
                <a:spcPct val="100000"/>
              </a:lnSpc>
              <a:buChar char="•"/>
              <a:def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WBS ↔ GitHub Projects 동기화</a:t>
            </a:r>
          </a:p>
          <a:p xmlns:a="http://schemas.openxmlformats.org/drawingml/2006/main">
            <a:pPr marL="20" indent="-10" algn="l">
              <a:lnSpc>
                <a:spcPct val="100000"/>
              </a:lnSpc>
              <a:buChar char="•"/>
              <a:def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OpenAPI → FE 타입 자동생성 CI 게이트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35BEEB-82D4-4C45-8742-72959581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3333750" cy="32004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A0EF7-414B-4369-8DFF-0AE7431D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956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defRPr>
            </a:pPr>
            <a:r>
              <a:rPr sz="938" b="1">
                <a:solidFill>
                  <a:srgbClr val="245BFF"/>
                </a:solidFill>
                <a:latin typeface="Malgun Gothic"/>
                <a:ea typeface="Malgun Gothic"/>
                <a:cs typeface="Malgun Gothic"/>
              </a:rPr>
              <a:t>MARKET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2D5E41-BD56-4ED5-8678-99A8B666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718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02044"/>
                </a:solidFill>
                <a:latin typeface="Malgun Gothic"/>
                <a:ea typeface="Malgun Gothic"/>
                <a:cs typeface="Malgun Gothic"/>
              </a:rPr>
              <a:t>SI 시장 변화 대비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F220F0-2A46-452B-9ADA-BDDA2956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095750"/>
            <a:ext cx="29146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0" algn="l">
              <a:lnSpc>
                <a:spcPct val="100000"/>
              </a:lnSpc>
              <a:buChar char="•"/>
              <a:def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SI 개발 방식 변화 선제 대응</a:t>
            </a:r>
          </a:p>
          <a:p xmlns:a="http://schemas.openxmlformats.org/drawingml/2006/main">
            <a:pPr marL="20" indent="-10" algn="l">
              <a:lnSpc>
                <a:spcPct val="100000"/>
              </a:lnSpc>
              <a:buChar char="•"/>
              <a:def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조직 경험 축적</a:t>
            </a:r>
          </a:p>
          <a:p xmlns:a="http://schemas.openxmlformats.org/drawingml/2006/main">
            <a:pPr marL="20" indent="-10" algn="l">
              <a:lnSpc>
                <a:spcPct val="100000"/>
              </a:lnSpc>
              <a:buChar char="•"/>
              <a:def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defRPr>
            </a:pPr>
            <a:r>
              <a:rPr sz="1069" b="0">
                <a:solidFill>
                  <a:srgbClr val="586783"/>
                </a:solidFill>
                <a:latin typeface="Malgun Gothic"/>
                <a:ea typeface="Malgun Gothic"/>
                <a:cs typeface="Malgun Gothic"/>
              </a:rPr>
              <a:t>적용 역량 내재화</a:t>
            </a:r>
          </a:p>
        </p:txBody>
      </p:sp>
      <p:sp>
        <p:nvSpPr>
          <p:cNvPr id="23" name="ai-card-1-stripe">
            <a:extLst xmlns:a="http://schemas.openxmlformats.org/drawingml/2006/main">
              <a:ext uri="{FF2B5EF4-FFF2-40B4-BE49-F238E27FC236}">
                <a16:creationId xmlns:a16="http://schemas.microsoft.com/office/drawing/2014/main" id="{BEE2C0C5-ABF5-4A72-8EA0-BD517AC9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3D8"/>
          </a:solidFill>
          <a:ln xmlns:a="http://schemas.openxmlformats.org/drawingml/2006/main" w="0">
            <a:solidFill>
              <a:srgbClr val="3A83D8"/>
            </a:solidFill>
            <a:prstDash val="solid"/>
          </a:ln>
        </p:spPr>
      </p:sp>
      <p:sp>
        <p:nvSpPr>
          <p:cNvPr id="24" name="ai-card-2-stripe">
            <a:extLst xmlns:a="http://schemas.openxmlformats.org/drawingml/2006/main">
              <a:ext uri="{FF2B5EF4-FFF2-40B4-BE49-F238E27FC236}">
                <a16:creationId xmlns:a16="http://schemas.microsoft.com/office/drawing/2014/main" id="{F07C3EC0-66B1-428E-B40C-12D1BFAD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BFF"/>
          </a:solidFill>
          <a:ln xmlns:a="http://schemas.openxmlformats.org/drawingml/2006/main" w="0">
            <a:solidFill>
              <a:srgbClr val="245BFF"/>
            </a:solidFill>
            <a:prstDash val="solid"/>
          </a:ln>
        </p:spPr>
      </p:sp>
      <p:sp>
        <p:nvSpPr>
          <p:cNvPr id="25" name="ai-card-3-stripe">
            <a:extLst xmlns:a="http://schemas.openxmlformats.org/drawingml/2006/main">
              <a:ext uri="{FF2B5EF4-FFF2-40B4-BE49-F238E27FC236}">
                <a16:creationId xmlns:a16="http://schemas.microsoft.com/office/drawing/2014/main" id="{132166D9-D24B-412D-9426-83E1F40C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3333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83D8"/>
          </a:solidFill>
          <a:ln xmlns:a="http://schemas.openxmlformats.org/drawingml/2006/main" w="0">
            <a:solidFill>
              <a:srgbClr val="3A83D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419381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2026-07-15T07:56:37.3000000Z</dcterms:created>
  <dcterms:modified xsi:type="dcterms:W3CDTF">2026-07-15T07:56:37.3000000Z</dcterms:modified>
</coreProperties>
</file>