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0e2ba668bb4621" /><Relationship Type="http://schemas.openxmlformats.org/officeDocument/2006/relationships/extended-properties" Target="/docProps/app.xml" Id="Rb9e09e5bc44f474c" /><Relationship Type="http://schemas.openxmlformats.org/officeDocument/2006/relationships/officeDocument" Target="/ppt/presentation.xml" Id="R6519ada384e44f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b4f97ba314bd4"/>
  </p:sldMasterIdLst>
  <p:notesMasterIdLst>
    <p:notesMasterId xmlns:r="http://schemas.openxmlformats.org/officeDocument/2006/relationships" r:id="Rb3fe169a43154252"/>
  </p:notesMasterIdLst>
  <p:sldIdLst>
    <p:sldId xmlns:r="http://schemas.openxmlformats.org/officeDocument/2006/relationships" id="256" r:id="R1951eb9871544d28"/>
    <p:sldId xmlns:r="http://schemas.openxmlformats.org/officeDocument/2006/relationships" id="257" r:id="Re467322fdc4f4ba5"/>
    <p:sldId xmlns:r="http://schemas.openxmlformats.org/officeDocument/2006/relationships" id="258" r:id="Ra6c70837afdb4db6"/>
    <p:sldId xmlns:r="http://schemas.openxmlformats.org/officeDocument/2006/relationships" id="259" r:id="R5084395447c64c0a"/>
    <p:sldId xmlns:r="http://schemas.openxmlformats.org/officeDocument/2006/relationships" id="260" r:id="R1b5223bbb83b4bc6"/>
    <p:sldId xmlns:r="http://schemas.openxmlformats.org/officeDocument/2006/relationships" id="261" r:id="R697d6dfb0e9943cf"/>
    <p:sldId xmlns:r="http://schemas.openxmlformats.org/officeDocument/2006/relationships" id="262" r:id="R689412b43dc74a18"/>
    <p:sldId xmlns:r="http://schemas.openxmlformats.org/officeDocument/2006/relationships" id="263" r:id="Re77ee294c39045d1"/>
    <p:sldId xmlns:r="http://schemas.openxmlformats.org/officeDocument/2006/relationships" id="264" r:id="R499a7a88fd0b4319"/>
  </p:sldIdLst>
  <p:sldSz cx="1219169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07d33a90194007" /><Relationship Type="http://schemas.openxmlformats.org/officeDocument/2006/relationships/slideMaster" Target="/ppt/slideMasters/slideMaster1.xml" Id="R055b4f97ba314bd4" /><Relationship Type="http://schemas.openxmlformats.org/officeDocument/2006/relationships/notesMaster" Target="/ppt/notesMasters/notesMaster1.xml" Id="Rb3fe169a43154252" /><Relationship Type="http://schemas.openxmlformats.org/officeDocument/2006/relationships/presProps" Target="/ppt/presProps.xml" Id="R93b7520deec74ccf" /><Relationship Type="http://schemas.openxmlformats.org/officeDocument/2006/relationships/viewProps" Target="/ppt/viewProps.xml" Id="Rf3c573e969b8452c" /><Relationship Type="http://schemas.openxmlformats.org/officeDocument/2006/relationships/tableStyles" Target="/ppt/tableStyles.xml" Id="Rc333867d2aaf4d1b" /><Relationship Type="http://schemas.openxmlformats.org/officeDocument/2006/relationships/slide" Target="/ppt/slides/slide1.xml" Id="R1951eb9871544d28" /><Relationship Type="http://schemas.openxmlformats.org/officeDocument/2006/relationships/slide" Target="/ppt/slides/slide2.xml" Id="Re467322fdc4f4ba5" /><Relationship Type="http://schemas.openxmlformats.org/officeDocument/2006/relationships/slide" Target="/ppt/slides/slide3.xml" Id="Ra6c70837afdb4db6" /><Relationship Type="http://schemas.openxmlformats.org/officeDocument/2006/relationships/slide" Target="/ppt/slides/slide4.xml" Id="R5084395447c64c0a" /><Relationship Type="http://schemas.openxmlformats.org/officeDocument/2006/relationships/slide" Target="/ppt/slides/slide5.xml" Id="R1b5223bbb83b4bc6" /><Relationship Type="http://schemas.openxmlformats.org/officeDocument/2006/relationships/slide" Target="/ppt/slides/slide6.xml" Id="R697d6dfb0e9943cf" /><Relationship Type="http://schemas.openxmlformats.org/officeDocument/2006/relationships/slide" Target="/ppt/slides/slide7.xml" Id="R689412b43dc74a18" /><Relationship Type="http://schemas.openxmlformats.org/officeDocument/2006/relationships/slide" Target="/ppt/slides/slide8.xml" Id="Re77ee294c39045d1" /><Relationship Type="http://schemas.openxmlformats.org/officeDocument/2006/relationships/slide" Target="/ppt/slides/slide9.xml" Id="R499a7a88fd0b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1cb590ba0d46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cd8ae56625444b" /><Relationship Type="http://schemas.openxmlformats.org/officeDocument/2006/relationships/notesMaster" Target="/ppt/notesMasters/notesMaster1.xml" Id="Rc65355d86cd7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1d9939e6f3497a" /><Relationship Type="http://schemas.openxmlformats.org/officeDocument/2006/relationships/notesMaster" Target="/ppt/notesMasters/notesMaster1.xml" Id="R46ea543361cf4b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62d6451a446e6" /><Relationship Type="http://schemas.openxmlformats.org/officeDocument/2006/relationships/notesMaster" Target="/ppt/notesMasters/notesMaster1.xml" Id="R88882411e6b74c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bd411fc3a2414c" /><Relationship Type="http://schemas.openxmlformats.org/officeDocument/2006/relationships/notesMaster" Target="/ppt/notesMasters/notesMaster1.xml" Id="R03797526b4a342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ee08a795374f17" /><Relationship Type="http://schemas.openxmlformats.org/officeDocument/2006/relationships/notesMaster" Target="/ppt/notesMasters/notesMaster1.xml" Id="Rdfb112c76e5648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5449cfa0e46bf" /><Relationship Type="http://schemas.openxmlformats.org/officeDocument/2006/relationships/notesMaster" Target="/ppt/notesMasters/notesMaster1.xml" Id="R137dfd79cf064b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d4d0f692ee491d" /><Relationship Type="http://schemas.openxmlformats.org/officeDocument/2006/relationships/notesMaster" Target="/ppt/notesMasters/notesMaster1.xml" Id="R082037fbea8141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c79023ec5e4f58" /><Relationship Type="http://schemas.openxmlformats.org/officeDocument/2006/relationships/notesMaster" Target="/ppt/notesMasters/notesMaster1.xml" Id="R606b335005ae4c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13b28f3c9a4089" /><Relationship Type="http://schemas.openxmlformats.org/officeDocument/2006/relationships/notesMaster" Target="/ppt/notesMasters/notesMaster1.xml" Id="Re4813664a613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73ffb244c463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dd69c02297402a" /><Relationship Type="http://schemas.openxmlformats.org/officeDocument/2006/relationships/slideLayout" Target="/ppt/slideLayouts/slideLayout1.xml" Id="R608eb692ff78426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eb692ff784263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7126fe798412f" /><Relationship Type="http://schemas.openxmlformats.org/officeDocument/2006/relationships/notesSlide" Target="/ppt/notesSlides/notesSlide1.xml" Id="R595706d59d25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f8996b1384055" /><Relationship Type="http://schemas.openxmlformats.org/officeDocument/2006/relationships/notesSlide" Target="/ppt/notesSlides/notesSlide2.xml" Id="R49a6ad95e751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de8d54ce14fa0" /><Relationship Type="http://schemas.openxmlformats.org/officeDocument/2006/relationships/notesSlide" Target="/ppt/notesSlides/notesSlide3.xml" Id="Rbbc897c133b74f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98ba6d20c423f" /><Relationship Type="http://schemas.openxmlformats.org/officeDocument/2006/relationships/notesSlide" Target="/ppt/notesSlides/notesSlide4.xml" Id="R34061b87e57d46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fdafe5580467d" /><Relationship Type="http://schemas.openxmlformats.org/officeDocument/2006/relationships/notesSlide" Target="/ppt/notesSlides/notesSlide5.xml" Id="R9f39b7c0bd7843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26973de814c63" /><Relationship Type="http://schemas.openxmlformats.org/officeDocument/2006/relationships/notesSlide" Target="/ppt/notesSlides/notesSlide6.xml" Id="Re2e4ab4aec0442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ca5b9e8ba4be5" /><Relationship Type="http://schemas.openxmlformats.org/officeDocument/2006/relationships/notesSlide" Target="/ppt/notesSlides/notesSlide7.xml" Id="Rd16ca03b76ad41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c3e4b3f874111" /><Relationship Type="http://schemas.openxmlformats.org/officeDocument/2006/relationships/notesSlide" Target="/ppt/notesSlides/notesSlide8.xml" Id="R8e040f1799ae4c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4e50a13b844ad" /><Relationship Type="http://schemas.openxmlformats.org/officeDocument/2006/relationships/notesSlide" Target="/ppt/notesSlides/notesSlide9.xml" Id="R1b464440e66348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F263C1-B66B-4F43-97B2-A61BE235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6928"/>
            <a:ext cx="182880" cy="18288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A59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C6B73D-313C-4816-B6F5-E3DFA988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66928"/>
            <a:ext cx="182880" cy="18288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837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F6367A-8525-4509-9319-E41D55BF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04672"/>
            <a:ext cx="182880" cy="18288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837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CF7660-83E4-461F-BBCF-A88B5DE5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804672"/>
            <a:ext cx="182880" cy="18288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8A2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E86A3A-F271-49F4-B965-473A6208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PROPOSAL  ·  CHANNEL UNIT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74F131-AAE0-498D-8CA7-13FA2735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1005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채널 파운데이션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8DF3AA3-D341-4BC5-988E-2A2B402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5468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2600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Channel Foundation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6E7B3B0-8D05-4088-A194-D3EFFD2A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채널 프로젝트 수행을 위한 공통 기반(Backend · Frontend) 구축 제안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88F4BD3-0DDA-4EF7-A641-569C9F7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0600"/>
            <a:ext cx="22860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52FAD27-948F-4206-9BC4-D9E16FFE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937760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A44BC44-D879-4D56-ABC2-A6DD7FD0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175504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3개월 · 1단계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41513A0-F96F-4998-882E-A2C3534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4800600"/>
            <a:ext cx="1828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7C41551-4351-4830-BF13-3ECFBFFB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937760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인원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8691633-C64E-498C-BD9C-BA7A6D9F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5175504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2명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BF0F18A-D201-4736-A850-FFD0148C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800600"/>
            <a:ext cx="41148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68348B2-0F10-4EEF-B766-B3CD94B9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4937760"/>
            <a:ext cx="3749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D84A2CB-E0FC-4D5B-8A8B-B752B23E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175504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스타터 키트 + 개발 가이드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B6277A5-A4BE-4996-B5AA-B51EFBCE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5508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</p:spTree>
    <p:extLst>
      <p:ext uri="{BB962C8B-B14F-4D97-AF65-F5344CB8AC3E}">
        <p14:creationId xmlns:p14="http://schemas.microsoft.com/office/powerpoint/2010/main" val="1995715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6329FD-0C9D-48A4-AFC2-EE45401D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37160" cy="13716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E424AD-F426-4253-927F-CB2264EC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4048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DEFINITION  ·  무엇인가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1D60CC-2524-478C-8A6B-FF260E8D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11057839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채널 파운데이션이란?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7FED81-0721-411C-9F5A-4D7003E0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11057839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02B29"/>
          </a:solidFill>
          <a:ln xmlns:a="http://schemas.openxmlformats.org/drawingml/2006/main" w="12668">
            <a:solidFill>
              <a:srgbClr val="2D6E64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537815D-8ECB-40A9-BD2F-F0447E1F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00784"/>
            <a:ext cx="1050919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채널 프로젝트에서 반복되는 </a:t>
            </a:r>
            <a:r>
              <a:rPr sz="18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프론트엔드·관리자 UI, 인증, 권한, 게이트웨이, MCI 연동 기반</a:t>
            </a:r>
            <a:r>
              <a:rPr sz="18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을 표준화한 </a:t>
            </a:r>
            <a:r>
              <a:rPr sz="18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채널 구축 표준 베이스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4D94272-6A8E-42EE-AFEF-329F4C62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87168"/>
            <a:ext cx="105091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완제품 솔루션이 아니라 프로젝트를 빠르게 시작하기 위한 기반 자산이며, 향후 core · mci · full 모듈 단위 제공까지 확장합니다.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713860-457A-4F1B-99FE-1E186CAD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3503066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7ED4044-9B30-4816-8E9E-2A03D9F7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11296"/>
            <a:ext cx="274320" cy="274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7BC676-BCC4-48AC-9598-71A6C330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1129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0AC9B6E-FD64-424B-81B3-3FA6CF89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13632"/>
            <a:ext cx="291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공통 구조 표준화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F23CFBE-B834-4B5D-9D6A-F196143C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434840"/>
            <a:ext cx="2954426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프로젝트마다 반복되는 FE/BE 기본 구조와 개발 규칙을 정리해 초기 구축 부담을 줄입니다.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4FFB142-8EB3-4E40-AA8E-70B2D6DF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314" y="3200400"/>
            <a:ext cx="3503066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F8CCAE0-05CB-4188-BC67-A57E4688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3511296"/>
            <a:ext cx="274320" cy="274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EF3B7AB-62DA-4287-8BEB-CF5242C8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351129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DF4D45A-297D-45CC-8AB0-A512FC68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3913632"/>
            <a:ext cx="291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고객사별 확장 대응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A9CAC62-28CA-4454-9B0D-29F53325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4434840"/>
            <a:ext cx="2954426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업무와 연동 방식의 차이는 adapter · mapper · config 구조로 분리해 유연하게 반영합니다.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7A53E72-B33D-42A2-966F-853D60AC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01" y="3200400"/>
            <a:ext cx="3503066" cy="25146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2B67A49-9E0E-457F-99BA-C86613EF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3511296"/>
            <a:ext cx="274320" cy="2743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AC3F8B0-05D4-46F5-9F28-B828580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3511296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C28045-1CA8-4AE4-AF88-9ED30E59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3913632"/>
            <a:ext cx="291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모듈형 확장 기반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3E36B8B-3D0D-4A05-8E3D-16E8A07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4434840"/>
            <a:ext cx="2954426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현재는 구축 베이스로 활용하고, 향후 요구에 따라 core · mci · full 구성으로 제품화합니다.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08FC6DE-2742-4EDD-973D-0A3B7DF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A51DECD-EA7C-40EE-8C3B-E65FFA0E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46520"/>
            <a:ext cx="6309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D621F63-BA52-4D97-9E18-E6DAFC8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46520"/>
            <a:ext cx="576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1483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1299B3-F1A9-4FAA-8CFF-7E19E4E6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37160" cy="13716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5A8491-9989-4653-9F2C-BBAB107F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4048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WHY NOW  ·  추진 배경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6E902A-6815-4CC3-98BB-AB88D45D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11057839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왜 지금 필요한가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ACCB01-E71E-45A5-9D74-CC3DFD02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1105783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회사 기제품 도입이 어려운 상황에서도 채널 프로젝트를 성공적으로 수행하기 위한 공통 기반이 필요합니다.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A2F0491-6844-4E4F-AD77-8042513E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57400"/>
            <a:ext cx="3503066" cy="347472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62F6EFC-5425-4936-B2BF-8965E5FE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423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8253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012FC6-809C-4EA4-96E5-304B5C93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423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ED1585-5E6A-4C70-ABE3-B887B8FE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227832"/>
            <a:ext cx="288127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7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공통 기반이 없음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B88D1C-86BA-4AF3-AEB3-71F58E4B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794760"/>
            <a:ext cx="289956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신규 채널 프로젝트를 시작할 때마다 BE · FE 기초를 새로 잡는 탓에 초기 작업 시간이 매번 낭비됩니다.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6ABB783-94C7-425A-AF62-53D8768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314" y="2057400"/>
            <a:ext cx="3503066" cy="347472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9BC916-730C-4DE4-883E-0E6EF9B4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2423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8253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54910B2-C262-40F9-BACF-ACECD186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2423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6976EC-5FC3-438F-A41C-2040E90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3227832"/>
            <a:ext cx="288127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7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고객사별 차이 흡수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A06241-DF2C-4064-8B22-BAAEC5B9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3794760"/>
            <a:ext cx="289956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업무 · 인증 · MCI · 계정계 / 정보계 / 대외계 연동 방식이 고객사마다 다릅니다. 공통 기반은 표준화하고 차이는 확장 구조로 분리해야 합니다.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B815480-A5CF-4346-B50E-CC98A6FB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01" y="2057400"/>
            <a:ext cx="3503066" cy="347472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5AF46DA-2C60-4A3F-93ED-E5D280F4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2423160"/>
            <a:ext cx="566928" cy="566928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82536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6533152-8457-4234-8C5E-B824B89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2423160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22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F75D8A7-D827-43B1-802F-E21CA808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3227832"/>
            <a:ext cx="288127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7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지금이 적기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0385122-7F35-4337-8416-AF1A2E80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3794760"/>
            <a:ext cx="289956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차기(Next) 투입 일정이 비어 있는 지금이, 가용 인력으로 두고두고 쓸 공통 자산을 확보해 둘 적기입니다.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88068B6-7EA7-48AB-BDE9-9ED6080F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0AFDB48-FB81-4F25-B32F-C58ADFB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46520"/>
            <a:ext cx="6309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2A23DC0-B9E8-45B7-A6C7-EDC6211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46520"/>
            <a:ext cx="576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9549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0513E6-A6E6-4487-9254-799CDC75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37160" cy="13716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A368C5-6D2C-4B65-9FE3-4B6D88FF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4048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ARCHITECTURE  ·  구성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EDBBE0-0587-4652-A645-11ABB5AC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11057839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Channel Foundation 구성도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BCD0CE-D697-43D2-96D9-CF4FEEA1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4709160" cy="4498848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101A26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50F9F4C-6D6D-45A1-A86B-AA208435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792224"/>
            <a:ext cx="4306824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01A26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BC6D55C-5BDB-4D66-8372-52A4A80F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1847088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424927E-A3FA-4BA8-A9F6-E901DA1E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847088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React 19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178CF1-3B30-41FB-8924-B5246DA2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87168"/>
            <a:ext cx="1078992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모노레포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21DEBF6-B87F-4B5D-8084-EE71B116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2487168"/>
            <a:ext cx="3191256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Turbo + pnpm · 앱 3종 (PC · Mobile · Admin)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3DDCF91-F212-40B2-8D93-C8AF117D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51048"/>
            <a:ext cx="4197096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4489C89-6E2C-409F-8B3D-6153A9E3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51048"/>
            <a:ext cx="1078992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공통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F35DB48-CA23-4373-8395-F54C126A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3051048"/>
            <a:ext cx="3191256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@bx/shared 패키지 · 도메인 8종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0354172-8BB5-496C-9E60-C5878955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4928"/>
            <a:ext cx="4197096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153E3B8-BCE8-42F4-B0A3-A0644DC9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4928"/>
            <a:ext cx="1078992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도메인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1E3133F-5ACD-4BDA-800F-5DB8A1D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3614928"/>
            <a:ext cx="3191256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auth·user·account·menu·product·alarm·base-info·common-code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5DA94D8-CDB5-4799-9012-1AAC5FB6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78808"/>
            <a:ext cx="4197096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828F79-0D9F-47FC-88B4-BBABF0FC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78808"/>
            <a:ext cx="1078992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라우팅·데이터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43DB302-A49A-4B11-8551-CE26255B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4178808"/>
            <a:ext cx="3191256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TanStack Router · Query · Zustand · Axios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0B8AA6C-11FE-4B68-A6FE-2DB28338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2688"/>
            <a:ext cx="4197096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B7C85B0-1C27-4A3F-9E30-D650D2EE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2688"/>
            <a:ext cx="1078992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인증·UI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CADD0E-CA96-4170-A0A2-703EF96B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4742688"/>
            <a:ext cx="3191256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JWT 401 자동재발급 · Radix · Tailwind v4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FC18057-D476-4292-A5FF-E250863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6568"/>
            <a:ext cx="4197096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96B71CA-A2FC-4519-9CED-FA7CB2B7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6568"/>
            <a:ext cx="1078992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E690382-5D9C-40BE-B989-14F8871F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64" y="5306568"/>
            <a:ext cx="3191256" cy="563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Vite 8 · Biome · Vitest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67FF1A3-6673-4BB0-A8CA-FE0475EF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72768"/>
            <a:ext cx="4690872" cy="4498848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101A26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E54A2C4-80E1-40BB-9172-27DA0E0F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792224"/>
            <a:ext cx="428853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01A26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76B09FA-7FF7-413D-AFEE-CF0AD662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488" y="1847088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8D9D8E-91B3-46D2-ABA7-61252AA1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47088"/>
            <a:ext cx="2953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Java 21 · Boot 3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E963035-9635-4455-BEF9-30530AB5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487168"/>
            <a:ext cx="107899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MSA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252A3B4-FFCA-4CB4-B88E-64C260F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487168"/>
            <a:ext cx="317296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Spring Cloud · API Gateway · Discovery(Eureka)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57C0D16-2C67-4FF0-8337-B7F88988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163824"/>
            <a:ext cx="417880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32539B-2892-4DBE-9BE6-94D1869D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163824"/>
            <a:ext cx="107899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Services 5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B51AEA6-62ED-48D9-B6F9-74D35ECA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163824"/>
            <a:ext cx="317296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auth · mci · system · product · integration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19DB595-70D5-484C-92DD-8B2AB018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840480"/>
            <a:ext cx="417880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56362EB-7F0B-4AEA-8EF7-1BED0A52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840480"/>
            <a:ext cx="107899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libs 5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094BDAC-2408-46E5-8A40-2C7BB7F4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3840480"/>
            <a:ext cx="317296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common · business-common · mci-common · security-common · session-context-common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FB06843-5B8C-4408-9FDB-72A623CC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517136"/>
            <a:ext cx="417880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567EA9C-4368-4A1D-8286-3C1B3040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517136"/>
            <a:ext cx="107899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인증·세션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F60ACDD-0A75-4901-8C8A-94B75CAE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4517136"/>
            <a:ext cx="317296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Gateway JWT 검증 → 내부헤더(X-Auth-*) · Redis 세션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AAD4D404-9E25-4BE2-A8BD-8B1BD023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193792"/>
            <a:ext cx="4178808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B381727-E645-4B37-9A85-2E596AD0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5193792"/>
            <a:ext cx="107899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2BEA08EA-25CA-40D9-8215-7B5A7804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5193792"/>
            <a:ext cx="317296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YAML 거래 registry · Adapter/Mapper SPI · Router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7EFB4FA2-15B3-4D9E-B36B-EA003126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088" y="3814877"/>
            <a:ext cx="155448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1C1"/>
          </a:solidFill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B2ADEA8C-5D6B-4D90-BE4A-A2E213B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814877"/>
            <a:ext cx="146304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1C1"/>
          </a:solidFill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3A5B3E3-4D3B-41EC-AB99-A8B5EFA4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2496312"/>
            <a:ext cx="1371600" cy="26517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2536"/>
          </a:solidFill>
          <a:ln xmlns:a="http://schemas.openxmlformats.org/drawingml/2006/main" w="12668">
            <a:solidFill>
              <a:srgbClr val="2D6E64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4BE761FF-70F0-4E85-BCEE-1C454122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267919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1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DBEA244-2073-4D5C-96B5-24B47CC1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2953512"/>
            <a:ext cx="1280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HTTPS · Envelope · JWT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BA54D780-ABDF-4E4E-9216-09A5299B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696" y="3575304"/>
            <a:ext cx="109728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79EAD3"/>
          </a:solidFill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5ECA619-220C-403C-8A26-95B3C87D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3593592"/>
            <a:ext cx="12801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OpenAPI</a:t>
            </a:r>
          </a:p>
          <a:p xmlns:a="http://schemas.openxmlformats.org/drawingml/2006/main">
            <a:pPr marL="0" indent="0" algn="ctr">
              <a:lnSpc>
                <a:spcPct val="95000"/>
              </a:lnSpc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TypeBridge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3E2ED16D-A963-4B20-A602-09A10DB9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4379976"/>
            <a:ext cx="13350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5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85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FE·BE 타입 자동 일치</a:t>
            </a:r>
          </a:p>
          <a:p xmlns:a="http://schemas.openxmlformats.org/drawingml/2006/main">
            <a:pPr marL="0" indent="0" algn="ctr">
              <a:lnSpc>
                <a:spcPct val="105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85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gen:api · CI drift gate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4A89B8FD-7AEA-4196-86B2-82A847AD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318E890C-2B59-44BB-840A-1A3CB8EC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46520"/>
            <a:ext cx="6309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53648DA7-6BC7-4E03-981B-4FB79CBA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46520"/>
            <a:ext cx="576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861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4B9045-3FE8-4062-992A-3DF83FFE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37160" cy="13716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525283-2C87-4678-9EC6-CB2705A4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4048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PLAN  ·  개발 계획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09167E-AA10-4A41-9180-75450291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11057839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2명 · 3개월 — 1단계 마일스톤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C25CAA-E158-4105-860D-AD5E198B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1105783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실 프로젝트 진행을 위한 뼈대(인프라 · 통신 · 인증 · 모듈 구조)에 집중하고, 개별 프로젝트에 종속되는 비즈니스 로직은 철저히 배제합니다.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6A6D9B9-C13B-46E4-84A7-AC608D95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38528"/>
            <a:ext cx="3503066" cy="4114800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E5F7B4-2DFC-47DB-B900-759536E4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67712"/>
            <a:ext cx="45720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E81935F-9C22-4D03-82EF-B9BC0AEC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6771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12D4E8-7273-4D9B-80B0-CE21B66E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249424"/>
            <a:ext cx="240578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1개월차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CA7F93C-B282-43C0-B11D-4D147B07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487168"/>
            <a:ext cx="240578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기반 구축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2E5BCD7-A88B-4A0E-924B-59BDC53D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108960"/>
            <a:ext cx="2899562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모노레포 구조화 및 공통 패키지(@bx/shared) 세팅, 번들러 · 빌드 / 배포 검증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06A6567-A7CA-4F6F-9651-04FF85C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818888"/>
            <a:ext cx="2881274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00ED6A-9A96-4669-A837-6BC6D376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37760"/>
            <a:ext cx="289956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9D7BD5B-92EB-48F3-B8DF-3D0E469C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184648"/>
            <a:ext cx="293613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아키텍처 설계서 · 공통 뼈대 소스코드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B0F2B71-800C-4187-BD3E-DE4FC4B8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314" y="1938528"/>
            <a:ext cx="3503066" cy="4114800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BEE5D3-4C7B-4E49-BB26-3B9CFEC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2267712"/>
            <a:ext cx="45720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9B9982E-847D-4197-86FC-8E862326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226771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E9E69A5-5F71-4703-8897-D0B58252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426" y="2249424"/>
            <a:ext cx="240578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2개월차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A3C8481-7279-426C-A06D-C9FDB446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426" y="2487168"/>
            <a:ext cx="240578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핵심 모듈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57D8B92-E607-428F-A6BE-7AA1392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3108960"/>
            <a:ext cx="2899562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auth · system · gateway 기반 안정화, mci-svc의 거래 정의 · mapper · adapter routing 구조 구현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125A8EE-797B-4242-934E-83015AFA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4818888"/>
            <a:ext cx="2881274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2E0106E-83F5-4FB9-88DE-8EF114C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4937760"/>
            <a:ext cx="289956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4612F26-626F-4097-ACCB-5291E771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5184648"/>
            <a:ext cx="293613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공통 인증/권한 · MCI 기본 흐름 · 샘플 거래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97FCB0F-FE40-4C74-94DE-1004C2EF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01" y="1938528"/>
            <a:ext cx="3503066" cy="4114800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90D6167-0460-4721-A660-517DE60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2267712"/>
            <a:ext cx="45720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633B6C7-0849-418D-BC63-6AC5451E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226771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DD1F5C9-521B-469C-BA4A-1374F8F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813" y="2249424"/>
            <a:ext cx="240578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3개월차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EAB8F93-C4FB-48B0-9AEA-B29CE0BE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813" y="2487168"/>
            <a:ext cx="240578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검증 &amp; 가이드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7C56E2A-0B2C-475E-9460-7124B9BC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3108960"/>
            <a:ext cx="2899562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Admin UI ↔ Backend API 연계 검증, 테스트 자동화(E2E) 구성 및 개발 가이드 · 샘플 정리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A32C50F-AFA8-4F64-BF33-EEE6BCE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4818888"/>
            <a:ext cx="2881274" cy="1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F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1E071E8-C5E8-413A-A5D3-5EA46050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4937760"/>
            <a:ext cx="289956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B868A6C-3B53-4333-BB14-93CCEE8A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5184648"/>
            <a:ext cx="293613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개발 가이드 · 샘플 업무 · 테스트 자동화 기반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00BE14C-87C9-428F-9139-B3013AE0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FF6BAE4-A1FC-4B78-B99A-D5CD5196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46520"/>
            <a:ext cx="6309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C90F9E9-1EC6-4B5A-8A9B-B8482C8B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46520"/>
            <a:ext cx="576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1757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F3CB08-5A87-4C74-8851-F8D9CD6C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37160" cy="13716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92BC98F-A15C-4188-91E6-5A71A2FD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4048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DELIVERABLES  ·  산출물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21E1780-0C56-4F98-95D6-855B91F7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11057839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1단계 주요 산출물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446F1F5-8D12-4C6E-A2CF-899BDD61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1105783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개별 고객의 비즈니스 로직은 제외하고, 여러 파생 프로젝트가 올라설 공통 기반을 먼저 확보합니다.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715D1DE-989E-484D-8591-7AB4A1C3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3503066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E3609FA-DEF3-484D-BEB7-3CA20C0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76856"/>
            <a:ext cx="310896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CCDE75-9416-4812-BB8E-DD68EE44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585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E84C3B6-4F64-4EF0-9132-9B8F613F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15768"/>
            <a:ext cx="29544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Frontend 개발 가이드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FEB63D-12CC-4D2E-BB89-554F4A40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099816"/>
            <a:ext cx="297271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PC · Mobile · Admin 스켈레톤 + 개발 가이드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DCD7D32-F41F-4D6C-8593-70A68B2A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314" y="1965960"/>
            <a:ext cx="3503066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80B627-37D5-4498-BDB5-6404568C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2276856"/>
            <a:ext cx="310896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F188D0-EBBE-4C18-85B0-DC56546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22585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ACC5416-4E4C-4B5D-9230-C3F8C2A0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2715768"/>
            <a:ext cx="29544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Backend 개발 가이드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E5B285-CBA4-4885-98E4-B62A33C2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3099816"/>
            <a:ext cx="297271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공통 모듈 · 표준 레이아웃 + 개발 가이드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3DF1CE8-24DD-42D6-8D62-84E2124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01" y="1965960"/>
            <a:ext cx="3503066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4542A5D-115F-4DFF-AB27-CCA3B12A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2276856"/>
            <a:ext cx="310896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27C147E-0669-409E-841F-D86BFC0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22585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62ACF90-C888-4C4D-8B8A-F28F074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2715768"/>
            <a:ext cx="29544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인증 / 권한 기본 체계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B15F665-3E2B-4BC3-B4A5-608B87ED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3099816"/>
            <a:ext cx="297271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JWT 자동 재발급 · Gateway 내부 인증 · Redis 세션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376EDC3-C08A-4096-B6C7-0CC61B24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23360"/>
            <a:ext cx="3503066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6666671-225F-4FE6-A5D9-EE185044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334256"/>
            <a:ext cx="310896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9816CD7-B28E-44D8-B6AC-7E70889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3159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AA8B64C-00CB-4781-A802-753E14B3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773168"/>
            <a:ext cx="29544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MCI 연동 표준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3B9F6E0-2AE0-444E-9F06-A85A452E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157216"/>
            <a:ext cx="297271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YAML 거래 registry · Adapter/Mapper · 샘플 거래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6B696A1-267F-4A08-97B2-187A45DC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314" y="4023360"/>
            <a:ext cx="3503066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B031B66-1E40-47E4-99E8-1AF3EE1C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4334256"/>
            <a:ext cx="310896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D29644-E6CE-470B-88E4-8A4AA201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43159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A278C32-72C7-40B6-ABDF-A35C54C4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4773168"/>
            <a:ext cx="29544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API 연계 · 타입 자동화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46802BB-640D-4AEC-97FE-1A56BC16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922" y="5157216"/>
            <a:ext cx="297271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OpenAPI TypeBridge · Envelope 처리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D079EB87-F965-401C-82C3-737E0A46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01" y="4023360"/>
            <a:ext cx="3503066" cy="178308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21D1C03-66E3-4C59-883B-D719228F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4334256"/>
            <a:ext cx="310896" cy="310896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EA16222-1A7D-40F4-B368-879B6052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431596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C2294A6-92E6-49DF-9A96-0F39F22C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4773168"/>
            <a:ext cx="295442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프로젝트 관리 · WBS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A20DAD1-5CD6-4997-B98D-E41ACC93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309" y="5157216"/>
            <a:ext cx="297271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GitHub Project 기반 WBS · 일정 관리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70F4F31-DC16-4C9C-BB90-4CEF72A9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69427AD-77DE-41F7-80AB-92FDA3EF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46520"/>
            <a:ext cx="6309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C44FFA03-0B04-4A45-A587-1EED484F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46520"/>
            <a:ext cx="576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5987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6BAAA08-8604-446B-A91B-4AB0E8B8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37160" cy="13716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F6C138-9E57-4F9E-8E7D-73D8D523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4048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IMPACT  ·  기대효과 &amp; 로드맵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8DBE1B-D905-4464-B50E-DEA3F7EE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11057839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기대효과와 향후 확장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C121E54-42F7-48E0-92B8-B41CCE20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525780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AB408D-4AB3-48F7-96D4-DFAB9851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856232"/>
            <a:ext cx="470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8795F55-227F-448A-97CA-675AE973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201168" cy="201168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6839E9-F71E-429F-A7AB-41C98599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59736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644C46-67A2-4E26-80B3-B3F6E531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423160"/>
            <a:ext cx="4343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채널 프로젝트 초기 구축 기간 단축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2704B3-0697-4FCC-AE2F-22A11F45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54096"/>
            <a:ext cx="201168" cy="201168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A765F53-CA26-4312-90E9-00A4C5CE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26664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FC57B0E-0B48-4E2A-85E3-5B4D3844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990088"/>
            <a:ext cx="4343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개발 표준화 및 품질 향상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DD3781A-4F0A-4EE7-900A-A157B29A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21024"/>
            <a:ext cx="201168" cy="201168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85331F8-BA74-4D7B-9E8B-63EEE0E3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93592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6A0B5B-C275-4E6C-A3EE-8929B4C3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557016"/>
            <a:ext cx="4343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반복 개발 비용 절감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4AF8A78-27FF-4720-BD2E-13B7B7C2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87952"/>
            <a:ext cx="201168" cy="201168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C0A9093-3463-4795-AF0A-6A9388ED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60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D2AE66D-7E13-4558-AA99-F823263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123944"/>
            <a:ext cx="4343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MCI · 외부 연동 구조의 재사용성 확보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1C739E3-327C-4FB7-BE55-A3AEBCFF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754880"/>
            <a:ext cx="201168" cy="201168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5210AAC-1B17-4F86-A351-429B5BE2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727448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2817926-D14F-4948-B2B8-CF6DACD6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690872"/>
            <a:ext cx="4343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고객사별 커스터마이징 범위 명확화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4806D6A-1C22-4893-A174-9A571031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321808"/>
            <a:ext cx="201168" cy="201168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85A0952-A5F0-43FE-AEA5-926A935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294376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BBC6ABE-19BF-4B4A-BFF6-D67E3871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57800"/>
            <a:ext cx="4343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MVP 기반 Pre-sales 빠른 데모 · 즉시 커스터마이징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76A8114-06BC-479B-877B-5F711A12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600200"/>
            <a:ext cx="54955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향후 확장 — 모듈 단위 제품화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6D4D176-A4BB-4FE2-AB10-C744D571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20824"/>
            <a:ext cx="3956792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4DE1C1"/>
          </a:solidFill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54FF46E-1981-47B6-9D40-586DF13E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13055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제품 · core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2E1128A-B145-43E4-B92C-4AD67830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404872"/>
            <a:ext cx="35910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auth + system + gateway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2ACF0E9-4C1A-4041-8A1C-677FF3A6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916936"/>
            <a:ext cx="4726168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5B59C"/>
          </a:solidFill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3CA6037-8CAB-4511-B76F-5FF391C5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026664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제품 · mci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14A597F-CA6D-4692-99E0-8C1A99AC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300984"/>
            <a:ext cx="43604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core + mci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C66BD75-A6E7-4056-A24D-DFA4E2FD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813048"/>
            <a:ext cx="5495544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79EAD3"/>
          </a:solidFill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F2F8D67-CEBA-4C1A-A542-B12117C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922776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제품 · full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26B01B7-889F-49F2-8FC1-2646629B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197096"/>
            <a:ext cx="5129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07101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>
                <a:solidFill>
                  <a:srgbClr val="071015"/>
                </a:solidFill>
                <a:latin typeface="Malgun Gothic"/>
                <a:ea typeface="Malgun Gothic"/>
                <a:cs typeface="Malgun Gothic"/>
              </a:rPr>
              <a:t>core + mci + integration + 샘플 업무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2B1016B-DDAE-4B1D-8400-557D744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764024"/>
            <a:ext cx="549554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B29"/>
          </a:solidFill>
          <a:ln xmlns:a="http://schemas.openxmlformats.org/drawingml/2006/main" w="12668">
            <a:solidFill>
              <a:srgbClr val="2D6E64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BE944D5-D84D-403A-AD7C-D3B81751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0328"/>
            <a:ext cx="50383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채널 서비스 모니터링 도구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A7E038A-CEBE-4422-A80E-077E09C6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39512"/>
            <a:ext cx="4983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1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PC · Mobile · Admin 채널 서비스 상태를 실시간 감시하는 관제 · 운영 지원 도구 (가동률 · 응답속도 · 점검 상태)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BE27EC6-0981-45FF-A46C-EEBF3BEE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57CB092D-B7A1-435C-8715-95334C9C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46520"/>
            <a:ext cx="6309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8B007B5-9BAB-4AA8-92A3-2FE6A038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46520"/>
            <a:ext cx="576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4924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2D8BCD3-6F03-4F80-84B7-38A41605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"/>
            <a:ext cx="137160" cy="13716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4DE1C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DD9E95-8CF6-49BF-BCA6-0C18FF28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4048"/>
            <a:ext cx="10058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AI  ·  개발 방식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674FD7B-2582-45E1-83BA-85A29E3E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13232"/>
            <a:ext cx="11057839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9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AI 활용 개발 — 실증과 SI 시장 대비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2822767-85FC-4144-8015-574C9980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1105783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AI 유료 요금제 도입은 이미 결정된 사안입니다. 관건은 실제 활용의 실증과 조직 개발 역량의 내재화입니다.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6D7CB7-1948-432F-AE1E-6205024F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3503066" cy="3520440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AF92FA-D40F-44AD-9820-2487B461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77440"/>
            <a:ext cx="548640" cy="548640"/>
          </a:xfrm>
          <a:prstGeom xmlns:a="http://schemas.openxmlformats.org/drawingml/2006/main" prst="roundRect">
            <a:avLst>
              <a:gd name="adj" fmla="val 21667"/>
            </a:avLst>
          </a:prstGeom>
          <a:solidFill xmlns:a="http://schemas.openxmlformats.org/drawingml/2006/main">
            <a:srgbClr val="102B29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BC7FC84-6CBE-40AC-A5CE-72381550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7744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◆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354D66-EEA3-4E78-91C5-74650EBF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108960"/>
            <a:ext cx="289956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5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AI Agent 활용 가치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E33F02-7A52-44C7-8394-E153EE31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794760"/>
            <a:ext cx="291785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프로젝트 전체 소스의 의존성을 유지한 채 분석하고, 아키텍처 정합성에 맞는 코드 생성 · 정확한 오류 진단 · 연속 작업을 보장합니다.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179525D-F5E1-48CF-AF3A-44DE3298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4314" y="2011680"/>
            <a:ext cx="3503066" cy="3520440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8241CD9-C5ED-4130-987A-6C71F249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2377440"/>
            <a:ext cx="548640" cy="548640"/>
          </a:xfrm>
          <a:prstGeom xmlns:a="http://schemas.openxmlformats.org/drawingml/2006/main" prst="roundRect">
            <a:avLst>
              <a:gd name="adj" fmla="val 21667"/>
            </a:avLst>
          </a:prstGeom>
          <a:solidFill xmlns:a="http://schemas.openxmlformats.org/drawingml/2006/main">
            <a:srgbClr val="18253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0580BC6-591F-4246-BB7E-2B91019E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237744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★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A7F829-DC1B-4703-A769-147585F3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3108960"/>
            <a:ext cx="289956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5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우리의 실증 (이미 적용 중)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4318E7F-C30A-47B7-8F46-778386F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210" y="3794760"/>
            <a:ext cx="291785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GitHub Webhook → Notion 자동화(integration-svc), WBS ↔ GitHub Projects 동기화, OpenAPI → FE 타입 자동생성 CI 게이트.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1F70008-8344-44BD-89D1-18D350F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701" y="2011680"/>
            <a:ext cx="3503066" cy="3520440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  <a:effectLst xmlns:a="http://schemas.openxmlformats.org/drawingml/2006/main">
            <a:outerShdw blurRad="114300" dist="25400" dir="5400000" sx="100000" sy="100000" kx="0" ky="0" algn="bl" rotWithShape="0">
              <a:srgbClr val="9AA3B2">
                <a:alpha val="16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7DC1B71-6B18-43B9-82C6-417F061D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2377440"/>
            <a:ext cx="548640" cy="548640"/>
          </a:xfrm>
          <a:prstGeom xmlns:a="http://schemas.openxmlformats.org/drawingml/2006/main" prst="roundRect">
            <a:avLst>
              <a:gd name="adj" fmla="val 21667"/>
            </a:avLst>
          </a:prstGeom>
          <a:solidFill xmlns:a="http://schemas.openxmlformats.org/drawingml/2006/main">
            <a:srgbClr val="102B29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938E89-AB36-4FF3-8FCB-E72BD1C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237744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▲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E9C9B8-39A7-4D4C-BDF1-BDC43DB4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3108960"/>
            <a:ext cx="289956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5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SI 시장 변화 대비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21CA07F-5A19-4616-B618-44A8507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597" y="3794760"/>
            <a:ext cx="291785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25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AI 도입으로 SI 개발 방식이 바뀌는 흐름에 맞춰, 조직이 선제적으로 경험을 축적하고 대비합니다.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3014C10-BB5E-4145-B8C8-7741C8C5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6AC392F-C19D-4BBB-B839-5B416095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46520"/>
            <a:ext cx="6309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6F7E90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6F7E90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D1EBCA9-A60A-4DA1-8A57-689CE092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46520"/>
            <a:ext cx="5760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5733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D298B2-1C6B-4455-80FB-2034FFA0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82880" cy="18288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A594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CAA4DA1-9F4C-4282-987E-1DCB70E7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658368"/>
            <a:ext cx="182880" cy="18288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8374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2AD8B0-5108-48C0-B4FF-1BCF3BD0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96112"/>
            <a:ext cx="182880" cy="18288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8374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2E7FB28-CC67-456B-917C-FC54E2C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896112"/>
            <a:ext cx="182880" cy="18288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8A2A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CB903CB-D4CB-40B4-86B7-BAC8019D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288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AI 기반 고효율 개발 프로세스 — 선제적 대응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F5C2A4-3973-4888-A95F-E8F173A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105156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단순한 프레임워크 하나를 넘어,
</a:t>
            </a:r>
            <a:r>
              <a:rPr sz="34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AI 활용 개발 방식</a:t>
            </a:r>
            <a:r>
              <a:rPr sz="34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에 대한</a:t>
            </a:r>
          </a:p>
          <a:p xmlns:a="http://schemas.openxmlformats.org/drawingml/2006/main">
            <a:pPr marL="0" indent="0">
              <a:lnSpc>
                <a:spcPct val="112000"/>
              </a:lnSpc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조직의 경험을 자산화합니다.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EBAD40E-F448-4A0E-9201-FBDE6F65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338328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F82C1C-2539-43B6-B4F9-245A5F4C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72000"/>
            <a:ext cx="301752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MVP 수준의 Channel Foundation 확보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3A1CC52-9A6F-4116-B063-3656D3C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572000"/>
            <a:ext cx="4572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F1DF136-24A7-481F-95CF-5BB46CA4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572000"/>
            <a:ext cx="338328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44E9BDF-A48A-4390-A1AA-F3A3C656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301752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제안 · 데모 환경 구성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059ACD-E5F2-473D-B807-E3C6C8C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572000"/>
            <a:ext cx="45720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4DE1C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DE1C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C3CFA19-6C72-4C93-8FCF-A477A76E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4572000"/>
            <a:ext cx="338328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41F2D"/>
          </a:solidFill>
          <a:ln xmlns:a="http://schemas.openxmlformats.org/drawingml/2006/main" w="12668">
            <a:solidFill>
              <a:srgbClr val="2B3B4F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384CD0-7BCD-4BC5-8260-FF2FD4A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4572000"/>
            <a:ext cx="301752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신규 사업 기회 발굴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C094248-5273-4D58-854B-4EDA0C75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722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A8B4C3"/>
                </a:solidFill>
                <a:latin typeface="Malgun Gothic"/>
                <a:ea typeface="Malgun Gothic"/>
                <a:cs typeface="Malgun Gothic"/>
              </a:defRPr>
            </a:pPr>
            <a:r>
              <a:rPr sz="1300">
                <a:solidFill>
                  <a:srgbClr val="A8B4C3"/>
                </a:solidFill>
                <a:latin typeface="Malgun Gothic"/>
                <a:ea typeface="Malgun Gothic"/>
                <a:cs typeface="Malgun Gothic"/>
              </a:rPr>
              <a:t>감사합니다.   |   채널유닛  ·  2026.06</a:t>
            </a:r>
          </a:p>
        </p:txBody>
      </p:sp>
    </p:spTree>
    <p:extLst>
      <p:ext uri="{BB962C8B-B14F-4D97-AF65-F5344CB8AC3E}">
        <p14:creationId xmlns:p14="http://schemas.microsoft.com/office/powerpoint/2010/main" val="115512410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2026-07-14T08:52:34.8280000Z</dcterms:created>
  <dcterms:modified xsi:type="dcterms:W3CDTF">2026-07-14T08:52:34.8280000Z</dcterms:modified>
</coreProperties>
</file>