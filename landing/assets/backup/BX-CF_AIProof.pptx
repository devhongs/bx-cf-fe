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9d4dfda56a4498" /><Relationship Type="http://schemas.openxmlformats.org/officeDocument/2006/relationships/extended-properties" Target="/docProps/app.xml" Id="R28f4c2516a614e95" /><Relationship Type="http://schemas.openxmlformats.org/officeDocument/2006/relationships/officeDocument" Target="/ppt/presentation.xml" Id="Ra6ff9c1fb5ef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3737e1e88540a6"/>
  </p:sldMasterIdLst>
  <p:notesMasterIdLst>
    <p:notesMasterId xmlns:r="http://schemas.openxmlformats.org/officeDocument/2006/relationships" r:id="R384ac53ee8da41f5"/>
  </p:notesMasterIdLst>
  <p:sldIdLst>
    <p:sldId xmlns:r="http://schemas.openxmlformats.org/officeDocument/2006/relationships" id="256" r:id="R4079dd45f4b84b86"/>
    <p:sldId xmlns:r="http://schemas.openxmlformats.org/officeDocument/2006/relationships" id="257" r:id="R78ac963707cf4654"/>
    <p:sldId xmlns:r="http://schemas.openxmlformats.org/officeDocument/2006/relationships" id="258" r:id="Rc58b9f53fd1c42ef"/>
    <p:sldId xmlns:r="http://schemas.openxmlformats.org/officeDocument/2006/relationships" id="259" r:id="Rbdc27e68e5564a00"/>
    <p:sldId xmlns:r="http://schemas.openxmlformats.org/officeDocument/2006/relationships" id="260" r:id="R423563877b9d4c6a"/>
    <p:sldId xmlns:r="http://schemas.openxmlformats.org/officeDocument/2006/relationships" id="261" r:id="Rf5735ceb6ab24d72"/>
    <p:sldId xmlns:r="http://schemas.openxmlformats.org/officeDocument/2006/relationships" id="262" r:id="R8f0b27ab1d134006"/>
    <p:sldId xmlns:r="http://schemas.openxmlformats.org/officeDocument/2006/relationships" id="263" r:id="R59ff5319216041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86bbcd43e4f5a" /><Relationship Type="http://schemas.openxmlformats.org/officeDocument/2006/relationships/slideMaster" Target="/ppt/slideMasters/slideMaster1.xml" Id="Re83737e1e88540a6" /><Relationship Type="http://schemas.openxmlformats.org/officeDocument/2006/relationships/notesMaster" Target="/ppt/notesMasters/notesMaster1.xml" Id="R384ac53ee8da41f5" /><Relationship Type="http://schemas.openxmlformats.org/officeDocument/2006/relationships/presProps" Target="/ppt/presProps.xml" Id="R883bdee06160453d" /><Relationship Type="http://schemas.openxmlformats.org/officeDocument/2006/relationships/tableStyles" Target="/ppt/tableStyles.xml" Id="R81b636543eb34b7c" /><Relationship Type="http://schemas.openxmlformats.org/officeDocument/2006/relationships/slide" Target="/ppt/slides/slide1.xml" Id="R4079dd45f4b84b86" /><Relationship Type="http://schemas.openxmlformats.org/officeDocument/2006/relationships/slide" Target="/ppt/slides/slide2.xml" Id="R78ac963707cf4654" /><Relationship Type="http://schemas.openxmlformats.org/officeDocument/2006/relationships/slide" Target="/ppt/slides/slide3.xml" Id="Rc58b9f53fd1c42ef" /><Relationship Type="http://schemas.openxmlformats.org/officeDocument/2006/relationships/slide" Target="/ppt/slides/slide4.xml" Id="Rbdc27e68e5564a00" /><Relationship Type="http://schemas.openxmlformats.org/officeDocument/2006/relationships/slide" Target="/ppt/slides/slide5.xml" Id="R423563877b9d4c6a" /><Relationship Type="http://schemas.openxmlformats.org/officeDocument/2006/relationships/slide" Target="/ppt/slides/slide6.xml" Id="Rf5735ceb6ab24d72" /><Relationship Type="http://schemas.openxmlformats.org/officeDocument/2006/relationships/slide" Target="/ppt/slides/slide7.xml" Id="R8f0b27ab1d134006" /><Relationship Type="http://schemas.openxmlformats.org/officeDocument/2006/relationships/slide" Target="/ppt/slides/slide8.xml" Id="R59ff5319216041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bd1654539d46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c2bf64bbbe463a" /><Relationship Type="http://schemas.openxmlformats.org/officeDocument/2006/relationships/notesMaster" Target="/ppt/notesMasters/notesMaster1.xml" Id="R6ff140a8e5b145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a2c183ba74d1f" /><Relationship Type="http://schemas.openxmlformats.org/officeDocument/2006/relationships/notesMaster" Target="/ppt/notesMasters/notesMaster1.xml" Id="Rfb6239fe5884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58473bb1bf4def" /><Relationship Type="http://schemas.openxmlformats.org/officeDocument/2006/relationships/notesMaster" Target="/ppt/notesMasters/notesMaster1.xml" Id="Reff9337c17fc48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2d758bd764cb3" /><Relationship Type="http://schemas.openxmlformats.org/officeDocument/2006/relationships/notesMaster" Target="/ppt/notesMasters/notesMaster1.xml" Id="R7ec40a6767c44b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203e43466945b0" /><Relationship Type="http://schemas.openxmlformats.org/officeDocument/2006/relationships/notesMaster" Target="/ppt/notesMasters/notesMaster1.xml" Id="R59f399e9f99342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a140f8815f470f" /><Relationship Type="http://schemas.openxmlformats.org/officeDocument/2006/relationships/notesMaster" Target="/ppt/notesMasters/notesMaster1.xml" Id="R6b6dc8ed39c546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6249c156f94516" /><Relationship Type="http://schemas.openxmlformats.org/officeDocument/2006/relationships/notesMaster" Target="/ppt/notesMasters/notesMaster1.xml" Id="R6b89828641194b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ba729fcbf14891" /><Relationship Type="http://schemas.openxmlformats.org/officeDocument/2006/relationships/notesMaster" Target="/ppt/notesMasters/notesMaster1.xml" Id="R4184aa632bfd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edf78dbc34f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4142dbbe742b2" /><Relationship Type="http://schemas.openxmlformats.org/officeDocument/2006/relationships/slideLayout" Target="/ppt/slideLayouts/slideLayout1.xml" Id="Ra4ee0eb2bd8f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e0eb2bd8f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76d1eab714c25" /><Relationship Type="http://schemas.openxmlformats.org/officeDocument/2006/relationships/notesSlide" Target="/ppt/notesSlides/notesSlide1.xml" Id="Rf126765fd5a841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0f5a1ec3d46ab" /><Relationship Type="http://schemas.openxmlformats.org/officeDocument/2006/relationships/notesSlide" Target="/ppt/notesSlides/notesSlide2.xml" Id="Rd992c1b9e2424e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c0e19c6f347a0" /><Relationship Type="http://schemas.openxmlformats.org/officeDocument/2006/relationships/notesSlide" Target="/ppt/notesSlides/notesSlide3.xml" Id="Rf15ae1b137ac46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276b7cb5c4d6a" /><Relationship Type="http://schemas.openxmlformats.org/officeDocument/2006/relationships/notesSlide" Target="/ppt/notesSlides/notesSlide4.xml" Id="Rdbf2ef7f3fc94e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161e0bff74350" /><Relationship Type="http://schemas.openxmlformats.org/officeDocument/2006/relationships/notesSlide" Target="/ppt/notesSlides/notesSlide5.xml" Id="R022fa607b56c45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9ab083ad2447a" /><Relationship Type="http://schemas.openxmlformats.org/officeDocument/2006/relationships/notesSlide" Target="/ppt/notesSlides/notesSlide6.xml" Id="Rde63fc6944ac4d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61cb95504499a" /><Relationship Type="http://schemas.openxmlformats.org/officeDocument/2006/relationships/notesSlide" Target="/ppt/notesSlides/notesSlide7.xml" Id="R2c9c09e4429e49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a0c44a2fe40d3" /><Relationship Type="http://schemas.openxmlformats.org/officeDocument/2006/relationships/notesSlide" Target="/ppt/notesSlides/notesSlide8.xml" Id="R7e3ba257436c43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62788FB4-30E7-486A-A779-E72B8F4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890A8-4DC2-4F5B-ACB0-C4FB5DA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81FB5-2978-4029-82FB-F3AD80DC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CHANNEL UNIT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1E095-E0D0-431A-A073-F66C5FB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47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채널 파운데이션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4A470-964F-40CA-8B0D-A18C667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21E50-6857-410D-97B5-1CCDFAF8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프로젝트 공통 기반(Backend · Frontend) 구축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B2F5E-84CD-4417-BBD2-658BCC5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23875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35C3E-57E1-4F6F-A58D-603EAF30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A464F-871B-4830-84FA-8BCF404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FFE6D-3683-4809-884F-5CFE6ADE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인원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C0B33-E59F-403F-A976-491E96C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14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D6C5-9557-48C6-85D9-10B6064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33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A53B0-E708-432D-9C53-D8124E2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스타터 키트 +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1C6C8-F42E-4ED3-B7B1-764D4EB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15" name="cover-ghost-cf">
            <a:extLst xmlns:a="http://schemas.openxmlformats.org/drawingml/2006/main">
              <a:ext uri="{FF2B5EF4-FFF2-40B4-BE49-F238E27FC236}">
                <a16:creationId xmlns:a16="http://schemas.microsoft.com/office/drawing/2014/main" id="{594372CE-4C40-4037-B744-026AA18B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286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CF</a:t>
            </a:r>
          </a:p>
        </p:txBody>
      </p:sp>
      <p:sp>
        <p:nvSpPr>
          <p:cNvPr id="16" name="cover-circuit-a">
            <a:extLst xmlns:a="http://schemas.openxmlformats.org/drawingml/2006/main">
              <a:ext uri="{FF2B5EF4-FFF2-40B4-BE49-F238E27FC236}">
                <a16:creationId xmlns:a16="http://schemas.microsoft.com/office/drawing/2014/main" id="{1E31E5C0-386E-4336-B2D3-67A5A07D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circuit-b">
            <a:extLst xmlns:a="http://schemas.openxmlformats.org/drawingml/2006/main">
              <a:ext uri="{FF2B5EF4-FFF2-40B4-BE49-F238E27FC236}">
                <a16:creationId xmlns:a16="http://schemas.microsoft.com/office/drawing/2014/main" id="{604666A8-5FF0-49AA-97A1-FEDCF71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95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ver-circuit-node">
            <a:extLst xmlns:a="http://schemas.openxmlformats.org/drawingml/2006/main">
              <a:ext uri="{FF2B5EF4-FFF2-40B4-BE49-F238E27FC236}">
                <a16:creationId xmlns:a16="http://schemas.microsoft.com/office/drawing/2014/main" id="{1B0A818C-289A-496B-B44F-C40E33D3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ver-metric-0">
            <a:extLst xmlns:a="http://schemas.openxmlformats.org/drawingml/2006/main">
              <a:ext uri="{FF2B5EF4-FFF2-40B4-BE49-F238E27FC236}">
                <a16:creationId xmlns:a16="http://schemas.microsoft.com/office/drawing/2014/main" id="{1C0F8F3E-0C4E-4F5D-BBFB-CAF6390A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ver-metric-1">
            <a:extLst xmlns:a="http://schemas.openxmlformats.org/drawingml/2006/main">
              <a:ext uri="{FF2B5EF4-FFF2-40B4-BE49-F238E27FC236}">
                <a16:creationId xmlns:a16="http://schemas.microsoft.com/office/drawing/2014/main" id="{5B155B1A-443E-4ACC-9E5F-455D443D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ver-metric-2">
            <a:extLst xmlns:a="http://schemas.openxmlformats.org/drawingml/2006/main">
              <a:ext uri="{FF2B5EF4-FFF2-40B4-BE49-F238E27FC236}">
                <a16:creationId xmlns:a16="http://schemas.microsoft.com/office/drawing/2014/main" id="{D4E7184B-D053-4AA1-86C5-4A0590E5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6900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AD42E117-8AAB-4300-BBCC-C51E561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2CDE-59F3-4FF1-9761-025F1230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E053F-065F-49AD-B361-37116AF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45834-8641-4FBD-A563-B4F09DBB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CC54D-3364-4C32-A470-79CD951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CFEA-82C1-4BBC-B856-AEE39ED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DEFINITION ·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3A18-53F5-46C1-8F73-DC0EAEF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239D-4528-4E26-9401-43D9E95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1905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49CBE-C325-4FFB-B9F5-F589D8D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채널 프로젝트 반복 영역 표준화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E19D4-62DB-44E6-8D0A-604633F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531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88" b="0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프론트엔드·관리자 UI · 인증/권한 · 게이트웨이 · MCI 연동 기반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BE41E-F0CE-4B42-92F3-2F44435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31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완제품 솔루션이 아닌 빠른 프로젝트 착수를 위한 기반 자산  →  core · mci · full 모듈 단위 제공으로 단계적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4907E-E585-4B29-A5CD-0DB7C206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00050" cy="95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80F30-6111-4D45-9378-05908ED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92F99-009E-4E74-9D66-92FA7CB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공통 구조 표준화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F601E-1BCF-4DDB-8B73-97A0F33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FE/BE 기본 구조·개발 규칙 표준화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→ 초기 구축 부담 축소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537B6-2DF8-438E-AE72-6FCBDE7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400050" cy="95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1E1E-A7A7-4A01-9406-EE01023C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FD8D7-638E-4C35-A001-7F3B81E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95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42C2A-46FB-4EAD-B5E5-EFB2C8F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911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adapter · mapper · config로 차이 격리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→ 고객사별 연동 유연성 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3C4F8-C411-42D6-B016-A63C716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400050" cy="95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237BD-A100-4A8F-AE8D-9B86688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FED4D-B181-4EA1-8164-2F326707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FC39E-613F-4DDF-A2E3-38EC1C7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911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구축 베이스 우선 활용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→ core · mci · full 제품화 확장</a:t>
            </a:r>
          </a:p>
        </p:txBody>
      </p:sp>
      <p:sp>
        <p:nvSpPr>
          <p:cNvPr id="28" name="definition-ghost">
            <a:extLst xmlns:a="http://schemas.openxmlformats.org/drawingml/2006/main">
              <a:ext uri="{FF2B5EF4-FFF2-40B4-BE49-F238E27FC236}">
                <a16:creationId xmlns:a16="http://schemas.microsoft.com/office/drawing/2014/main" id="{2D164A0A-4F48-42A8-8953-E6BB50FF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6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FOUNDATION</a:t>
            </a:r>
          </a:p>
        </p:txBody>
      </p:sp>
      <p:sp>
        <p:nvSpPr>
          <p:cNvPr id="29" name="definition-rail">
            <a:extLst xmlns:a="http://schemas.openxmlformats.org/drawingml/2006/main">
              <a:ext uri="{FF2B5EF4-FFF2-40B4-BE49-F238E27FC236}">
                <a16:creationId xmlns:a16="http://schemas.microsoft.com/office/drawing/2014/main" id="{820EB3E6-9C6C-453E-8BD2-5DF32A4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2492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3700C2F8-801A-4771-A696-B6CD196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8700E-AED7-4B42-87BA-A572B95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AEBE6-53FC-4AC0-BA0A-35F3360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2F651-BB6E-44A9-9E0F-078D9C3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711F5-7E3F-41C2-BE4A-5BB3070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2455F-F766-429D-8C6F-47254D9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WHY NOW · 추진 배경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1B26C-B22D-4188-BA50-D7C529E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B946-9611-497F-9868-20DADA85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19450" cy="190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8AA3-04AB-40D4-B58C-8DDCB077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기제품 적용 제약  →  채널 프로젝트 공통 기반 선제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BBAA5-F7CB-484A-8D7F-2050621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DB287-3A75-41CE-A688-BBBE297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31AC6-A1DB-4D53-BF9A-FE6EA27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공통 기반 부재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9BAC5-C0B8-4AA6-A7EC-950793E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프로젝트별 BE·FE 기초 재구축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B7FA2-3612-4779-9E15-F41302A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→ 초기 작업 반복·시간 소모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4C79-9ED3-49A1-BD35-EC091F6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95388-F7A0-4504-9E50-238C51C4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9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ECF09-FF52-471D-8149-1E87B86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고객사별 차이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7334A-72AA-4722-BCE8-222C0F7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업무·인증·MCI·계정계/정보계/대외계 차이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DAC73-8903-45C4-B50C-1F898F8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→ 공통 영역 표준화 + 확장 구조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55D58-2D6C-4D61-9272-614C533E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0B4BC-2612-44A7-B1AE-98B64B1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33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612FF-7876-487A-A155-100CB08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추진 적기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6CC26-5ADD-4E96-ACA4-9D6CDB1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차기 투입 전 가용 인력 활용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A6FF5-4337-4CFE-A849-279508D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006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→ 반복 활용 가능한 공통 자산 확보</a:t>
            </a:r>
          </a:p>
        </p:txBody>
      </p:sp>
      <p:sp>
        <p:nvSpPr>
          <p:cNvPr id="32" name="why-ghost">
            <a:extLst xmlns:a="http://schemas.openxmlformats.org/drawingml/2006/main">
              <a:ext uri="{FF2B5EF4-FFF2-40B4-BE49-F238E27FC236}">
                <a16:creationId xmlns:a16="http://schemas.microsoft.com/office/drawing/2014/main" id="{40CD3740-F940-4D95-8CA1-36D26551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90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5362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960E302E-AA4D-49FB-BCA9-D946855A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FECB6-179B-4748-BBBE-71DFA622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4A189-9547-4217-88FD-0828042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B7F89-A975-4A0A-9C40-56C18BEF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6D355-0EB2-43DA-B559-669EFCB4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F05C1-B779-4108-A693-9EE5FBA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ARCHITECTURE ·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B9D87-F7A8-4147-903E-F662623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Channel Foundation 구성도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7FAB0-259B-42D9-B1F4-6976595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5CDD-C00E-48CE-9117-0ED6B017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14227-3446-436E-AB65-64212A3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14B33-30EA-4113-9368-D386068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2F9B9-ECB2-450D-A40B-3DA0E03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모노레포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9D6AD-C2CB-4F8B-B315-C22482C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Turbo + pnpm · PC · Mobile ·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9E341-BF43-4D7B-AFB0-C7E1F076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C9A09-1F58-49C8-AC19-0FBA473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0B241-B271-4C4A-86D2-02DB0F48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6230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@bx/shared · 도메인 8종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A0756-E644-4ADA-AB38-C3D27C5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E0C09-A0D9-49CB-8195-780A35B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10524-5822-4ACD-8965-A0D16315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2425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auth · user · account · menu · product · alarm · base-info · common-code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1A37B-FABA-441D-B899-B7E139B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32A20-2BCE-4490-A43D-3134862A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라우팅·데이터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5BA82-87C5-47D9-82F7-F99BF8F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TanStack Router · Query · Zustand · Axios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0638F-175A-40EE-83CC-EFF529F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E0275-3D94-4DBD-B343-B6C929C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인증·UI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0748C-CB67-4FD5-9FD0-8BEF1A0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4815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JWT 401 자동재발급 · Radix · Tailwind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14249-7D2A-4FA2-A8A6-BFE28456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D2240-C9F9-47C6-A245-221E41E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3B10B-F522-4C06-A406-3CC4D9B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2133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Vite 8 · Biome · Vitest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B2DCF-3B12-473F-853F-E0BC1B9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AEF40-BE5E-4654-A5A9-A00FAA5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HTTPS · Envelope · JWT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25EE6-F017-413C-A970-B6FA4C6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DE301-9567-4242-9EF1-4142C0D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24175"/>
            <a:ext cx="91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OpenAPI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BAEE7-2E22-4303-A97F-F7EB842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14650"/>
            <a:ext cx="2133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TypeBridge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7745D-9131-426D-97F2-E153DEF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1FE8C-C47E-41EA-B9A8-86B087B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9975"/>
            <a:ext cx="91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타입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2FC9DB-F7DC-4D67-9F5A-F65614CD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2133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FE·BE 타입 자동 일치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AAA176-EE6E-4F3B-AAA5-DBA8109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41C28-0672-4B4D-8933-BD0D034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95775"/>
            <a:ext cx="91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DC2573-6B65-4404-AF45-D082356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86250"/>
            <a:ext cx="2133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69FDB-80D8-4302-BDD4-FEA63CCC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C0C8F-190B-4776-9DE4-4FD9FE6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CB8133-24DC-4967-8A34-C4FB953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A62107-075B-4E8D-99EA-E573266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98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MSA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C3F416-388B-4057-B304-076AF050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Spring Cloud · Gateway · Eureka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C0FAE6-5AC0-4932-9871-8A7A938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B05158-DA84-4697-9015-C89FCB0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4802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AB7144-EECA-43E4-89DB-3942B3A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385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auth · mci · system · product · integration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060B1F-FB91-45CB-8523-C7D7C3A1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087BEB-2AA2-4D36-8FFF-C060BE8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861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libs 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6F569E-C1AA-45A8-8881-FD812EF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7665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common · business-common · mci-common · security-common · session-context-common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EB07EC-8C50-440B-AE7A-DC1D92B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F9BA91-103F-44A5-8970-1B01D29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2432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인증·세션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F5064F-0B48-41F5-8862-7BB5C99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1480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Gateway JWT 검증 · X-Auth-* · Redis 세션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20EB7F-B273-42D3-9115-FC1FBAEA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377A59-12B8-46C2-A504-69DC633A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3F07EA-415B-4F27-90D0-B0AC0933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21336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YAML registry · Adapter/Mapper SPI · Router</a:t>
            </a:r>
          </a:p>
        </p:txBody>
      </p:sp>
      <p:sp>
        <p:nvSpPr>
          <p:cNvPr id="64" name="e2e-automation-band">
            <a:extLst xmlns:a="http://schemas.openxmlformats.org/drawingml/2006/main">
              <a:ext uri="{FF2B5EF4-FFF2-40B4-BE49-F238E27FC236}">
                <a16:creationId xmlns:a16="http://schemas.microsoft.com/office/drawing/2014/main" id="{7B61C6BF-7636-4D07-98C8-F2C68A7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04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C1538"/>
          </a:solidFill>
          <a:ln xmlns:a="http://schemas.openxmlformats.org/drawingml/2006/main" w="9525">
            <a:solidFill>
              <a:srgbClr val="C8FF29"/>
            </a:solidFill>
            <a:prstDash val="solid"/>
          </a:ln>
        </p:spPr>
      </p:sp>
      <p:sp>
        <p:nvSpPr>
          <p:cNvPr id="65" name="e2e-automation-label">
            <a:extLst xmlns:a="http://schemas.openxmlformats.org/drawingml/2006/main">
              <a:ext uri="{FF2B5EF4-FFF2-40B4-BE49-F238E27FC236}">
                <a16:creationId xmlns:a16="http://schemas.microsoft.com/office/drawing/2014/main" id="{9110A5F2-3265-4AC6-A1BC-C1B0565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E2E 테스트 자동화</a:t>
            </a:r>
          </a:p>
        </p:txBody>
      </p:sp>
      <p:sp>
        <p:nvSpPr>
          <p:cNvPr id="66" name="e2e-automation-detail">
            <a:extLst xmlns:a="http://schemas.openxmlformats.org/drawingml/2006/main">
              <a:ext uri="{FF2B5EF4-FFF2-40B4-BE49-F238E27FC236}">
                <a16:creationId xmlns:a16="http://schemas.microsoft.com/office/drawing/2014/main" id="{9EEA63DA-DB18-4932-8957-D861C71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530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Playwright · PC · Mobile · Admin 주요 시나리오 검증  →  CI 파이프라인 연동 · Vitest 단위 테스트 병행</a:t>
            </a:r>
          </a:p>
        </p:txBody>
      </p:sp>
      <p:sp>
        <p:nvSpPr>
          <p:cNvPr id="67" name="architecture-ghost">
            <a:extLst xmlns:a="http://schemas.openxmlformats.org/drawingml/2006/main">
              <a:ext uri="{FF2B5EF4-FFF2-40B4-BE49-F238E27FC236}">
                <a16:creationId xmlns:a16="http://schemas.microsoft.com/office/drawing/2014/main" id="{1243B1E6-A18B-4569-82BF-3E0080F9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"/>
            <a:ext cx="400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65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765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SYSTEM</a:t>
            </a:r>
          </a:p>
        </p:txBody>
      </p:sp>
      <p:sp>
        <p:nvSpPr>
          <p:cNvPr id="68" name="architecture-12-node">
            <a:extLst xmlns:a="http://schemas.openxmlformats.org/drawingml/2006/main">
              <a:ext uri="{FF2B5EF4-FFF2-40B4-BE49-F238E27FC236}">
                <a16:creationId xmlns:a16="http://schemas.microsoft.com/office/drawing/2014/main" id="{B600E2D5-7C7A-402B-85D6-7AEA1042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architecture-12-stem">
            <a:extLst xmlns:a="http://schemas.openxmlformats.org/drawingml/2006/main">
              <a:ext uri="{FF2B5EF4-FFF2-40B4-BE49-F238E27FC236}">
                <a16:creationId xmlns:a16="http://schemas.microsoft.com/office/drawing/2014/main" id="{42B4472A-47E7-4610-8CCF-7D938C70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architecture-34-node">
            <a:extLst xmlns:a="http://schemas.openxmlformats.org/drawingml/2006/main">
              <a:ext uri="{FF2B5EF4-FFF2-40B4-BE49-F238E27FC236}">
                <a16:creationId xmlns:a16="http://schemas.microsoft.com/office/drawing/2014/main" id="{5E2EEB47-4CEC-48A1-BDA7-953C999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3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architecture-34-stem">
            <a:extLst xmlns:a="http://schemas.openxmlformats.org/drawingml/2006/main">
              <a:ext uri="{FF2B5EF4-FFF2-40B4-BE49-F238E27FC236}">
                <a16:creationId xmlns:a16="http://schemas.microsoft.com/office/drawing/2014/main" id="{9FAFDFF1-05FD-48B8-9065-80D1BCC0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architecture-47-node">
            <a:extLst xmlns:a="http://schemas.openxmlformats.org/drawingml/2006/main">
              <a:ext uri="{FF2B5EF4-FFF2-40B4-BE49-F238E27FC236}">
                <a16:creationId xmlns:a16="http://schemas.microsoft.com/office/drawing/2014/main" id="{CFFAC7A0-2FDE-409A-A849-C8BB2855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architecture-47-stem">
            <a:extLst xmlns:a="http://schemas.openxmlformats.org/drawingml/2006/main">
              <a:ext uri="{FF2B5EF4-FFF2-40B4-BE49-F238E27FC236}">
                <a16:creationId xmlns:a16="http://schemas.microsoft.com/office/drawing/2014/main" id="{50C31C2B-EEC4-4848-A5D7-0F78B956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66900"/>
            <a:ext cx="9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7106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C31ADD2-1A45-4FA1-B41C-2FB3650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E16B2-2F8F-4519-A4E7-1EF09E9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71D35-E4F0-4AE3-9932-EAADB83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6315-B624-47AB-9330-ADA30C14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794A0-16DC-4F1F-A2D7-55EC945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6D2B2-5E8C-47B6-9FA7-41434C2D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PLAN · 개발 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0E226-2075-4D1F-863F-3A39270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77E70-71D9-45F3-A189-A331BAB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C1538"/>
          </a:solidFill>
          <a:ln xmlns:a="http://schemas.openxmlformats.org/drawingml/2006/main" w="9525">
            <a:solidFill>
              <a:srgbClr val="1359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CAC7D-2E81-47A2-9897-6373FB4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공통 뼈대 집중: 인프라 · 통신 · 인증 · 모듈 구조  /  고객별 비즈니스 로직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8A9BA-0907-4B7D-B278-61006145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781050" cy="55245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6851-35D4-45C1-9328-7B0E1F7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33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57656-42AA-487D-BE70-DDA1577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9A8DA-D1CD-4B17-80BC-79D95BF7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모노레포 구조화 · @bx/shared 세팅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번들러·빌드·배포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31F6B-51E0-482E-A7D2-1955A2F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ADB11-9570-4813-B5AB-7AFABE4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98078-9A6C-4D9B-9151-18327C8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1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881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20D45-3F81-428F-9D35-56A90AA3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781050" cy="55245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AA4A4-CC4B-400F-B0C3-353FFA43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38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2878A-F079-4E41-A05D-A8384B3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502AA-99FD-4082-AC68-D6C586B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auth · system · gateway 안정화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MCI 거래 정의 · mapper/adapter routing 구현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731F5-E7F8-4519-9C22-78F865C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101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9036C-8712-42B1-A3E3-AE9A763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244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ABF54-803C-419C-B150-D5FE737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67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1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881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D5277-8848-4C25-898C-8A179D74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781050" cy="55245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5A817-205F-4F4B-A443-EFFD6B1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66CFF-F267-40D9-A5F9-BE72157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0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44BFC-F01C-44D7-96FE-5D8A071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148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Admin UI ↔ Backend API 연계 검증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E2E 자동화 · 개발 가이드 · 샘플 정리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24009-CA57-4AC1-8239-1479469E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14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7B4DF-C895-41CF-A495-811518C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292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1038D-0503-4D25-A57B-43B85E43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720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1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881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개발 가이드 · 샘플 업무 · 테스트 자동화 기반</a:t>
            </a:r>
          </a:p>
        </p:txBody>
      </p:sp>
      <p:sp>
        <p:nvSpPr>
          <p:cNvPr id="38" name="plan-ghost">
            <a:extLst xmlns:a="http://schemas.openxmlformats.org/drawingml/2006/main">
              <a:ext uri="{FF2B5EF4-FFF2-40B4-BE49-F238E27FC236}">
                <a16:creationId xmlns:a16="http://schemas.microsoft.com/office/drawing/2014/main" id="{C9A121CA-A061-48D8-AFDB-0806051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1915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66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01·02·03</a:t>
            </a:r>
          </a:p>
        </p:txBody>
      </p:sp>
      <p:sp>
        <p:nvSpPr>
          <p:cNvPr id="39" name="plan-12-node">
            <a:extLst xmlns:a="http://schemas.openxmlformats.org/drawingml/2006/main">
              <a:ext uri="{FF2B5EF4-FFF2-40B4-BE49-F238E27FC236}">
                <a16:creationId xmlns:a16="http://schemas.microsoft.com/office/drawing/2014/main" id="{E8761B4C-C3EB-481C-9C0E-1B33EACB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lan-12-line">
            <a:extLst xmlns:a="http://schemas.openxmlformats.org/drawingml/2006/main">
              <a:ext uri="{FF2B5EF4-FFF2-40B4-BE49-F238E27FC236}">
                <a16:creationId xmlns:a16="http://schemas.microsoft.com/office/drawing/2014/main" id="{3EF82282-4049-4B66-907E-1EDAF11F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lan-20-node">
            <a:extLst xmlns:a="http://schemas.openxmlformats.org/drawingml/2006/main">
              <a:ext uri="{FF2B5EF4-FFF2-40B4-BE49-F238E27FC236}">
                <a16:creationId xmlns:a16="http://schemas.microsoft.com/office/drawing/2014/main" id="{C5EF2E25-59B5-41C3-88A4-E8A9D23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lan-20-line">
            <a:extLst xmlns:a="http://schemas.openxmlformats.org/drawingml/2006/main">
              <a:ext uri="{FF2B5EF4-FFF2-40B4-BE49-F238E27FC236}">
                <a16:creationId xmlns:a16="http://schemas.microsoft.com/office/drawing/2014/main" id="{3E15351B-2C45-4D25-9030-5122CA18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242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lan-28-node">
            <a:extLst xmlns:a="http://schemas.openxmlformats.org/drawingml/2006/main">
              <a:ext uri="{FF2B5EF4-FFF2-40B4-BE49-F238E27FC236}">
                <a16:creationId xmlns:a16="http://schemas.microsoft.com/office/drawing/2014/main" id="{91CBE8C3-1026-4435-B931-D2EDF758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19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lan-28-line">
            <a:extLst xmlns:a="http://schemas.openxmlformats.org/drawingml/2006/main">
              <a:ext uri="{FF2B5EF4-FFF2-40B4-BE49-F238E27FC236}">
                <a16:creationId xmlns:a16="http://schemas.microsoft.com/office/drawing/2014/main" id="{3799BA22-CE99-4013-B2C9-5AE0AA79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481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17BB2F1-0740-4CED-B739-1CADE96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27F6-1668-45A5-B1D4-7812F1C1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B98E-78A5-4A66-8BA2-005B7B9E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120BE-4951-4D2C-8905-51E80A8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186EC5D5-88A8-4E76-BFF5-BCA1604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15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82140-63CD-4223-BE37-1196F1A7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1F584-9DC6-41F4-AF53-47FD56E6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DELIVERABLES ·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CF6B1-64A5-4879-9437-6CDFD0B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0A273-8672-403E-A581-00C90F9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고객별 비즈니스 로직 제외  →  파생 프로젝트 공통 기반 우선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0C398-CA8B-4F49-8728-4C45CC1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3032A-8CA7-4FD1-AD45-429E3656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E82A2-D34C-43B1-A6A2-C06E85E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B3951-0A56-4921-9147-52E2D36F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DE36D-3EF4-447F-B8F7-A98C02C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550ED-7722-4F14-8D90-4DA462C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E8EC5-66DD-4239-B978-1EF67EA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955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20CDD-4AA4-408E-91E0-E792FF4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6C10A-E5BE-40C1-B342-5AE5A89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59776-6276-4592-B589-43E32D7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A1BA1-4809-4019-B0F6-1C5196C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D1740-823B-4930-9690-BCB57B78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JWT 자동 재발급 · Gateway 내부 인증 · Redis 세션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37BB3-1AD7-4F0B-8103-6972324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5342E-66C8-436D-9016-C75F07F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4BAF8-E77E-4271-B507-EF674CC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735E7-B4C2-41EE-B467-FDE34C8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83FD3-A9A5-4FC3-BA2B-F6BDF6A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2066D-3ED8-4882-9579-073561B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187E6-CCBC-450B-BD24-7E4B14DB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API 연계 · 타입 자동화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B082D-5FC1-4D9E-B8C0-67C0A45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OpenAPI TypeBridge · Envelope 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6F2BB-15AE-44AD-B3CD-0CFB4F6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314325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F02DC-F099-4404-B490-6B7CC00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8AD79-CAFB-4809-A2EB-B724067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프로젝트 관리 · WBS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F2BF2-5813-4C59-A60F-ECA0C4F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GitHub Project 기반 WBS · 일정 관리</a:t>
            </a:r>
          </a:p>
        </p:txBody>
      </p:sp>
      <p:sp>
        <p:nvSpPr>
          <p:cNvPr id="41" name="deliverable-12-tick">
            <a:extLst xmlns:a="http://schemas.openxmlformats.org/drawingml/2006/main">
              <a:ext uri="{FF2B5EF4-FFF2-40B4-BE49-F238E27FC236}">
                <a16:creationId xmlns:a16="http://schemas.microsoft.com/office/drawing/2014/main" id="{D36BB8AA-1212-4493-AB2F-4B91263E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eliverable-16-tick">
            <a:extLst xmlns:a="http://schemas.openxmlformats.org/drawingml/2006/main">
              <a:ext uri="{FF2B5EF4-FFF2-40B4-BE49-F238E27FC236}">
                <a16:creationId xmlns:a16="http://schemas.microsoft.com/office/drawing/2014/main" id="{887B3C80-4C7D-45D6-A9FD-1B923053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eliverable-20-tick">
            <a:extLst xmlns:a="http://schemas.openxmlformats.org/drawingml/2006/main">
              <a:ext uri="{FF2B5EF4-FFF2-40B4-BE49-F238E27FC236}">
                <a16:creationId xmlns:a16="http://schemas.microsoft.com/office/drawing/2014/main" id="{628EADFB-FEF3-47ED-B2E8-37A8BF3B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eliverable-24-tick">
            <a:extLst xmlns:a="http://schemas.openxmlformats.org/drawingml/2006/main">
              <a:ext uri="{FF2B5EF4-FFF2-40B4-BE49-F238E27FC236}">
                <a16:creationId xmlns:a16="http://schemas.microsoft.com/office/drawing/2014/main" id="{C1DC1C6E-A7E3-417D-86D5-5CB62ABE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eliverable-28-tick">
            <a:extLst xmlns:a="http://schemas.openxmlformats.org/drawingml/2006/main">
              <a:ext uri="{FF2B5EF4-FFF2-40B4-BE49-F238E27FC236}">
                <a16:creationId xmlns:a16="http://schemas.microsoft.com/office/drawing/2014/main" id="{6C084159-62EA-4582-90A7-3F3F48E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eliverable-32-tick">
            <a:extLst xmlns:a="http://schemas.openxmlformats.org/drawingml/2006/main">
              <a:ext uri="{FF2B5EF4-FFF2-40B4-BE49-F238E27FC236}">
                <a16:creationId xmlns:a16="http://schemas.microsoft.com/office/drawing/2014/main" id="{993A3483-2A95-4BA1-B1E1-9F2CD18A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419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9527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5522BBF1-920E-4CE1-8A8E-B71B72BE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2F051-97FF-4CCE-BD60-4643774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1113-1024-4DA2-B87D-CF7B2B1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992D5-C543-474A-82FB-1A20A5A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AFAD0-044F-46F1-AE5B-6C49314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8749-C2BC-4C0A-BC40-09A9743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IMPACT · 기대효과 &amp; 로드맵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590FF-6315-43CA-AC74-157D2D1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87BF3-2BA8-4DCD-8FE9-40FE83A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4D0FB-E674-472E-BD40-2F5161C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C15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A1923-0113-4D7C-BAEE-70B32E0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8AB1B-294B-42C5-8644-81A4B1E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향후 확장 — 모듈 단위 제품화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458D4-7A0B-40B0-ABFA-6A0A7EF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42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7026B-C281-4D4F-AC28-B50DDEB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7CBD6-E85F-42C1-88F3-7215A9C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430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auth + system +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9186D-D8B3-4DCD-970A-701CCE96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373D0-1492-4B6D-8D62-82A3B9A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42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C9A7C-AD32-47E7-85E3-A16F6A73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146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0F753-7485-4D64-B416-E251C8BD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core + mci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3C5F4-A32D-46A2-B3FB-01D61B7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45194-2547-4D5D-ABD6-59BEE84D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3429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786B6-D6B7-4BF5-89D6-418278C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29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full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A5059-9542-4180-8360-96D5AC7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core + mci + integration + 샘플 업무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9EB47-353D-46A0-9608-9BAFA9C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77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50845-FED8-4481-A68B-1AC4944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86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채널 서비스 모니터링 도구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A902E-D9F9-4B6D-BC86-B80B056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PC · Mobile · Admin 실시간 상태 감시  |  가동률 · 응답속도 · 점검 상태</a:t>
            </a:r>
          </a:p>
        </p:txBody>
      </p:sp>
      <p:sp>
        <p:nvSpPr>
          <p:cNvPr id="29" name="impact-benefit-1">
            <a:extLst xmlns:a="http://schemas.openxmlformats.org/drawingml/2006/main">
              <a:ext uri="{FF2B5EF4-FFF2-40B4-BE49-F238E27FC236}">
                <a16:creationId xmlns:a16="http://schemas.microsoft.com/office/drawing/2014/main" id="{4BE93CFF-774E-4050-ADCB-B1B7163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6289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impact-benefit-1-number">
            <a:extLst xmlns:a="http://schemas.openxmlformats.org/drawingml/2006/main">
              <a:ext uri="{FF2B5EF4-FFF2-40B4-BE49-F238E27FC236}">
                <a16:creationId xmlns:a16="http://schemas.microsoft.com/office/drawing/2014/main" id="{A0F4A116-421F-461A-BE68-453576B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0005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1" name="impact-benefit-1-text">
            <a:extLst xmlns:a="http://schemas.openxmlformats.org/drawingml/2006/main">
              <a:ext uri="{FF2B5EF4-FFF2-40B4-BE49-F238E27FC236}">
                <a16:creationId xmlns:a16="http://schemas.microsoft.com/office/drawing/2014/main" id="{74664268-8247-4D64-85A4-4EFADAB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574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</p:txBody>
      </p:sp>
      <p:sp>
        <p:nvSpPr>
          <p:cNvPr id="32" name="impact-benefit-2">
            <a:extLst xmlns:a="http://schemas.openxmlformats.org/drawingml/2006/main">
              <a:ext uri="{FF2B5EF4-FFF2-40B4-BE49-F238E27FC236}">
                <a16:creationId xmlns:a16="http://schemas.microsoft.com/office/drawing/2014/main" id="{B72B04E1-D17D-4EC1-8C96-37861363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26289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impact-benefit-2-number">
            <a:extLst xmlns:a="http://schemas.openxmlformats.org/drawingml/2006/main">
              <a:ext uri="{FF2B5EF4-FFF2-40B4-BE49-F238E27FC236}">
                <a16:creationId xmlns:a16="http://schemas.microsoft.com/office/drawing/2014/main" id="{2934365B-A003-4E58-A08F-4B7A5CB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86050"/>
            <a:ext cx="40005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4" name="impact-benefit-2-text">
            <a:extLst xmlns:a="http://schemas.openxmlformats.org/drawingml/2006/main">
              <a:ext uri="{FF2B5EF4-FFF2-40B4-BE49-F238E27FC236}">
                <a16:creationId xmlns:a16="http://schemas.microsoft.com/office/drawing/2014/main" id="{889E14C2-817E-4204-857C-B4C560F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574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개발 표준화 및 품질 향상</a:t>
            </a:r>
          </a:p>
        </p:txBody>
      </p:sp>
      <p:sp>
        <p:nvSpPr>
          <p:cNvPr id="35" name="impact-benefit-3">
            <a:extLst xmlns:a="http://schemas.openxmlformats.org/drawingml/2006/main">
              <a:ext uri="{FF2B5EF4-FFF2-40B4-BE49-F238E27FC236}">
                <a16:creationId xmlns:a16="http://schemas.microsoft.com/office/drawing/2014/main" id="{8425F1AD-6232-4E2C-B9EE-A54F0AE7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6289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impact-benefit-3-number">
            <a:extLst xmlns:a="http://schemas.openxmlformats.org/drawingml/2006/main">
              <a:ext uri="{FF2B5EF4-FFF2-40B4-BE49-F238E27FC236}">
                <a16:creationId xmlns:a16="http://schemas.microsoft.com/office/drawing/2014/main" id="{CC74089B-B320-4FB6-9AB5-6E502002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40005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7" name="impact-benefit-3-text">
            <a:extLst xmlns:a="http://schemas.openxmlformats.org/drawingml/2006/main">
              <a:ext uri="{FF2B5EF4-FFF2-40B4-BE49-F238E27FC236}">
                <a16:creationId xmlns:a16="http://schemas.microsoft.com/office/drawing/2014/main" id="{9676A345-A01C-4CE1-A6A8-1028001B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6712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</p:txBody>
      </p:sp>
      <p:sp>
        <p:nvSpPr>
          <p:cNvPr id="38" name="impact-benefit-4">
            <a:extLst xmlns:a="http://schemas.openxmlformats.org/drawingml/2006/main">
              <a:ext uri="{FF2B5EF4-FFF2-40B4-BE49-F238E27FC236}">
                <a16:creationId xmlns:a16="http://schemas.microsoft.com/office/drawing/2014/main" id="{725AEB80-F584-49BD-A2B4-FDF9E19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26289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impact-benefit-4-number">
            <a:extLst xmlns:a="http://schemas.openxmlformats.org/drawingml/2006/main">
              <a:ext uri="{FF2B5EF4-FFF2-40B4-BE49-F238E27FC236}">
                <a16:creationId xmlns:a16="http://schemas.microsoft.com/office/drawing/2014/main" id="{1EDC16B2-D772-4064-AA99-A6FACD2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95700"/>
            <a:ext cx="40005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0" name="impact-benefit-4-text">
            <a:extLst xmlns:a="http://schemas.openxmlformats.org/drawingml/2006/main">
              <a:ext uri="{FF2B5EF4-FFF2-40B4-BE49-F238E27FC236}">
                <a16:creationId xmlns:a16="http://schemas.microsoft.com/office/drawing/2014/main" id="{DFB5797E-E388-4A7F-983F-9BFF420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6712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MCI · 외부 연동 구조 재사용</a:t>
            </a:r>
          </a:p>
        </p:txBody>
      </p:sp>
      <p:sp>
        <p:nvSpPr>
          <p:cNvPr id="41" name="impact-benefit-5">
            <a:extLst xmlns:a="http://schemas.openxmlformats.org/drawingml/2006/main">
              <a:ext uri="{FF2B5EF4-FFF2-40B4-BE49-F238E27FC236}">
                <a16:creationId xmlns:a16="http://schemas.microsoft.com/office/drawing/2014/main" id="{EBBDECC6-670E-4A42-A2AA-5730341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6289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impact-benefit-5-number">
            <a:extLst xmlns:a="http://schemas.openxmlformats.org/drawingml/2006/main">
              <a:ext uri="{FF2B5EF4-FFF2-40B4-BE49-F238E27FC236}">
                <a16:creationId xmlns:a16="http://schemas.microsoft.com/office/drawing/2014/main" id="{38DE87F5-8DD7-483D-9C4D-5C15F1F7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0005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3" name="impact-benefit-5-text">
            <a:extLst xmlns:a="http://schemas.openxmlformats.org/drawingml/2006/main">
              <a:ext uri="{FF2B5EF4-FFF2-40B4-BE49-F238E27FC236}">
                <a16:creationId xmlns:a16="http://schemas.microsoft.com/office/drawing/2014/main" id="{935993C2-713B-40AA-A697-52F6982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</p:txBody>
      </p:sp>
      <p:sp>
        <p:nvSpPr>
          <p:cNvPr id="44" name="impact-benefit-6">
            <a:extLst xmlns:a="http://schemas.openxmlformats.org/drawingml/2006/main">
              <a:ext uri="{FF2B5EF4-FFF2-40B4-BE49-F238E27FC236}">
                <a16:creationId xmlns:a16="http://schemas.microsoft.com/office/drawing/2014/main" id="{B50B4EE2-951E-4CDB-98B7-72AB9D5A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628900" cy="95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mpact-benefit-6-number">
            <a:extLst xmlns:a="http://schemas.openxmlformats.org/drawingml/2006/main">
              <a:ext uri="{FF2B5EF4-FFF2-40B4-BE49-F238E27FC236}">
                <a16:creationId xmlns:a16="http://schemas.microsoft.com/office/drawing/2014/main" id="{66DDEBFE-9839-4CD5-8530-EFB2634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400050" cy="228600"/>
          </a:xfrm>
          <a:prstGeom xmlns:a="http://schemas.openxmlformats.org/drawingml/2006/main" prst="roundRect">
            <a:avLst>
              <a:gd name="adj" fmla="val 3181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6" name="impact-benefit-6-text">
            <a:extLst xmlns:a="http://schemas.openxmlformats.org/drawingml/2006/main">
              <a:ext uri="{FF2B5EF4-FFF2-40B4-BE49-F238E27FC236}">
                <a16:creationId xmlns:a16="http://schemas.microsoft.com/office/drawing/2014/main" id="{43CD08DB-40F9-495D-A194-588F5F3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767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956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MVP 기반 Pre-sales 데모 · 즉시 커스터마이징</a:t>
            </a:r>
          </a:p>
        </p:txBody>
      </p:sp>
      <p:sp>
        <p:nvSpPr>
          <p:cNvPr id="47" name="impact-ghost">
            <a:extLst xmlns:a="http://schemas.openxmlformats.org/drawingml/2006/main">
              <a:ext uri="{FF2B5EF4-FFF2-40B4-BE49-F238E27FC236}">
                <a16:creationId xmlns:a16="http://schemas.microsoft.com/office/drawing/2014/main" id="{005BFAF4-D96C-484E-BB2C-0E135384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325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IMPACT</a:t>
            </a:r>
          </a:p>
        </p:txBody>
      </p:sp>
      <p:sp>
        <p:nvSpPr>
          <p:cNvPr id="48" name="impact-roadmap-rail">
            <a:extLst xmlns:a="http://schemas.openxmlformats.org/drawingml/2006/main">
              <a:ext uri="{FF2B5EF4-FFF2-40B4-BE49-F238E27FC236}">
                <a16:creationId xmlns:a16="http://schemas.microsoft.com/office/drawing/2014/main" id="{85B53363-67BB-4C1A-8A66-762BE7EE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8298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EE9ECE25-A323-4BB7-A4AB-5AF801C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0CADD-7495-4D17-AD8C-95DF90F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4372-E112-4BC2-9224-FCD5035B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2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17308-EDDE-43A6-8142-FEE1394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8689D-E624-49A9-B73F-784D45C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DA8D1-AE14-413B-99ED-AAF0BB0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AI · 개발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93F6-FFE8-42EB-B122-A8D48C3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AI 활용 개발 — 실증과 SI 시장 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32A7-0961-4ADC-954B-C9F6E92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0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AI 유료 요금제 도입 확정  →  실제 활용 실증 + 조직 개발 역량 내재화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DDBA2-5EE4-4634-8D13-F2FD5A56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43E6FF"/>
                </a:solidFill>
                <a:latin typeface="Malgun Gothic"/>
                <a:ea typeface="Malgun Gothic"/>
                <a:cs typeface="Malgun Gothic"/>
              </a:rPr>
              <a:t>AI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266CE-3344-40AD-ADA5-7708545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AI Agent 활용 가치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0724F-A01F-4CD8-A4E7-B0C8BBF6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048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전체 소스 의존성 유지 분석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아키텍처 정합성 기반 코드 생성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정확한 오류 진단 · 연속 작업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60AF2-888A-4F4E-A388-7234B5E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8FF29"/>
                </a:solidFill>
                <a:latin typeface="Malgun Gothic"/>
                <a:ea typeface="Malgun Gothic"/>
                <a:cs typeface="Malgun Gothic"/>
              </a:rPr>
              <a:t>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72FDB-38A3-42E4-A231-0490CE1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실증 — 적용 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EAE12-BBA6-423D-B07D-7C92C81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86250"/>
            <a:ext cx="3048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GitHub Webhook → Notion 자동화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WBS ↔ GitHub Projects 동기화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OpenAPI → FE 타입 자동생성 CI 게이트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A0EF7-414B-4369-8DFF-0AE7431D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1359FF"/>
                </a:solidFill>
                <a:latin typeface="Malgun Gothic"/>
                <a:ea typeface="Malgun Gothic"/>
                <a:cs typeface="Malgun Gothic"/>
              </a:rPr>
              <a:t>MARKET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D5E41-BD56-4ED5-8678-99A8B666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671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9FAFF"/>
                </a:solidFill>
                <a:latin typeface="Malgun Gothic"/>
                <a:ea typeface="Malgun Gothic"/>
                <a:cs typeface="Malgun Gothic"/>
              </a:rPr>
              <a:t>SI 시장 변화 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220F0-2A46-452B-9ADA-BDDA2956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86250"/>
            <a:ext cx="3048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SI 개발 방식 변화 선제 대응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조직 경험 축적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defRPr>
            </a:pPr>
            <a:r>
              <a:rPr sz="1031" b="0">
                <a:solidFill>
                  <a:srgbClr val="B8C7D9"/>
                </a:solidFill>
                <a:latin typeface="Malgun Gothic"/>
                <a:ea typeface="Malgun Gothic"/>
                <a:cs typeface="Malgun Gothic"/>
              </a:rPr>
              <a:t>적용 역량 내재화</a:t>
            </a:r>
          </a:p>
        </p:txBody>
      </p:sp>
      <p:sp>
        <p:nvSpPr>
          <p:cNvPr id="23" name="ai-card-1-stripe">
            <a:extLst xmlns:a="http://schemas.openxmlformats.org/drawingml/2006/main">
              <a:ext uri="{FF2B5EF4-FFF2-40B4-BE49-F238E27FC236}">
                <a16:creationId xmlns:a16="http://schemas.microsoft.com/office/drawing/2014/main" id="{BEE2C0C5-ABF5-4A72-8EA0-BD517AC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00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i-card-2-stripe">
            <a:extLst xmlns:a="http://schemas.openxmlformats.org/drawingml/2006/main">
              <a:ext uri="{FF2B5EF4-FFF2-40B4-BE49-F238E27FC236}">
                <a16:creationId xmlns:a16="http://schemas.microsoft.com/office/drawing/2014/main" id="{F07C3EC0-66B1-428E-B40C-12D1BFA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400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i-card-3-stripe">
            <a:extLst xmlns:a="http://schemas.openxmlformats.org/drawingml/2006/main">
              <a:ext uri="{FF2B5EF4-FFF2-40B4-BE49-F238E27FC236}">
                <a16:creationId xmlns:a16="http://schemas.microsoft.com/office/drawing/2014/main" id="{132166D9-D24B-412D-9426-83E1F40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400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i-proof-ghost">
            <a:extLst xmlns:a="http://schemas.openxmlformats.org/drawingml/2006/main">
              <a:ext uri="{FF2B5EF4-FFF2-40B4-BE49-F238E27FC236}">
                <a16:creationId xmlns:a16="http://schemas.microsoft.com/office/drawing/2014/main" id="{748F3101-121B-402B-ABD1-049E5E80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62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0" b="1">
                <a:solidFill>
                  <a:srgbClr val="151A22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27" name="ai-proof-rail">
            <a:extLst xmlns:a="http://schemas.openxmlformats.org/drawingml/2006/main">
              <a:ext uri="{FF2B5EF4-FFF2-40B4-BE49-F238E27FC236}">
                <a16:creationId xmlns:a16="http://schemas.microsoft.com/office/drawing/2014/main" id="{AC22619A-6306-4F72-B2B5-49AFE4DE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i-proof-end-node">
            <a:extLst xmlns:a="http://schemas.openxmlformats.org/drawingml/2006/main">
              <a:ext uri="{FF2B5EF4-FFF2-40B4-BE49-F238E27FC236}">
                <a16:creationId xmlns:a16="http://schemas.microsoft.com/office/drawing/2014/main" id="{96A1A3AD-E6B8-4A25-8066-0C32B2CC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1938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2026-07-15T08:47:09.7080000Z</dcterms:created>
  <dcterms:modified xsi:type="dcterms:W3CDTF">2026-07-15T08:47:09.7080000Z</dcterms:modified>
</coreProperties>
</file>