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9f3df5d7394ac5" /><Relationship Type="http://schemas.openxmlformats.org/officeDocument/2006/relationships/extended-properties" Target="/docProps/app.xml" Id="Rca0e1ec1702145a7" /><Relationship Type="http://schemas.openxmlformats.org/officeDocument/2006/relationships/officeDocument" Target="/ppt/presentation.xml" Id="R69d22ee0786841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ddc15bb51e4519"/>
  </p:sldMasterIdLst>
  <p:notesMasterIdLst>
    <p:notesMasterId xmlns:r="http://schemas.openxmlformats.org/officeDocument/2006/relationships" r:id="Rd433715a69cb4d68"/>
  </p:notesMasterIdLst>
  <p:sldIdLst>
    <p:sldId xmlns:r="http://schemas.openxmlformats.org/officeDocument/2006/relationships" id="256" r:id="R2d030946f8f84fdd"/>
    <p:sldId xmlns:r="http://schemas.openxmlformats.org/officeDocument/2006/relationships" id="257" r:id="R45cb99e6660d405b"/>
    <p:sldId xmlns:r="http://schemas.openxmlformats.org/officeDocument/2006/relationships" id="258" r:id="R26a3a394b7014b6a"/>
    <p:sldId xmlns:r="http://schemas.openxmlformats.org/officeDocument/2006/relationships" id="259" r:id="R2919438ddbaa455a"/>
    <p:sldId xmlns:r="http://schemas.openxmlformats.org/officeDocument/2006/relationships" id="260" r:id="Rc092a18c6b804cbb"/>
    <p:sldId xmlns:r="http://schemas.openxmlformats.org/officeDocument/2006/relationships" id="261" r:id="Re548cb2940634d68"/>
    <p:sldId xmlns:r="http://schemas.openxmlformats.org/officeDocument/2006/relationships" id="262" r:id="Rf32a40911b6e4549"/>
    <p:sldId xmlns:r="http://schemas.openxmlformats.org/officeDocument/2006/relationships" id="263" r:id="R30e942ccd03d426a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ff26a5a46d4fc2" /><Relationship Type="http://schemas.openxmlformats.org/officeDocument/2006/relationships/slideMaster" Target="/ppt/slideMasters/slideMaster1.xml" Id="Rd0ddc15bb51e4519" /><Relationship Type="http://schemas.openxmlformats.org/officeDocument/2006/relationships/notesMaster" Target="/ppt/notesMasters/notesMaster1.xml" Id="Rd433715a69cb4d68" /><Relationship Type="http://schemas.openxmlformats.org/officeDocument/2006/relationships/presProps" Target="/ppt/presProps.xml" Id="R9f2e877c990f4dab" /><Relationship Type="http://schemas.openxmlformats.org/officeDocument/2006/relationships/viewProps" Target="/ppt/viewProps.xml" Id="R98c8b3bd1aa24ae7" /><Relationship Type="http://schemas.openxmlformats.org/officeDocument/2006/relationships/tableStyles" Target="/ppt/tableStyles.xml" Id="R4e0ceae5e2024d93" /><Relationship Type="http://schemas.openxmlformats.org/officeDocument/2006/relationships/slide" Target="/ppt/slides/slide1.xml" Id="R2d030946f8f84fdd" /><Relationship Type="http://schemas.openxmlformats.org/officeDocument/2006/relationships/slide" Target="/ppt/slides/slide2.xml" Id="R45cb99e6660d405b" /><Relationship Type="http://schemas.openxmlformats.org/officeDocument/2006/relationships/slide" Target="/ppt/slides/slide3.xml" Id="R26a3a394b7014b6a" /><Relationship Type="http://schemas.openxmlformats.org/officeDocument/2006/relationships/slide" Target="/ppt/slides/slide4.xml" Id="R2919438ddbaa455a" /><Relationship Type="http://schemas.openxmlformats.org/officeDocument/2006/relationships/slide" Target="/ppt/slides/slide5.xml" Id="Rc092a18c6b804cbb" /><Relationship Type="http://schemas.openxmlformats.org/officeDocument/2006/relationships/slide" Target="/ppt/slides/slide6.xml" Id="Re548cb2940634d68" /><Relationship Type="http://schemas.openxmlformats.org/officeDocument/2006/relationships/slide" Target="/ppt/slides/slide7.xml" Id="Rf32a40911b6e4549" /><Relationship Type="http://schemas.openxmlformats.org/officeDocument/2006/relationships/slide" Target="/ppt/slides/slide8.xml" Id="R30e942ccd03d42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f26ea0b0b04b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3bea2f74c046c6" /><Relationship Type="http://schemas.openxmlformats.org/officeDocument/2006/relationships/notesMaster" Target="/ppt/notesMasters/notesMaster1.xml" Id="R1b1365b7e03e4e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d27b75efff436b" /><Relationship Type="http://schemas.openxmlformats.org/officeDocument/2006/relationships/notesMaster" Target="/ppt/notesMasters/notesMaster1.xml" Id="R8f05035aebc947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c25462e55f4499" /><Relationship Type="http://schemas.openxmlformats.org/officeDocument/2006/relationships/notesMaster" Target="/ppt/notesMasters/notesMaster1.xml" Id="R73a8deccca3b44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2d86fbb5c8473a" /><Relationship Type="http://schemas.openxmlformats.org/officeDocument/2006/relationships/notesMaster" Target="/ppt/notesMasters/notesMaster1.xml" Id="Rb958a84ef1a847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846041fd644d71" /><Relationship Type="http://schemas.openxmlformats.org/officeDocument/2006/relationships/notesMaster" Target="/ppt/notesMasters/notesMaster1.xml" Id="Rb84b31f79b9a49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01b6f660844fa0" /><Relationship Type="http://schemas.openxmlformats.org/officeDocument/2006/relationships/notesMaster" Target="/ppt/notesMasters/notesMaster1.xml" Id="R23f3f13f569c49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9effd171814b14" /><Relationship Type="http://schemas.openxmlformats.org/officeDocument/2006/relationships/notesMaster" Target="/ppt/notesMasters/notesMaster1.xml" Id="R314c47a7888b4e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3d4ff4fe91477c" /><Relationship Type="http://schemas.openxmlformats.org/officeDocument/2006/relationships/notesMaster" Target="/ppt/notesMasters/notesMaster1.xml" Id="R483329029fd841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85522874d430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e8c62204174a2b" /><Relationship Type="http://schemas.openxmlformats.org/officeDocument/2006/relationships/slideLayout" Target="/ppt/slideLayouts/slideLayout1.xml" Id="Ra061c161f74140b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61c161f74140b9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02e3a471b476d" /><Relationship Type="http://schemas.openxmlformats.org/officeDocument/2006/relationships/notesSlide" Target="/ppt/notesSlides/notesSlide1.xml" Id="R544167ecd22e45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76b4dd4e74a44" /><Relationship Type="http://schemas.openxmlformats.org/officeDocument/2006/relationships/notesSlide" Target="/ppt/notesSlides/notesSlide2.xml" Id="R09d48b34ebd748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98c228d0f4bca" /><Relationship Type="http://schemas.openxmlformats.org/officeDocument/2006/relationships/notesSlide" Target="/ppt/notesSlides/notesSlide3.xml" Id="R706e1790207547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db693244c411c" /><Relationship Type="http://schemas.openxmlformats.org/officeDocument/2006/relationships/notesSlide" Target="/ppt/notesSlides/notesSlide4.xml" Id="R5da6b42340604d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2e8b28e714980" /><Relationship Type="http://schemas.openxmlformats.org/officeDocument/2006/relationships/notesSlide" Target="/ppt/notesSlides/notesSlide5.xml" Id="R36bc8802ca864c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8201b41464f2e" /><Relationship Type="http://schemas.openxmlformats.org/officeDocument/2006/relationships/notesSlide" Target="/ppt/notesSlides/notesSlide6.xml" Id="Ref0e4a6e415745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01ffe7e9c478d" /><Relationship Type="http://schemas.openxmlformats.org/officeDocument/2006/relationships/notesSlide" Target="/ppt/notesSlides/notesSlide7.xml" Id="Rb0736c8615f441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03b3fbb1f4fc0" /><Relationship Type="http://schemas.openxmlformats.org/officeDocument/2006/relationships/notesSlide" Target="/ppt/notesSlides/notesSlide8.xml" Id="R213bcdad40d34f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F5C691-0889-417F-92AB-334FD6A9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C7D3BF-71C0-41BD-8BB0-5360B163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CHANNEL UNIT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3DDF8F8-46DF-443F-8B42-7B72F34A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42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채널 파운데이션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013517B-8BCE-4AE4-A067-9D8A63B4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E7C5446-ED3B-4F60-9CA6-EB33843B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Channel Foundation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69E3CAB-3882-487F-BCB7-A19515D3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채널 프로젝트 공통 기반(Backend · Frontend) 구축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D19830F-466F-4643-B6BF-BAB8088C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62BD1F1-D845-4E48-A30C-04F1C96C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4BA5812-56E7-4E23-A4F9-C32BEEAD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7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3개월 · 1단계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47F82C2-5631-4E05-9C34-7117C788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24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인원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52038E9-A86F-4D44-B5DA-0F4CF6B3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67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7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2명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3327B72-8396-44A2-B69E-E0DF86BE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2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7956377-B410-413F-BDD7-70EE67EA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7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스타터 키트 + 개발 가이드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307686C-E8E9-4541-B00D-DA531DA6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865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8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2026.06</a:t>
            </a:r>
          </a:p>
        </p:txBody>
      </p:sp>
    </p:spTree>
    <p:extLst>
      <p:ext uri="{BB962C8B-B14F-4D97-AF65-F5344CB8AC3E}">
        <p14:creationId xmlns:p14="http://schemas.microsoft.com/office/powerpoint/2010/main" val="350011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8840439-A8F6-46AD-95D9-2F1A27A7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9100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9EB8C4-EE55-43CA-8E3F-FC0C9358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DEFINITION  —  무엇인가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CB09843-0DDA-4D0B-98F2-C8FAD80B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110578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채널 파운데이션이란?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504CD15-E3C5-4AF7-9158-313970F0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11057858" cy="142875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DCE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A0E748B-0DFD-4132-9FCE-757615FD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10436047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  <a:def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채널 프로젝트에서 반복되는 프론트엔드 · 관리자 UI · 인증 · 권한 · 게이트웨이 · MCI 연동 기반을 표준화한 채널 구축 표준 베이스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4EE4CA5-90D0-47F5-8D66-C964650D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560320"/>
            <a:ext cx="10436047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완제품 솔루션이 아닌 프로젝트를 빠르게 시작하기 위한 기반 자산  →  향후 core · mci · full 모듈 단위 제공까지 확장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6DF5FC7-3F4F-4D02-949E-6C2FB07C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11880"/>
            <a:ext cx="310896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ABDF55-475E-4D31-BF7D-B9D17652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03904"/>
            <a:ext cx="3381146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공통 구조 표준화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0ECF2F7-B6A1-4408-B2BD-CD3C3B85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3381146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000"/>
              </a:lnSpc>
              <a:buNone/>
              <a:def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반복되는 FE/BE 기본 구조 · 개발 규칙 정리</a:t>
            </a:r>
          </a:p>
          <a:p xmlns:a="http://schemas.openxmlformats.org/drawingml/2006/main">
            <a:pPr marL="0" indent="0" algn="l">
              <a:lnSpc>
                <a:spcPct val="135000"/>
              </a:lnSpc>
              <a:buNone/>
              <a:def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초기 구축 부담 감소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94ED920-6F37-4DC0-BACB-5E1249DB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274" y="3611880"/>
            <a:ext cx="310896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4E54D91-1F7E-4808-932A-BC8B8FF1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274" y="3803904"/>
            <a:ext cx="3381146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고객사별 확장 대응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2A87ADE-30D2-486C-BC56-A74FADBE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274" y="4279392"/>
            <a:ext cx="3381146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000"/>
              </a:lnSpc>
              <a:buNone/>
              <a:def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업무 · 연동 방식 차이</a:t>
            </a:r>
          </a:p>
          <a:p xmlns:a="http://schemas.openxmlformats.org/drawingml/2006/main">
            <a:pPr marL="0" indent="0" algn="l">
              <a:lnSpc>
                <a:spcPct val="135000"/>
              </a:lnSpc>
              <a:buNone/>
              <a:def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adapter · mapper · config 로 분리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C186551-CAF4-4AF2-8C62-97466303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621" y="3611880"/>
            <a:ext cx="310896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CEC3B55-64C6-4E37-8581-9F4D80BF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621" y="3803904"/>
            <a:ext cx="3381146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모듈형 확장 기반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51EB482-8018-427A-A6F0-F59522FB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621" y="4279392"/>
            <a:ext cx="3381146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000"/>
              </a:lnSpc>
              <a:buNone/>
              <a:def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현재 구축 베이스로 활용</a:t>
            </a:r>
          </a:p>
          <a:p xmlns:a="http://schemas.openxmlformats.org/drawingml/2006/main">
            <a:pPr marL="0" indent="0" algn="l">
              <a:lnSpc>
                <a:spcPct val="135000"/>
              </a:lnSpc>
              <a:buNone/>
              <a:def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향후 core · mci · full 제품화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6A2FF0B-148B-4EFC-A2D0-CEDA774C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36208"/>
            <a:ext cx="11057839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6BF83F0-BA28-47B7-B7F6-97FDFF6B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45936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C3B7D8-7E3B-42AB-91F6-CA02BCF4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5936"/>
            <a:ext cx="64922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9805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855247-7025-4241-AC7E-922F36C9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9100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06F2C1-8711-427D-8DDF-4A262AAA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WHY NOW  —  추진 배경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0BE714-6957-4F85-A440-A27C3B35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110578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왜 지금 필요한가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A11CAA-6218-41D7-8330-0A162CCA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8988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회사 기제품 도입이 어려운 상황  →  채널 프로젝트를 수행할 공통 기반 필요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3E9A205-E4C2-44EC-89C6-A540208A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43100"/>
            <a:ext cx="11057858" cy="99060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8771BA6-54A4-4904-9892-E48B4B7B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95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6826A15-046A-437F-993D-51C140A4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19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E79844E-D848-4659-81EF-918A25EF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336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공통 기반이 없음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7FDC393-5BDD-48DE-A526-1BF49630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01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신규 채널 프로젝트마다 BE · FE 기초 재작성</a:t>
            </a:r>
          </a:p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초기 작업 시간 반복 낭비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89FB83B-7B29-4FC0-B07C-F22CD542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5150"/>
            <a:ext cx="11057858" cy="99060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DCE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BCEED7-7F15-4B56-9BCB-0C4ABF6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95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4055281-0F49-44AB-9C3D-79564110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814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758C57B-9766-4F41-9F60-EF32F0EE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956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고객사별 차이 흡수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FDE6A57-2D4B-4BEF-B6D4-3FB43F0E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48025"/>
            <a:ext cx="601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업무 · 인증 · MCI · 계정계 / 정보계 / 대외계</a:t>
            </a:r>
          </a:p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연동 방식이 고객사마다 상이</a:t>
            </a:r>
          </a:p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공통은 표준화, 차이는 확장 구조로 분리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0E0A626-7C9A-4A83-AD47-5CF52D1F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67200"/>
            <a:ext cx="11057858" cy="99060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B29D01D-D044-4FAA-91F7-EAA01D4E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95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DDFED3-6557-4234-8A66-7EC57DC7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CAC517E-65D9-4347-9D93-194BFD4E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57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지금이 적기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8BC8331-13CE-4B96-8048-37441C07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0075"/>
            <a:ext cx="601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차기(Next) 투입 일정 공백</a:t>
            </a:r>
          </a:p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가용 인력으로 재사용 자산 확보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E90E044-AAD1-481E-BA3F-C56C2C71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36208"/>
            <a:ext cx="11057839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496A25E-9F31-489C-9FBA-E900953B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45936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5558C1F-4F2F-4986-994D-DC41BA02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5936"/>
            <a:ext cx="64922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9699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27AAE9-D74C-4DD1-84C6-FB5CBE5B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9100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02E1270-2243-49E8-ABBB-6DF41CEF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ARCHITECTURE  —  구성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DD601B-6B50-4F4D-B37A-4D84FC0D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110578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Channel Foundation 구성도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71A639C-3904-4A54-B9CB-FE186A0C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3472586" cy="3657600"/>
          </a:xfrm>
          <a:prstGeom xmlns:a="http://schemas.openxmlformats.org/drawingml/2006/main" prst="roundRect">
            <a:avLst>
              <a:gd name="adj" fmla="val 1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962F21-309D-4018-B701-9724890A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09344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D2CA5A7-6626-4363-A7C3-D8AAD543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78" y="1609344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React 19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99CD8C5-4DF9-42FB-A826-153EEFAA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029968"/>
            <a:ext cx="3454298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D655658-5D26-4DE4-B445-DC4C644D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94560"/>
            <a:ext cx="962457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C812B4-6021-4959-B78F-61ABB123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194560"/>
            <a:ext cx="81615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PC Web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B9CDD27-DFB4-48BC-9EAF-D4A74A23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993" y="2194560"/>
            <a:ext cx="962457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AE9E04E-FF90-4891-91AF-409A0F44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145" y="2194560"/>
            <a:ext cx="81615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Mobile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E902B75-63DD-4B27-B837-80F973A0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602" y="2194560"/>
            <a:ext cx="962457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D93B4D0-2E3D-4880-A81B-C9B32CFB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754" y="2194560"/>
            <a:ext cx="81615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Admin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DBE0EE9-5BA3-4D78-A3EA-65907E1C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51760"/>
            <a:ext cx="3033674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402DD95-2DE6-47BD-A4A8-71E8CF6B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51760"/>
            <a:ext cx="288737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@bx/shared · 도메인 8종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99B120F-3E18-4915-AA91-FDA1612E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27248"/>
            <a:ext cx="3033674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7443C6-7420-4D1E-9669-2B59B8A4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127248"/>
            <a:ext cx="270449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TanStack Router · Query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AB0CFE9-6C28-4436-A8DB-18755E0F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84448"/>
            <a:ext cx="3033674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318B661-AA4E-4C72-9760-EDB672EE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584448"/>
            <a:ext cx="270449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Zustand · Axios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C3FD5C3-4FE3-4A7D-A995-FFD1B823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041648"/>
            <a:ext cx="3033674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643AB9A-68BB-4C5A-BC56-B4D42B1D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041648"/>
            <a:ext cx="270449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Radix · Tailwind v4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AA40249-0D43-4234-B27F-6DE57CDE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498848"/>
            <a:ext cx="3033674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38F1DCD-0265-4A4F-A415-D83D01CB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498848"/>
            <a:ext cx="270449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Vite 8 · Biome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CDD332D-289B-409F-9A06-0CF3429C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517904"/>
            <a:ext cx="3472586" cy="3657600"/>
          </a:xfrm>
          <a:prstGeom xmlns:a="http://schemas.openxmlformats.org/drawingml/2006/main" prst="roundRect">
            <a:avLst>
              <a:gd name="adj" fmla="val 1317"/>
            </a:avLst>
          </a:prstGeom>
          <a:solidFill xmlns:a="http://schemas.openxmlformats.org/drawingml/2006/main">
            <a:srgbClr val="DCE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E7A0493-4A21-458B-B403-C42A4D68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1609344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API 연계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AE9A197-B472-4495-8974-2642D6BA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005" y="1609344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계약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B4D5FFE-6A79-4D17-A6A9-BD3D3D88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8" y="2029968"/>
            <a:ext cx="3454298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96BE3C7-42CD-42B9-93E3-CF111B63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2194560"/>
            <a:ext cx="3033674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8CCC814-609E-4C65-A81E-166147B2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62" y="2194560"/>
            <a:ext cx="288737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HTTPS · Envelope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89E46A6-E684-4EE3-9970-4B052CF8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2651760"/>
            <a:ext cx="3033674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D344220-5D63-4E50-AB4F-F17B037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62" y="2651760"/>
            <a:ext cx="288737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JWT 인증 헤더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410A6AE-9D07-4D73-A5C8-10CB6AE6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3127248"/>
            <a:ext cx="3033674" cy="676656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F57F8"/>
          </a:solidFill>
          <a:ln xmlns:a="http://schemas.openxmlformats.org/drawingml/2006/main" w="9525">
            <a:solidFill>
              <a:srgbClr val="1F57F8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59C88B4-DA17-4EF3-B38F-79416737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3200400"/>
            <a:ext cx="303367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OpenAPI TypeBridge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FFC66E1-7537-4BD2-8DDA-0447F48F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3474720"/>
            <a:ext cx="303367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FE · BE 타입 자동 일치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3D771C13-4A94-4823-A57F-6ECD7AA1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3913632"/>
            <a:ext cx="3033674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D068E70-34C4-4981-AC3F-801D2D8C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62" y="3913632"/>
            <a:ext cx="288737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gen:api · CI drift gate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8F9C3019-36B0-4270-B357-76DA6615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4370832"/>
            <a:ext cx="3033674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1F00BF3-84FD-42AC-BBF9-FA0106C9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62" y="4370832"/>
            <a:ext cx="288737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Gateway 라우팅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D044662-1A43-460B-8668-82F2FDA5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181" y="1517904"/>
            <a:ext cx="3472586" cy="3657600"/>
          </a:xfrm>
          <a:prstGeom xmlns:a="http://schemas.openxmlformats.org/drawingml/2006/main" prst="roundRect">
            <a:avLst>
              <a:gd name="adj" fmla="val 1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791A9878-1B2F-4DAD-86E6-CEC97461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7" y="1609344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B16BC73-6486-4EE7-A46D-E0F50D78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3631" y="1609344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Java 21 · Boot 3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197E2B5-38EB-4F69-84D0-F174B33A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325" y="2029968"/>
            <a:ext cx="3454298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11EE2C9E-3760-438A-A6E4-218B7AF7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7" y="2194560"/>
            <a:ext cx="1480261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49B4BF3A-2E12-4070-8800-78982EC1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789" y="2194560"/>
            <a:ext cx="1333957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API Gateway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42010EFF-B697-4B5F-9368-8C2FFF65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4560"/>
            <a:ext cx="1480261" cy="3657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5689EC48-B733-4FAA-BE24-11F84B5E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202" y="2194560"/>
            <a:ext cx="1333957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Discovery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FC8F0F42-0AE5-413C-9CEC-B6CDDE00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7" y="2633472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50" b="1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SERVICES 5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9A6C0BDB-B365-420D-8E76-CE4D93C2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7" y="2889504"/>
            <a:ext cx="962457" cy="329184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BFFD5A49-ABDA-4E8F-9546-FAF86A41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789" y="2889504"/>
            <a:ext cx="816153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auth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B51BD32B-F2D8-4729-9307-281C8EF0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246" y="2889504"/>
            <a:ext cx="962457" cy="329184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AE248E50-02FF-47F4-9917-C02AB160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398" y="2889504"/>
            <a:ext cx="816153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86175665-B8EF-45AA-B48B-66C693C3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854" y="2889504"/>
            <a:ext cx="962457" cy="329184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034EF844-B93E-4418-9B71-E0EE3A15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6006" y="2889504"/>
            <a:ext cx="816153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system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6497BAE6-85F9-48E0-AE09-D291E25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7" y="3273552"/>
            <a:ext cx="962457" cy="329184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1A64600E-6F2E-4B36-9840-074DB358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789" y="3273552"/>
            <a:ext cx="816153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product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6E874413-5CAB-4CCB-A3DE-AC97C8B8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246" y="3273552"/>
            <a:ext cx="1998066" cy="329184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5730ED8F-FD36-47B8-9002-3995D606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398" y="3273552"/>
            <a:ext cx="185176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integration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86A5E877-3DF8-42B6-9B5B-067BF486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7" y="3712464"/>
            <a:ext cx="3033674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FE6E1DEE-B52A-4032-A54F-513D7B6B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229" y="3712464"/>
            <a:ext cx="27044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libs 5 · common · business · mci</a:t>
            </a:r>
          </a:p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security · session-context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45B3194A-3568-497B-969E-A3A53A0C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7" y="4261104"/>
            <a:ext cx="3033674" cy="475488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2397130C-A086-4207-A210-3F24CF41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229" y="4261104"/>
            <a:ext cx="270449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MCI · YAML 거래 registry</a:t>
            </a:r>
          </a:p>
          <a:p xmlns:a="http://schemas.openxmlformats.org/drawingml/2006/main">
            <a:pPr marL="0" indent="0" algn="ctr">
              <a:lnSpc>
                <a:spcPct val="105000"/>
              </a:lnSpc>
              <a:buNone/>
              <a:def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Adapter/Mapper · Router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560EC164-B9DA-48ED-BE99-E57E3BD5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58384"/>
            <a:ext cx="11057839" cy="658368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DCE7FA"/>
          </a:solidFill>
          <a:ln xmlns:a="http://schemas.openxmlformats.org/drawingml/2006/main" w="14288">
            <a:solidFill>
              <a:srgbClr val="1F57F8"/>
            </a:solidFill>
            <a:prstDash val="solid"/>
          </a:ln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F47A0FA8-E860-411D-8C1E-EA350F55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58384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E2E 테스트 자동화</a:t>
            </a:r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745E45F6-0411-4414-B5AF-6793D135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5541264"/>
            <a:ext cx="10973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4863F3D3-FE68-4A22-8422-9494002E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5358384"/>
            <a:ext cx="8095183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8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Playwright — PC · Mobile · Admin 전 채널 시나리오 검증  →  CI 파이프라인 연동 · Vitest 단위 테스트 병행</a:t>
            </a:r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DAD44A5F-46D8-48EF-9F89-F945B637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36208"/>
            <a:ext cx="11057839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13414607-7EBF-460E-9FA1-032C2959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45936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FCBAF1B1-53E3-4EDF-8E42-0F69809C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5936"/>
            <a:ext cx="64922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5785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98DDC6-6B8B-4104-A927-A8C8A1F2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9100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94F870-A302-4C16-A074-8D1A71FD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PLAN  —  개발 계획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24CFB33-2F02-4A46-8708-2F340BDA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110578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2명 · 3개월 — 1단계 마일스톤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74B5F0E-2074-4E27-9FCD-E508096C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8988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인프라 · 통신 · 인증 · 모듈 구조에 집중  →  개별 프로젝트 종속 비즈니스 로직 배제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E3D3322-1B51-45A2-A7C8-F25FD8A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3472586" cy="3657600"/>
          </a:xfrm>
          <a:prstGeom xmlns:a="http://schemas.openxmlformats.org/drawingml/2006/main" prst="roundRect">
            <a:avLst>
              <a:gd name="adj" fmla="val 13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52CE19-5D97-43ED-AE05-E9A636F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249424"/>
            <a:ext cx="4572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364EC6A-A66E-401B-9B38-5417FE8D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2249424"/>
            <a:ext cx="228386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8" b="1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1개월차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41B79BD-CCBF-4532-9919-3CE0E991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798064"/>
            <a:ext cx="274320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6B7217D-2F39-4C3C-893F-C8B6A07A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962656"/>
            <a:ext cx="283250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기반 구축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A3994CF-257D-4AE5-9421-509ECE86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56432"/>
            <a:ext cx="2850794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모노레포 구조화 · 공통 패키지(@bx/shared) 세팅</a:t>
            </a:r>
          </a:p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번들러 · 빌드 / 배포 검증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DE4B69E-FC33-4454-9B93-3608FD0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882896"/>
            <a:ext cx="2814218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DF51BA5-662E-46A7-9F29-E01EAC1D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992624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0238FC1-F2BB-4161-93DB-23766E98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230368"/>
            <a:ext cx="285079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  <a:defRPr sz="10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아키텍처 설계서 · 공통 뼈대 소스코드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832ED57-EF72-496F-A0B9-24C95751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65960"/>
            <a:ext cx="3472586" cy="3657600"/>
          </a:xfrm>
          <a:prstGeom xmlns:a="http://schemas.openxmlformats.org/drawingml/2006/main" prst="roundRect">
            <a:avLst>
              <a:gd name="adj" fmla="val 13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C20B62E-A7D5-4364-BDB6-38027A0C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738" y="2249424"/>
            <a:ext cx="4572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B5E3E84-81E0-4DB6-A4AD-DE9A2A45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802" y="2249424"/>
            <a:ext cx="228386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8" b="1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2개월차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D24825A-084D-4988-B640-AAB65906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738" y="2798064"/>
            <a:ext cx="274320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3C20868-AA2B-4DD5-8BC2-982790FF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738" y="2962656"/>
            <a:ext cx="283250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핵심 모듈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9A2B28F-E56F-4069-88A1-F532E4E9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738" y="3456432"/>
            <a:ext cx="2850794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auth · system · gateway 기반 안정화</a:t>
            </a:r>
          </a:p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mci-svc 거래 정의 · mapper · adapter routing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AD291A8-7FFB-4519-AF85-EC0F6937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738" y="4882896"/>
            <a:ext cx="2814218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BBB9B48-A158-42FB-91B3-197DEE8A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738" y="4992624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5C9624F-CB0D-456E-B795-09644E0A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738" y="5230368"/>
            <a:ext cx="285079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  <a:defRPr sz="10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공통 인증/권한 · MCI 기본 흐름 · 샘플 거래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9E6750C-7F89-467B-B2C7-B39C58B5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181" y="1965960"/>
            <a:ext cx="3472586" cy="3657600"/>
          </a:xfrm>
          <a:prstGeom xmlns:a="http://schemas.openxmlformats.org/drawingml/2006/main" prst="roundRect">
            <a:avLst>
              <a:gd name="adj" fmla="val 13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022601F-4A97-457A-8778-22BE5B1C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2249424"/>
            <a:ext cx="4572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74F1FC5-313C-4EDE-A824-DA80D51A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429" y="2249424"/>
            <a:ext cx="228386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38" b="1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3개월차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ACFE9B9-17E9-4A41-977F-1AA971F2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2798064"/>
            <a:ext cx="274320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4C74EBA-EBFC-47FE-812C-7D08F55D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2962656"/>
            <a:ext cx="283250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검증 &amp; 가이드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AC176E7-4273-4FF7-9CD9-4AFA94E3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3456432"/>
            <a:ext cx="2850794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Admin UI ↔ Backend API 연계 검증</a:t>
            </a:r>
          </a:p>
          <a:p xmlns:a="http://schemas.openxmlformats.org/drawingml/2006/main">
            <a:pPr marL="0" indent="0" algn="l">
              <a:lnSpc>
                <a:spcPct val="14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E2E 테스트 자동화 구성 · 개발 가이드 정리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1C67BA7-766C-4437-A71F-A2959299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4882896"/>
            <a:ext cx="2814218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2CC96B2-69C6-4599-9E01-60676B4C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4992624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37FB194-8C06-4C57-9FB4-D21FE591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5230368"/>
            <a:ext cx="285079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  <a:defRPr sz="10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개발 가이드 · 샘플 업무 · E2E 테스트 기반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9F35CF8-5458-4974-9D96-43597C31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36208"/>
            <a:ext cx="11057839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E551D85-9C53-4AF3-A7E3-866D5AE0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45936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BAD1C7B-85DB-4E6D-B25B-7747F5F6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5936"/>
            <a:ext cx="64922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3815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B0E48A5-6331-4CD1-9CC8-FB960409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9100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8FD474-D611-4D1E-99A0-5FDAB029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DELIVERABLES  —  산출물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C9DD8F-B016-4EC8-AF6C-024F5097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110578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1단계 주요 산출물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41C0869-768C-4372-9015-1BE31989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8988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개별 고객 비즈니스 로직 제외  →  파생 프로젝트가 올라설 공통 기반 우선 확보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F8F67C3-B0FF-4A0E-B116-F2872D87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3472586" cy="1700784"/>
          </a:xfrm>
          <a:prstGeom xmlns:a="http://schemas.openxmlformats.org/drawingml/2006/main" prst="roundRect">
            <a:avLst>
              <a:gd name="adj" fmla="val 268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F37530A-6C2C-4920-9E40-E443D597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95144"/>
            <a:ext cx="256032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6E200F-E829-4915-9F16-DC89671D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59736"/>
            <a:ext cx="288737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Frontend 개발 가이드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C2CB04-03DA-481B-B56D-90CB3CE5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880360"/>
            <a:ext cx="29056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  <a:def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PC · Mobile · Admin 스켈레톤 + 개발 가이드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E42BB86-9AB0-4855-AB11-42DF79D5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65960"/>
            <a:ext cx="3472586" cy="1700784"/>
          </a:xfrm>
          <a:prstGeom xmlns:a="http://schemas.openxmlformats.org/drawingml/2006/main" prst="roundRect">
            <a:avLst>
              <a:gd name="adj" fmla="val 268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E41C40-BCCC-4954-BF4B-08815074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62" y="2295144"/>
            <a:ext cx="256032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FD47411-5C1B-42ED-B077-0709798D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62" y="2459736"/>
            <a:ext cx="288737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Backend 개발 가이드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90B6469-D9C0-43E9-96EF-882E360D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62" y="2880360"/>
            <a:ext cx="29056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  <a:def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공통 모듈 · 표준 레이아웃 + 개발 가이드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762A129-76CD-42EF-9450-11A5D3BD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181" y="1965960"/>
            <a:ext cx="3472586" cy="1700784"/>
          </a:xfrm>
          <a:prstGeom xmlns:a="http://schemas.openxmlformats.org/drawingml/2006/main" prst="roundRect">
            <a:avLst>
              <a:gd name="adj" fmla="val 268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70BF9B5-585E-423E-9A6C-C893AFDC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789" y="2295144"/>
            <a:ext cx="256032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D746AFE-EE10-4C53-AF96-C7621635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789" y="2459736"/>
            <a:ext cx="288737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인증 / 권한 기본 체계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920EF3E-BFAA-48F6-8B61-10C49972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789" y="2880360"/>
            <a:ext cx="29056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  <a:def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JWT 자동 재발급 · Gateway 내부 인증 · Redis 세션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F13E9E4-48ED-413C-9A7F-4D07C24E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59352"/>
            <a:ext cx="3472586" cy="1700784"/>
          </a:xfrm>
          <a:prstGeom xmlns:a="http://schemas.openxmlformats.org/drawingml/2006/main" prst="roundRect">
            <a:avLst>
              <a:gd name="adj" fmla="val 268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4B9A014-69BF-4C99-811A-38B46933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88536"/>
            <a:ext cx="256032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EC48CA-F144-4057-942C-E6701691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453128"/>
            <a:ext cx="288737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MCI 연동 표준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52001D8-65EB-4382-9C87-5FDC6630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873752"/>
            <a:ext cx="29056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  <a:def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YAML 거래 registry · Adapter/Mapper · 샘플 거래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9511138-1EC5-45F8-89AF-F15F139D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3959352"/>
            <a:ext cx="3472586" cy="1700784"/>
          </a:xfrm>
          <a:prstGeom xmlns:a="http://schemas.openxmlformats.org/drawingml/2006/main" prst="roundRect">
            <a:avLst>
              <a:gd name="adj" fmla="val 268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3252DF5-C70F-4333-B034-1DC66DE4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62" y="4288536"/>
            <a:ext cx="256032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C883634-C586-4813-994F-EFCBE32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62" y="4453128"/>
            <a:ext cx="288737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API 연계 · 타입 자동화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0AD71FC-A3E5-44C4-9734-81A0D79D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62" y="4873752"/>
            <a:ext cx="29056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  <a:def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OpenAPI TypeBridge · Envelope 처리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229E9DC-F7CE-415E-8821-C34CD902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181" y="3959352"/>
            <a:ext cx="3472586" cy="1700784"/>
          </a:xfrm>
          <a:prstGeom xmlns:a="http://schemas.openxmlformats.org/drawingml/2006/main" prst="roundRect">
            <a:avLst>
              <a:gd name="adj" fmla="val 268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FE17A61-DE8E-458E-948E-F28E2CE5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789" y="4288536"/>
            <a:ext cx="256032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FC62D35-352A-41CB-ABE1-330E0FD7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789" y="4453128"/>
            <a:ext cx="288737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테스트 자동화 기반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8105183-81B5-4D3E-B86C-F0181714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789" y="4873752"/>
            <a:ext cx="29056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  <a:def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Playwright E2E · Vitest 단위 · CI 파이프라인 연동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D6FEC0D-6F3B-47B3-A30B-DD96DB4F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36208"/>
            <a:ext cx="11057839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E4FFF29-5B12-4A7A-B59C-8EC5619C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45936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7BEC3A9-8BB4-4224-976C-6F4BCD17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5936"/>
            <a:ext cx="64922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6952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08CECF0-2981-41E2-8009-F95A68DA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9100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A3C99C-1D04-4C0F-90BF-45FA9B9F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IMPACT  —  기대효과 &amp; 확장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F2FA943-9EA6-4D74-8FCC-726AED1D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110578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기대효과와 향후 확장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D9E2C82-B22C-4701-B2F1-F4C02CFD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51206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9DEF777-0333-4916-871C-37569FB6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40280"/>
            <a:ext cx="128016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0FD6CB1-868A-4FDA-BD33-3BB1F849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84832"/>
            <a:ext cx="48280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채널 프로젝트 초기 구축 기간 단축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D31E204-2E5F-4871-B429-E4C89E91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07208"/>
            <a:ext cx="128016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3F7B374-E315-4398-ABFE-5BA5B5B0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51760"/>
            <a:ext cx="48280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개발 표준화 · 품질 향상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84B26B-4EBE-472C-8D51-09BCFF11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374136"/>
            <a:ext cx="128016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7AA794-F876-476B-B368-991E8B9F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218688"/>
            <a:ext cx="48280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반복 개발 비용 절감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A577B7F-F5E9-41DA-B645-3EC996C3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941064"/>
            <a:ext cx="128016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3717E64-5FD7-450D-A04C-687A2301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785616"/>
            <a:ext cx="48280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MCI · 외부 연동 구조 재사용성 확보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4AB4693-EC0F-4972-9E2E-99A41F28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507992"/>
            <a:ext cx="128016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5F723B6-736F-4A25-B9C9-FA28CF9C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352544"/>
            <a:ext cx="48280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고객사별 커스터마이징 범위 명확화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966E918-36A8-49DF-93BD-365572A9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074920"/>
            <a:ext cx="128016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7BB9A78-43E0-4C08-92F7-2FB026E7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919472"/>
            <a:ext cx="48280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MVP 기반 Pre-sales 데모 → 즉시 커스터마이징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EB6B6A8-FD87-4171-BA95-CE92A918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1554480"/>
            <a:ext cx="5617159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향후 확장 — 모듈 단위 제품화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3222DFB-B0A7-4A1C-BCCD-A3655085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084832"/>
            <a:ext cx="3482639" cy="713232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A9405AE-DE0B-48FE-9C22-38607EEF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157984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6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제품 · core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8A2D8DC-D992-4E87-AA5C-35F3085A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432304"/>
            <a:ext cx="3025439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1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auth + system + gateway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F06605B-A003-4B3F-B4EA-41A96F24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44368"/>
            <a:ext cx="4493727" cy="713232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CE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C455C98-1A3B-436D-B20F-95BAFE2A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01752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6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제품 · mci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F0FE109-452B-4827-9290-D79CEACC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291840"/>
            <a:ext cx="4036527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1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core + mci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28564E-7801-488C-AC0C-C4F78DD8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3803904"/>
            <a:ext cx="5617159" cy="713232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F57F8"/>
          </a:solidFill>
          <a:ln xmlns:a="http://schemas.openxmlformats.org/drawingml/2006/main" w="9525">
            <a:solidFill>
              <a:srgbClr val="1F57F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B160AD0-CCCE-4291-B3AE-C87FB643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877056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제품 · full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31E26AF-F0B2-4C52-8DF8-51E9C0D8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4151376"/>
            <a:ext cx="5159959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1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 + mci + integration + 샘플 업무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41DB70D-C705-498D-BE39-0A79DFE3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4791456"/>
            <a:ext cx="5617159" cy="100584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B4E2060-A997-48D4-B5C9-5984BFBD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4937760"/>
            <a:ext cx="5159959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6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채널 서비스 모니터링 도구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BCECD23-2951-4E57-B4F4-309855D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5212080"/>
            <a:ext cx="5159959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01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PC · Mobile · Admin 채널 서비스 상태 실시간 감시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  <a:defRPr sz="101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관제 · 운영 지원 (가동률 · 응답속도 · 점검)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F3FC5AD-F98F-4607-A61E-F020602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36208"/>
            <a:ext cx="11057839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E47D527-9B81-4B0A-9BCC-CE4127FA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45936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BCF85A8-C223-473D-A5CA-84ACA0EA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5936"/>
            <a:ext cx="64922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784082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95D3442-FB18-4CA7-BB4B-5F0A7A6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9100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52D1BA-851D-4D92-A8EE-73C20294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AI  —  개발 방식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BA65CF-6061-47B7-A734-41C5AD19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11057858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AI 활용 개발 — 실증과 SI 시장 대비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269B4A4-D677-470B-9B36-92BBE8A5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8988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AI 유료 요금제 도입 결정 완료  →  관건은 실제 활용의 실증과 조직 역량 내재화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C0989F-C8CA-4027-9A03-FCFFF747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3472586" cy="301752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0288F7A-8A9A-4895-94D7-2D31387B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04288"/>
            <a:ext cx="274320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E05F778-19AB-4B5A-B8CB-0AA2BF80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68880"/>
            <a:ext cx="283250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AI Agent 활용 가치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D931FBA-6D20-420F-A6DB-A38ED1B3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17520"/>
            <a:ext cx="2850794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프로젝트 전체 소스 의존성 유지한 분석</a:t>
            </a:r>
          </a:p>
          <a:p xmlns:a="http://schemas.openxmlformats.org/drawingml/2006/main">
            <a:pPr marL="0" indent="0" algn="l">
              <a:lnSpc>
                <a:spcPct val="15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아키텍처 정합 코드 생성 · 정확한 오류 진단</a:t>
            </a:r>
          </a:p>
          <a:p xmlns:a="http://schemas.openxmlformats.org/drawingml/2006/main">
            <a:pPr marL="0" indent="0" algn="l">
              <a:lnSpc>
                <a:spcPct val="15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연속 작업 보장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4F49F3A-39EA-4BF6-B643-F78AD9EA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54" y="1965960"/>
            <a:ext cx="3472586" cy="301752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DCE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A5FCA6-6951-4A8C-A706-0FD93E94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738" y="2304288"/>
            <a:ext cx="274320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2966EC6-BA05-4825-A08B-1752F89C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738" y="2468880"/>
            <a:ext cx="283250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우리의 실증 — 이미 적용 중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097C80A-94E3-4AA5-B3B8-C36CB2BD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738" y="3017520"/>
            <a:ext cx="2850794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integration-svc · GitHub Webhook → Notion 자동화</a:t>
            </a:r>
          </a:p>
          <a:p xmlns:a="http://schemas.openxmlformats.org/drawingml/2006/main">
            <a:pPr marL="0" indent="0" algn="l">
              <a:lnSpc>
                <a:spcPct val="15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WBS ↔ GitHub Projects 동기화</a:t>
            </a:r>
          </a:p>
          <a:p xmlns:a="http://schemas.openxmlformats.org/drawingml/2006/main">
            <a:pPr marL="0" indent="0" algn="l">
              <a:lnSpc>
                <a:spcPct val="15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OpenAPI → FE 타입 자동생성 CI 게이트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35D0014-E161-4A2D-814F-9A287170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181" y="1965960"/>
            <a:ext cx="3472586" cy="301752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DEC43CF-2203-4ABA-B4D7-F44E687D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2304288"/>
            <a:ext cx="274320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1E0AAB8-5BAC-45B6-9DB0-C8A0123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2468880"/>
            <a:ext cx="283250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SI 시장 변화 대비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0B2E6C2-8E09-4EB0-84B0-BFEC5548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3017520"/>
            <a:ext cx="2850794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AI 도입에 따른 SI 개발 방식 전환</a:t>
            </a:r>
          </a:p>
          <a:p xmlns:a="http://schemas.openxmlformats.org/drawingml/2006/main">
            <a:pPr marL="0" indent="0" algn="l">
              <a:lnSpc>
                <a:spcPct val="150000"/>
              </a:lnSpc>
              <a:buNone/>
              <a:def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→ 조직 차원의 경험 선제 축적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E4026D7-7DFB-49AF-82D0-13272B2F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36208"/>
            <a:ext cx="11057839" cy="1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D7DBAAC-C035-4741-B4C8-961670D6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45936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57B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CE49A08-87CB-4791-8412-53FFE1ED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5936"/>
            <a:ext cx="64922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913341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2026-07-15T07:24:50.7410000Z</dcterms:created>
  <dcterms:modified xsi:type="dcterms:W3CDTF">2026-07-15T07:24:50.7410000Z</dcterms:modified>
</coreProperties>
</file>