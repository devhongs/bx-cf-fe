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841248"/>
            <a:ext cx="128016" cy="128016"/>
          </a:xfrm>
          <a:prstGeom prst="rect">
            <a:avLst/>
          </a:prstGeom>
          <a:solidFill>
            <a:srgbClr val="1F57F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6809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8B97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 UNIT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2286000"/>
            <a:ext cx="10058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DF1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파운데이션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66928" y="3529584"/>
            <a:ext cx="384048" cy="12802"/>
          </a:xfrm>
          <a:prstGeom prst="rect">
            <a:avLst/>
          </a:prstGeom>
          <a:solidFill>
            <a:srgbClr val="1F57F8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5B8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Channel Foundation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6928" y="3913632"/>
            <a:ext cx="9144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7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프로젝트 공통 기반(Backend · Frontend) 구축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5230368"/>
            <a:ext cx="11057839" cy="10973"/>
          </a:xfrm>
          <a:prstGeom prst="rect">
            <a:avLst/>
          </a:prstGeom>
          <a:solidFill>
            <a:srgbClr val="1C2436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544068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C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6928" y="568756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1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3개월 · 1단계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52928" y="5440680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C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인원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852928" y="568756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1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2명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07408" y="5440680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C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407408" y="5687568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1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스타터 키트 + 개발 가이드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241280" y="5687568"/>
            <a:ext cx="1380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2026.06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3776"/>
            <a:ext cx="118872" cy="118872"/>
          </a:xfrm>
          <a:prstGeom prst="rect">
            <a:avLst/>
          </a:prstGeom>
          <a:solidFill>
            <a:srgbClr val="1F57F8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2062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60" kern="0" dirty="0">
                <a:solidFill>
                  <a:srgbClr val="5B8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DEFINITION  —  무엇인가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DF1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파운데이션이란?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11057839" cy="1481328"/>
          </a:xfrm>
          <a:prstGeom prst="roundRect">
            <a:avLst>
              <a:gd name="adj" fmla="val 3086"/>
            </a:avLst>
          </a:prstGeom>
          <a:solidFill>
            <a:srgbClr val="080B12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773936"/>
            <a:ext cx="10436047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DF1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프로젝트에서 반복되는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5B8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 · 관리자 UI · 인증 · 권한 · 게이트웨이 · MCI 연동 기반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DF1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표준화한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5B8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구축 표준 베이스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77824" y="2560320"/>
            <a:ext cx="10436047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7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완제품 솔루션이 아닌 프로젝트를 빠르게 시작하기 위한 기반 자산  →  향후 core · mci · full 모듈 단위 제공까지 확장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3611880"/>
            <a:ext cx="310896" cy="12802"/>
          </a:xfrm>
          <a:prstGeom prst="rect">
            <a:avLst/>
          </a:prstGeom>
          <a:solidFill>
            <a:srgbClr val="1F57F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3803904"/>
            <a:ext cx="338114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1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구조 표준화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4279392"/>
            <a:ext cx="338114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B97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반복되는 FE/BE 기본 구조 · 개발 규칙 정리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B97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초기 구축 부담 감소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05274" y="3611880"/>
            <a:ext cx="310896" cy="12802"/>
          </a:xfrm>
          <a:prstGeom prst="rect">
            <a:avLst/>
          </a:prstGeom>
          <a:solidFill>
            <a:srgbClr val="1F57F8"/>
          </a:solidFill>
          <a:ln/>
        </p:spPr>
      </p:sp>
      <p:sp>
        <p:nvSpPr>
          <p:cNvPr id="12" name="Text 10"/>
          <p:cNvSpPr/>
          <p:nvPr/>
        </p:nvSpPr>
        <p:spPr>
          <a:xfrm>
            <a:off x="4405274" y="3803904"/>
            <a:ext cx="338114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1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고객사별 확장 대응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05274" y="4279392"/>
            <a:ext cx="338114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B97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· 연동 방식 차이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B97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adapter · mapper · config 로 분리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43621" y="3611880"/>
            <a:ext cx="310896" cy="12802"/>
          </a:xfrm>
          <a:prstGeom prst="rect">
            <a:avLst/>
          </a:prstGeom>
          <a:solidFill>
            <a:srgbClr val="1F57F8"/>
          </a:solidFill>
          <a:ln/>
        </p:spPr>
      </p:sp>
      <p:sp>
        <p:nvSpPr>
          <p:cNvPr id="15" name="Text 13"/>
          <p:cNvSpPr/>
          <p:nvPr/>
        </p:nvSpPr>
        <p:spPr>
          <a:xfrm>
            <a:off x="8243621" y="3803904"/>
            <a:ext cx="338114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1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모듈형 확장 기반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43621" y="4279392"/>
            <a:ext cx="338114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B97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구축 베이스로 활용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B97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향후 core · mci · full 제품화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6236208"/>
            <a:ext cx="11057839" cy="10973"/>
          </a:xfrm>
          <a:prstGeom prst="rect">
            <a:avLst/>
          </a:prstGeom>
          <a:solidFill>
            <a:srgbClr val="1C2436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634593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파운데이션  ·  Channel Foundation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345936"/>
            <a:ext cx="649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3776"/>
            <a:ext cx="118872" cy="118872"/>
          </a:xfrm>
          <a:prstGeom prst="rect">
            <a:avLst/>
          </a:prstGeom>
          <a:solidFill>
            <a:srgbClr val="1F57F8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2062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60" kern="0" dirty="0">
                <a:solidFill>
                  <a:srgbClr val="5B8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NOW  —  추진 배경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DF1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지금 필요한가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389888"/>
            <a:ext cx="110578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7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기제품 도입이 어려운 상황  →  채널 프로젝트를 수행할 공통 기반 필요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965960"/>
            <a:ext cx="3472586" cy="3154680"/>
          </a:xfrm>
          <a:prstGeom prst="roundRect">
            <a:avLst>
              <a:gd name="adj" fmla="val 1449"/>
            </a:avLst>
          </a:prstGeom>
          <a:solidFill>
            <a:srgbClr val="080B12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286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5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96112" y="2880360"/>
            <a:ext cx="274320" cy="12802"/>
          </a:xfrm>
          <a:prstGeom prst="rect">
            <a:avLst/>
          </a:prstGeom>
          <a:solidFill>
            <a:srgbClr val="1F57F8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3054096"/>
            <a:ext cx="283250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1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기반이 없음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6112" y="3547872"/>
            <a:ext cx="285079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B97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채널 프로젝트마다 BE · FE 기초 재작성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B97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초기 작업 시간 반복 낭비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59554" y="1965960"/>
            <a:ext cx="3472586" cy="3154680"/>
          </a:xfrm>
          <a:prstGeom prst="roundRect">
            <a:avLst>
              <a:gd name="adj" fmla="val 1449"/>
            </a:avLst>
          </a:prstGeom>
          <a:solidFill>
            <a:srgbClr val="080B12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8738" y="2286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5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688738" y="2880360"/>
            <a:ext cx="274320" cy="12802"/>
          </a:xfrm>
          <a:prstGeom prst="rect">
            <a:avLst/>
          </a:prstGeom>
          <a:solidFill>
            <a:srgbClr val="1F57F8"/>
          </a:solidFill>
          <a:ln/>
        </p:spPr>
      </p:sp>
      <p:sp>
        <p:nvSpPr>
          <p:cNvPr id="14" name="Text 12"/>
          <p:cNvSpPr/>
          <p:nvPr/>
        </p:nvSpPr>
        <p:spPr>
          <a:xfrm>
            <a:off x="4688738" y="3054096"/>
            <a:ext cx="283250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1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고객사별 차이 흡수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88738" y="3547872"/>
            <a:ext cx="285079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B97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· 인증 · MCI · 계정계 / 정보계 / 대외계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B97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방식이 고객사마다 상이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B97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공통은 표준화, 차이는 확장 구조로 분리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52181" y="1965960"/>
            <a:ext cx="3472586" cy="3154680"/>
          </a:xfrm>
          <a:prstGeom prst="roundRect">
            <a:avLst>
              <a:gd name="adj" fmla="val 1449"/>
            </a:avLst>
          </a:prstGeom>
          <a:solidFill>
            <a:srgbClr val="080B12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81365" y="2286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5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481365" y="2880360"/>
            <a:ext cx="274320" cy="12802"/>
          </a:xfrm>
          <a:prstGeom prst="rect">
            <a:avLst/>
          </a:prstGeom>
          <a:solidFill>
            <a:srgbClr val="1F57F8"/>
          </a:solidFill>
          <a:ln/>
        </p:spPr>
      </p:sp>
      <p:sp>
        <p:nvSpPr>
          <p:cNvPr id="19" name="Text 17"/>
          <p:cNvSpPr/>
          <p:nvPr/>
        </p:nvSpPr>
        <p:spPr>
          <a:xfrm>
            <a:off x="8481365" y="3054096"/>
            <a:ext cx="283250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1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지금이 적기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81365" y="3547872"/>
            <a:ext cx="285079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B97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차기(Next) 투입 일정 공백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B97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가용 인력으로 재사용 자산 확보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6236208"/>
            <a:ext cx="11057839" cy="10973"/>
          </a:xfrm>
          <a:prstGeom prst="rect">
            <a:avLst/>
          </a:prstGeom>
          <a:solidFill>
            <a:srgbClr val="1C2436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634593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파운데이션  ·  Channel Foundation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0" y="6345936"/>
            <a:ext cx="649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3776"/>
            <a:ext cx="118872" cy="118872"/>
          </a:xfrm>
          <a:prstGeom prst="rect">
            <a:avLst/>
          </a:prstGeom>
          <a:solidFill>
            <a:srgbClr val="1F57F8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2062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60" kern="0" dirty="0">
                <a:solidFill>
                  <a:srgbClr val="5B8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  —  구성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DF1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Channel Foundation 구성도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3472586" cy="3657600"/>
          </a:xfrm>
          <a:prstGeom prst="roundRect">
            <a:avLst>
              <a:gd name="adj" fmla="val 1317"/>
            </a:avLst>
          </a:prstGeom>
          <a:solidFill>
            <a:srgbClr val="080B12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60934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B8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08378" y="160934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19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76072" y="2029968"/>
            <a:ext cx="3454298" cy="10973"/>
          </a:xfrm>
          <a:prstGeom prst="rect">
            <a:avLst/>
          </a:prstGeom>
          <a:solidFill>
            <a:srgbClr val="1C2436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" y="2194560"/>
            <a:ext cx="962457" cy="365760"/>
          </a:xfrm>
          <a:prstGeom prst="roundRect">
            <a:avLst>
              <a:gd name="adj" fmla="val 10000"/>
            </a:avLst>
          </a:prstGeom>
          <a:solidFill>
            <a:srgbClr val="080B12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2194560"/>
            <a:ext cx="81615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DF1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Web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21993" y="2194560"/>
            <a:ext cx="962457" cy="365760"/>
          </a:xfrm>
          <a:prstGeom prst="roundRect">
            <a:avLst>
              <a:gd name="adj" fmla="val 10000"/>
            </a:avLst>
          </a:prstGeom>
          <a:solidFill>
            <a:srgbClr val="080B12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95145" y="2194560"/>
            <a:ext cx="81615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DF1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Mobile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857602" y="2194560"/>
            <a:ext cx="962457" cy="365760"/>
          </a:xfrm>
          <a:prstGeom prst="roundRect">
            <a:avLst>
              <a:gd name="adj" fmla="val 10000"/>
            </a:avLst>
          </a:prstGeom>
          <a:solidFill>
            <a:srgbClr val="080B12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30754" y="2194560"/>
            <a:ext cx="81615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DF1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86384" y="2651760"/>
            <a:ext cx="3033674" cy="365760"/>
          </a:xfrm>
          <a:prstGeom prst="roundRect">
            <a:avLst>
              <a:gd name="adj" fmla="val 10000"/>
            </a:avLst>
          </a:prstGeom>
          <a:solidFill>
            <a:srgbClr val="080B12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" y="2651760"/>
            <a:ext cx="28873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6D0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@bx/shared · 도메인 8종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86384" y="3127248"/>
            <a:ext cx="3033674" cy="365760"/>
          </a:xfrm>
          <a:prstGeom prst="roundRect">
            <a:avLst>
              <a:gd name="adj" fmla="val 10000"/>
            </a:avLst>
          </a:prstGeom>
          <a:solidFill>
            <a:srgbClr val="080B12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3127248"/>
            <a:ext cx="27044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B97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TanStack Router · Query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86384" y="3584448"/>
            <a:ext cx="3033674" cy="365760"/>
          </a:xfrm>
          <a:prstGeom prst="roundRect">
            <a:avLst>
              <a:gd name="adj" fmla="val 10000"/>
            </a:avLst>
          </a:prstGeom>
          <a:solidFill>
            <a:srgbClr val="080B12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" y="3584448"/>
            <a:ext cx="27044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B97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Zustand · Axios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86384" y="4041648"/>
            <a:ext cx="3033674" cy="365760"/>
          </a:xfrm>
          <a:prstGeom prst="roundRect">
            <a:avLst>
              <a:gd name="adj" fmla="val 10000"/>
            </a:avLst>
          </a:prstGeom>
          <a:solidFill>
            <a:srgbClr val="080B12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" y="4041648"/>
            <a:ext cx="27044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B97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Radix · Tailwind v4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86384" y="4498848"/>
            <a:ext cx="3033674" cy="365760"/>
          </a:xfrm>
          <a:prstGeom prst="roundRect">
            <a:avLst>
              <a:gd name="adj" fmla="val 10000"/>
            </a:avLst>
          </a:prstGeom>
          <a:solidFill>
            <a:srgbClr val="080B12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0976" y="4498848"/>
            <a:ext cx="27044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B97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Vite 8 · Biome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359554" y="1517904"/>
            <a:ext cx="3472586" cy="3657600"/>
          </a:xfrm>
          <a:prstGeom prst="roundRect">
            <a:avLst>
              <a:gd name="adj" fmla="val 1317"/>
            </a:avLst>
          </a:prstGeom>
          <a:solidFill>
            <a:srgbClr val="080B12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9010" y="160934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B8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연계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01005" y="160934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계약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368698" y="2029968"/>
            <a:ext cx="3454298" cy="10973"/>
          </a:xfrm>
          <a:prstGeom prst="rect">
            <a:avLst/>
          </a:prstGeom>
          <a:solidFill>
            <a:srgbClr val="1C2436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9010" y="2194560"/>
            <a:ext cx="3033674" cy="365760"/>
          </a:xfrm>
          <a:prstGeom prst="roundRect">
            <a:avLst>
              <a:gd name="adj" fmla="val 10000"/>
            </a:avLst>
          </a:prstGeom>
          <a:solidFill>
            <a:srgbClr val="080B12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52162" y="2194560"/>
            <a:ext cx="28873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6D0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 · Envelope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9010" y="2651760"/>
            <a:ext cx="3033674" cy="365760"/>
          </a:xfrm>
          <a:prstGeom prst="roundRect">
            <a:avLst>
              <a:gd name="adj" fmla="val 10000"/>
            </a:avLst>
          </a:prstGeom>
          <a:solidFill>
            <a:srgbClr val="080B12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52162" y="2651760"/>
            <a:ext cx="28873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6D0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JWT 인증 헤더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9010" y="3127248"/>
            <a:ext cx="3033674" cy="676656"/>
          </a:xfrm>
          <a:prstGeom prst="roundRect">
            <a:avLst>
              <a:gd name="adj" fmla="val 5405"/>
            </a:avLst>
          </a:prstGeom>
          <a:solidFill>
            <a:srgbClr val="1F57F8"/>
          </a:solidFill>
          <a:ln/>
        </p:spPr>
      </p:sp>
      <p:sp>
        <p:nvSpPr>
          <p:cNvPr id="34" name="Text 32"/>
          <p:cNvSpPr/>
          <p:nvPr/>
        </p:nvSpPr>
        <p:spPr>
          <a:xfrm>
            <a:off x="4579010" y="3200400"/>
            <a:ext cx="30336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OpenAPI TypeBridge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9010" y="3474720"/>
            <a:ext cx="30336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5D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 · BE 타입 자동 일치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79010" y="3913632"/>
            <a:ext cx="3033674" cy="365760"/>
          </a:xfrm>
          <a:prstGeom prst="roundRect">
            <a:avLst>
              <a:gd name="adj" fmla="val 10000"/>
            </a:avLst>
          </a:prstGeom>
          <a:solidFill>
            <a:srgbClr val="080B12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52162" y="3913632"/>
            <a:ext cx="28873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8B97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gen:api · CI drift gate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79010" y="4370832"/>
            <a:ext cx="3033674" cy="365760"/>
          </a:xfrm>
          <a:prstGeom prst="roundRect">
            <a:avLst>
              <a:gd name="adj" fmla="val 10000"/>
            </a:avLst>
          </a:prstGeom>
          <a:solidFill>
            <a:srgbClr val="080B12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52162" y="4370832"/>
            <a:ext cx="28873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6D0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Gateway 라우팅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152181" y="1517904"/>
            <a:ext cx="3472586" cy="3657600"/>
          </a:xfrm>
          <a:prstGeom prst="roundRect">
            <a:avLst>
              <a:gd name="adj" fmla="val 1317"/>
            </a:avLst>
          </a:prstGeom>
          <a:solidFill>
            <a:srgbClr val="080B12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71637" y="160934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B8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393631" y="160934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21 · Boot 3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161325" y="2029968"/>
            <a:ext cx="3454298" cy="10973"/>
          </a:xfrm>
          <a:prstGeom prst="rect">
            <a:avLst/>
          </a:prstGeom>
          <a:solidFill>
            <a:srgbClr val="1C2436"/>
          </a:solidFill>
          <a:ln/>
        </p:spPr>
      </p:sp>
      <p:sp>
        <p:nvSpPr>
          <p:cNvPr id="44" name="Shape 42"/>
          <p:cNvSpPr/>
          <p:nvPr/>
        </p:nvSpPr>
        <p:spPr>
          <a:xfrm>
            <a:off x="8371637" y="2194560"/>
            <a:ext cx="1480261" cy="365760"/>
          </a:xfrm>
          <a:prstGeom prst="roundRect">
            <a:avLst>
              <a:gd name="adj" fmla="val 10000"/>
            </a:avLst>
          </a:prstGeom>
          <a:solidFill>
            <a:srgbClr val="080B12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44789" y="2194560"/>
            <a:ext cx="133395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6D0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Gateway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9925050" y="2194560"/>
            <a:ext cx="1480261" cy="365760"/>
          </a:xfrm>
          <a:prstGeom prst="roundRect">
            <a:avLst>
              <a:gd name="adj" fmla="val 10000"/>
            </a:avLst>
          </a:prstGeom>
          <a:solidFill>
            <a:srgbClr val="080B12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998202" y="2194560"/>
            <a:ext cx="133395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6D0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Discovery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371637" y="263347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5C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 5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8371637" y="2889504"/>
            <a:ext cx="962457" cy="329184"/>
          </a:xfrm>
          <a:prstGeom prst="roundRect">
            <a:avLst>
              <a:gd name="adj" fmla="val 11111"/>
            </a:avLst>
          </a:prstGeom>
          <a:solidFill>
            <a:srgbClr val="080B12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44789" y="2889504"/>
            <a:ext cx="81615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DF1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9407246" y="2889504"/>
            <a:ext cx="962457" cy="329184"/>
          </a:xfrm>
          <a:prstGeom prst="roundRect">
            <a:avLst>
              <a:gd name="adj" fmla="val 11111"/>
            </a:avLst>
          </a:prstGeom>
          <a:solidFill>
            <a:srgbClr val="080B12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480398" y="2889504"/>
            <a:ext cx="81615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DF1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mci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0442854" y="2889504"/>
            <a:ext cx="962457" cy="329184"/>
          </a:xfrm>
          <a:prstGeom prst="roundRect">
            <a:avLst>
              <a:gd name="adj" fmla="val 11111"/>
            </a:avLst>
          </a:prstGeom>
          <a:solidFill>
            <a:srgbClr val="080B12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16006" y="2889504"/>
            <a:ext cx="81615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DF1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371637" y="3273552"/>
            <a:ext cx="962457" cy="329184"/>
          </a:xfrm>
          <a:prstGeom prst="roundRect">
            <a:avLst>
              <a:gd name="adj" fmla="val 11111"/>
            </a:avLst>
          </a:prstGeom>
          <a:solidFill>
            <a:srgbClr val="080B12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444789" y="3273552"/>
            <a:ext cx="81615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DF1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9407246" y="3273552"/>
            <a:ext cx="1998066" cy="329184"/>
          </a:xfrm>
          <a:prstGeom prst="roundRect">
            <a:avLst>
              <a:gd name="adj" fmla="val 11111"/>
            </a:avLst>
          </a:prstGeom>
          <a:solidFill>
            <a:srgbClr val="080B12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480398" y="3273552"/>
            <a:ext cx="185176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DF1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371637" y="3712464"/>
            <a:ext cx="3033674" cy="457200"/>
          </a:xfrm>
          <a:prstGeom prst="roundRect">
            <a:avLst>
              <a:gd name="adj" fmla="val 8000"/>
            </a:avLst>
          </a:prstGeom>
          <a:solidFill>
            <a:srgbClr val="080B12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536229" y="3712464"/>
            <a:ext cx="270449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8B97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libs 5 · common · business · mci</a:t>
            </a:r>
            <a:endParaRPr lang="en-US" sz="8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8B97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security · session-context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8371637" y="4261104"/>
            <a:ext cx="3033674" cy="475488"/>
          </a:xfrm>
          <a:prstGeom prst="roundRect">
            <a:avLst>
              <a:gd name="adj" fmla="val 7692"/>
            </a:avLst>
          </a:prstGeom>
          <a:solidFill>
            <a:srgbClr val="080B12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536229" y="4261104"/>
            <a:ext cx="270449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6D0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MCI · YAML 거래 registry</a:t>
            </a:r>
            <a:endParaRPr lang="en-US" sz="8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6D0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Adapter/Mapper · Router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566928" y="5358384"/>
            <a:ext cx="11057839" cy="658368"/>
          </a:xfrm>
          <a:prstGeom prst="roundRect">
            <a:avLst>
              <a:gd name="adj" fmla="val 6944"/>
            </a:avLst>
          </a:prstGeom>
          <a:solidFill>
            <a:srgbClr val="080B12"/>
          </a:solidFill>
          <a:ln w="12700">
            <a:solidFill>
              <a:srgbClr val="1F57F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77824" y="5358384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8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E2E 테스트 자동화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2999232" y="5541264"/>
            <a:ext cx="10973" cy="292608"/>
          </a:xfrm>
          <a:prstGeom prst="rect">
            <a:avLst/>
          </a:prstGeom>
          <a:solidFill>
            <a:srgbClr val="2A3550"/>
          </a:solidFill>
          <a:ln/>
        </p:spPr>
      </p:sp>
      <p:sp>
        <p:nvSpPr>
          <p:cNvPr id="66" name="Text 64"/>
          <p:cNvSpPr/>
          <p:nvPr/>
        </p:nvSpPr>
        <p:spPr>
          <a:xfrm>
            <a:off x="3218688" y="5358384"/>
            <a:ext cx="8095183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7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Playwright — PC · Mobile · Admin 전 채널 시나리오 검증  →  CI 파이프라인 연동 · Vitest 단위 테스트 병행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566928" y="6236208"/>
            <a:ext cx="11057839" cy="10973"/>
          </a:xfrm>
          <a:prstGeom prst="rect">
            <a:avLst/>
          </a:prstGeom>
          <a:solidFill>
            <a:srgbClr val="1C2436"/>
          </a:solidFill>
          <a:ln/>
        </p:spPr>
      </p:sp>
      <p:sp>
        <p:nvSpPr>
          <p:cNvPr id="68" name="Text 66"/>
          <p:cNvSpPr/>
          <p:nvPr/>
        </p:nvSpPr>
        <p:spPr>
          <a:xfrm>
            <a:off x="566928" y="634593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파운데이션  ·  Channel Foundation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0972800" y="6345936"/>
            <a:ext cx="649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3776"/>
            <a:ext cx="118872" cy="118872"/>
          </a:xfrm>
          <a:prstGeom prst="rect">
            <a:avLst/>
          </a:prstGeom>
          <a:solidFill>
            <a:srgbClr val="1F57F8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2062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60" kern="0" dirty="0">
                <a:solidFill>
                  <a:srgbClr val="5B8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 —  개발 계획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DF1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2명 · 3개월 — 1단계 마일스톤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389888"/>
            <a:ext cx="110578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7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 · 통신 · 인증 · 모듈 구조에 집중  →  개별 프로젝트 종속 비즈니스 로직 배제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965960"/>
            <a:ext cx="3472586" cy="3657600"/>
          </a:xfrm>
          <a:prstGeom prst="roundRect">
            <a:avLst>
              <a:gd name="adj" fmla="val 1317"/>
            </a:avLst>
          </a:prstGeom>
          <a:solidFill>
            <a:srgbClr val="080B12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249424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5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08176" y="2249424"/>
            <a:ext cx="228386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40" kern="0" dirty="0">
                <a:solidFill>
                  <a:srgbClr val="5C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1개월차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96112" y="2798064"/>
            <a:ext cx="274320" cy="12802"/>
          </a:xfrm>
          <a:prstGeom prst="rect">
            <a:avLst/>
          </a:prstGeom>
          <a:solidFill>
            <a:srgbClr val="1F57F8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2962656"/>
            <a:ext cx="283250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1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구축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96112" y="3456432"/>
            <a:ext cx="285079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8B97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모노레포 구조화 · 공통 패키지(@bx/shared) 세팅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8B97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번들러 · 빌드 / 배포 검증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96112" y="4882896"/>
            <a:ext cx="2814218" cy="10973"/>
          </a:xfrm>
          <a:prstGeom prst="rect">
            <a:avLst/>
          </a:prstGeom>
          <a:solidFill>
            <a:srgbClr val="1C2436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499262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60" kern="0" dirty="0">
                <a:solidFill>
                  <a:srgbClr val="5B8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96112" y="5230368"/>
            <a:ext cx="285079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6D0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설계서 · 공통 뼈대 소스코드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59554" y="1965960"/>
            <a:ext cx="3472586" cy="3657600"/>
          </a:xfrm>
          <a:prstGeom prst="roundRect">
            <a:avLst>
              <a:gd name="adj" fmla="val 1317"/>
            </a:avLst>
          </a:prstGeom>
          <a:solidFill>
            <a:srgbClr val="080B12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8738" y="2249424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5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200802" y="2249424"/>
            <a:ext cx="228386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40" kern="0" dirty="0">
                <a:solidFill>
                  <a:srgbClr val="5C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2개월차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88738" y="2798064"/>
            <a:ext cx="274320" cy="12802"/>
          </a:xfrm>
          <a:prstGeom prst="rect">
            <a:avLst/>
          </a:prstGeom>
          <a:solidFill>
            <a:srgbClr val="1F57F8"/>
          </a:solidFill>
          <a:ln/>
        </p:spPr>
      </p:sp>
      <p:sp>
        <p:nvSpPr>
          <p:cNvPr id="19" name="Text 17"/>
          <p:cNvSpPr/>
          <p:nvPr/>
        </p:nvSpPr>
        <p:spPr>
          <a:xfrm>
            <a:off x="4688738" y="2962656"/>
            <a:ext cx="283250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1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모듈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88738" y="3456432"/>
            <a:ext cx="285079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8B97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 · system · gateway 기반 안정화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8B97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mci-svc 거래 정의 · mapper · adapter routing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88738" y="4882896"/>
            <a:ext cx="2814218" cy="10973"/>
          </a:xfrm>
          <a:prstGeom prst="rect">
            <a:avLst/>
          </a:prstGeom>
          <a:solidFill>
            <a:srgbClr val="1C2436"/>
          </a:solidFill>
          <a:ln/>
        </p:spPr>
      </p:sp>
      <p:sp>
        <p:nvSpPr>
          <p:cNvPr id="22" name="Text 20"/>
          <p:cNvSpPr/>
          <p:nvPr/>
        </p:nvSpPr>
        <p:spPr>
          <a:xfrm>
            <a:off x="4688738" y="499262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60" kern="0" dirty="0">
                <a:solidFill>
                  <a:srgbClr val="5B8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688738" y="5230368"/>
            <a:ext cx="285079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6D0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인증/권한 · MCI 기본 흐름 · 샘플 거래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52181" y="1965960"/>
            <a:ext cx="3472586" cy="3657600"/>
          </a:xfrm>
          <a:prstGeom prst="roundRect">
            <a:avLst>
              <a:gd name="adj" fmla="val 1317"/>
            </a:avLst>
          </a:prstGeom>
          <a:solidFill>
            <a:srgbClr val="080B12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81365" y="2249424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5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993429" y="2249424"/>
            <a:ext cx="228386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40" kern="0" dirty="0">
                <a:solidFill>
                  <a:srgbClr val="5C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3개월차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481365" y="2798064"/>
            <a:ext cx="274320" cy="12802"/>
          </a:xfrm>
          <a:prstGeom prst="rect">
            <a:avLst/>
          </a:prstGeom>
          <a:solidFill>
            <a:srgbClr val="1F57F8"/>
          </a:solidFill>
          <a:ln/>
        </p:spPr>
      </p:sp>
      <p:sp>
        <p:nvSpPr>
          <p:cNvPr id="28" name="Text 26"/>
          <p:cNvSpPr/>
          <p:nvPr/>
        </p:nvSpPr>
        <p:spPr>
          <a:xfrm>
            <a:off x="8481365" y="2962656"/>
            <a:ext cx="283250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1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&amp; 가이드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81365" y="3456432"/>
            <a:ext cx="285079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8B97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 UI ↔ Backend API 연계 검증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8B97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E2E 테스트 자동화 구성 · 개발 가이드 정리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481365" y="4882896"/>
            <a:ext cx="2814218" cy="10973"/>
          </a:xfrm>
          <a:prstGeom prst="rect">
            <a:avLst/>
          </a:prstGeom>
          <a:solidFill>
            <a:srgbClr val="1C2436"/>
          </a:solidFill>
          <a:ln/>
        </p:spPr>
      </p:sp>
      <p:sp>
        <p:nvSpPr>
          <p:cNvPr id="31" name="Text 29"/>
          <p:cNvSpPr/>
          <p:nvPr/>
        </p:nvSpPr>
        <p:spPr>
          <a:xfrm>
            <a:off x="8481365" y="499262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60" kern="0" dirty="0">
                <a:solidFill>
                  <a:srgbClr val="5B8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481365" y="5230368"/>
            <a:ext cx="285079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6D0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가이드 · 샘플 업무 · E2E 테스트 기반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66928" y="6236208"/>
            <a:ext cx="11057839" cy="10973"/>
          </a:xfrm>
          <a:prstGeom prst="rect">
            <a:avLst/>
          </a:prstGeom>
          <a:solidFill>
            <a:srgbClr val="1C2436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634593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파운데이션  ·  Channel Foundation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72800" y="6345936"/>
            <a:ext cx="649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3776"/>
            <a:ext cx="118872" cy="118872"/>
          </a:xfrm>
          <a:prstGeom prst="rect">
            <a:avLst/>
          </a:prstGeom>
          <a:solidFill>
            <a:srgbClr val="1F57F8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2062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60" kern="0" dirty="0">
                <a:solidFill>
                  <a:srgbClr val="5B8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DELIVERABLES  —  산출물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DF1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주요 산출물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389888"/>
            <a:ext cx="110578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7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 고객 비즈니스 로직 제외  →  파생 프로젝트가 올라설 공통 기반 우선 확보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965960"/>
            <a:ext cx="3472586" cy="1700784"/>
          </a:xfrm>
          <a:prstGeom prst="roundRect">
            <a:avLst>
              <a:gd name="adj" fmla="val 2688"/>
            </a:avLst>
          </a:prstGeom>
          <a:solidFill>
            <a:srgbClr val="080B12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2295144"/>
            <a:ext cx="256032" cy="12802"/>
          </a:xfrm>
          <a:prstGeom prst="rect">
            <a:avLst/>
          </a:prstGeom>
          <a:solidFill>
            <a:srgbClr val="1F57F8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2459736"/>
            <a:ext cx="28873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1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 개발 가이드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9536" y="2880360"/>
            <a:ext cx="290565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7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· Mobile · Admin 스켈레톤 + 개발 가이드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59554" y="1965960"/>
            <a:ext cx="3472586" cy="1700784"/>
          </a:xfrm>
          <a:prstGeom prst="roundRect">
            <a:avLst>
              <a:gd name="adj" fmla="val 2688"/>
            </a:avLst>
          </a:prstGeom>
          <a:solidFill>
            <a:srgbClr val="080B12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52162" y="2295144"/>
            <a:ext cx="256032" cy="12802"/>
          </a:xfrm>
          <a:prstGeom prst="rect">
            <a:avLst/>
          </a:prstGeom>
          <a:solidFill>
            <a:srgbClr val="1F57F8"/>
          </a:solidFill>
          <a:ln/>
        </p:spPr>
      </p:sp>
      <p:sp>
        <p:nvSpPr>
          <p:cNvPr id="12" name="Text 10"/>
          <p:cNvSpPr/>
          <p:nvPr/>
        </p:nvSpPr>
        <p:spPr>
          <a:xfrm>
            <a:off x="4652162" y="2459736"/>
            <a:ext cx="28873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1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 개발 가이드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52162" y="2880360"/>
            <a:ext cx="290565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7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모듈 · 표준 레이아웃 + 개발 가이드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52181" y="1965960"/>
            <a:ext cx="3472586" cy="1700784"/>
          </a:xfrm>
          <a:prstGeom prst="roundRect">
            <a:avLst>
              <a:gd name="adj" fmla="val 2688"/>
            </a:avLst>
          </a:prstGeom>
          <a:solidFill>
            <a:srgbClr val="080B12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44789" y="2295144"/>
            <a:ext cx="256032" cy="12802"/>
          </a:xfrm>
          <a:prstGeom prst="rect">
            <a:avLst/>
          </a:prstGeom>
          <a:solidFill>
            <a:srgbClr val="1F57F8"/>
          </a:solidFill>
          <a:ln/>
        </p:spPr>
      </p:sp>
      <p:sp>
        <p:nvSpPr>
          <p:cNvPr id="16" name="Text 14"/>
          <p:cNvSpPr/>
          <p:nvPr/>
        </p:nvSpPr>
        <p:spPr>
          <a:xfrm>
            <a:off x="8444789" y="2459736"/>
            <a:ext cx="28873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1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/ 권한 기본 체계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44789" y="2880360"/>
            <a:ext cx="290565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7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JWT 자동 재발급 · Gateway 내부 인증 · Redis 세션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3959352"/>
            <a:ext cx="3472586" cy="1700784"/>
          </a:xfrm>
          <a:prstGeom prst="roundRect">
            <a:avLst>
              <a:gd name="adj" fmla="val 2688"/>
            </a:avLst>
          </a:prstGeom>
          <a:solidFill>
            <a:srgbClr val="080B12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9536" y="4288536"/>
            <a:ext cx="256032" cy="12802"/>
          </a:xfrm>
          <a:prstGeom prst="rect">
            <a:avLst/>
          </a:prstGeom>
          <a:solidFill>
            <a:srgbClr val="1F57F8"/>
          </a:solidFill>
          <a:ln/>
        </p:spPr>
      </p:sp>
      <p:sp>
        <p:nvSpPr>
          <p:cNvPr id="20" name="Text 18"/>
          <p:cNvSpPr/>
          <p:nvPr/>
        </p:nvSpPr>
        <p:spPr>
          <a:xfrm>
            <a:off x="859536" y="4453128"/>
            <a:ext cx="28873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1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MCI 연동 표준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9536" y="4873752"/>
            <a:ext cx="290565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7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YAML 거래 registry · Adapter/Mapper · 샘플 거래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59554" y="3959352"/>
            <a:ext cx="3472586" cy="1700784"/>
          </a:xfrm>
          <a:prstGeom prst="roundRect">
            <a:avLst>
              <a:gd name="adj" fmla="val 2688"/>
            </a:avLst>
          </a:prstGeom>
          <a:solidFill>
            <a:srgbClr val="080B12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52162" y="4288536"/>
            <a:ext cx="256032" cy="12802"/>
          </a:xfrm>
          <a:prstGeom prst="rect">
            <a:avLst/>
          </a:prstGeom>
          <a:solidFill>
            <a:srgbClr val="1F57F8"/>
          </a:solidFill>
          <a:ln/>
        </p:spPr>
      </p:sp>
      <p:sp>
        <p:nvSpPr>
          <p:cNvPr id="24" name="Text 22"/>
          <p:cNvSpPr/>
          <p:nvPr/>
        </p:nvSpPr>
        <p:spPr>
          <a:xfrm>
            <a:off x="4652162" y="4453128"/>
            <a:ext cx="28873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1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연계 · 타입 자동화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52162" y="4873752"/>
            <a:ext cx="290565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7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OpenAPI TypeBridge · Envelope 처리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152181" y="3959352"/>
            <a:ext cx="3472586" cy="1700784"/>
          </a:xfrm>
          <a:prstGeom prst="roundRect">
            <a:avLst>
              <a:gd name="adj" fmla="val 2688"/>
            </a:avLst>
          </a:prstGeom>
          <a:solidFill>
            <a:srgbClr val="080B12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44789" y="4288536"/>
            <a:ext cx="256032" cy="12802"/>
          </a:xfrm>
          <a:prstGeom prst="rect">
            <a:avLst/>
          </a:prstGeom>
          <a:solidFill>
            <a:srgbClr val="1F57F8"/>
          </a:solidFill>
          <a:ln/>
        </p:spPr>
      </p:sp>
      <p:sp>
        <p:nvSpPr>
          <p:cNvPr id="28" name="Text 26"/>
          <p:cNvSpPr/>
          <p:nvPr/>
        </p:nvSpPr>
        <p:spPr>
          <a:xfrm>
            <a:off x="8444789" y="4453128"/>
            <a:ext cx="28873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1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자동화 기반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44789" y="4873752"/>
            <a:ext cx="290565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7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Playwright E2E · Vitest 단위 · CI 파이프라인 연동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" y="6236208"/>
            <a:ext cx="11057839" cy="10973"/>
          </a:xfrm>
          <a:prstGeom prst="rect">
            <a:avLst/>
          </a:prstGeom>
          <a:solidFill>
            <a:srgbClr val="1C2436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634593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파운데이션  ·  Channel Foundation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0" y="6345936"/>
            <a:ext cx="649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3776"/>
            <a:ext cx="118872" cy="118872"/>
          </a:xfrm>
          <a:prstGeom prst="rect">
            <a:avLst/>
          </a:prstGeom>
          <a:solidFill>
            <a:srgbClr val="1F57F8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2062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60" kern="0" dirty="0">
                <a:solidFill>
                  <a:srgbClr val="5B8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IMPACT  —  기대효과 &amp; 확장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DF1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기대효과와 향후 확장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55448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8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기대효과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" y="2240280"/>
            <a:ext cx="128016" cy="12802"/>
          </a:xfrm>
          <a:prstGeom prst="rect">
            <a:avLst/>
          </a:prstGeom>
          <a:solidFill>
            <a:srgbClr val="1F57F8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" y="2084832"/>
            <a:ext cx="4828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D0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프로젝트 초기 구축 기간 단축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85216" y="2807208"/>
            <a:ext cx="128016" cy="12802"/>
          </a:xfrm>
          <a:prstGeom prst="rect">
            <a:avLst/>
          </a:prstGeom>
          <a:solidFill>
            <a:srgbClr val="1F57F8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2651760"/>
            <a:ext cx="4828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D0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표준화 · 품질 향상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85216" y="3374136"/>
            <a:ext cx="128016" cy="12802"/>
          </a:xfrm>
          <a:prstGeom prst="rect">
            <a:avLst/>
          </a:prstGeom>
          <a:solidFill>
            <a:srgbClr val="1F57F8"/>
          </a:solidFill>
          <a:ln/>
        </p:spPr>
      </p:sp>
      <p:sp>
        <p:nvSpPr>
          <p:cNvPr id="11" name="Text 9"/>
          <p:cNvSpPr/>
          <p:nvPr/>
        </p:nvSpPr>
        <p:spPr>
          <a:xfrm>
            <a:off x="859536" y="3218688"/>
            <a:ext cx="4828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D0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개발 비용 절감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85216" y="3941064"/>
            <a:ext cx="128016" cy="12802"/>
          </a:xfrm>
          <a:prstGeom prst="rect">
            <a:avLst/>
          </a:prstGeom>
          <a:solidFill>
            <a:srgbClr val="1F57F8"/>
          </a:solidFill>
          <a:ln/>
        </p:spPr>
      </p:sp>
      <p:sp>
        <p:nvSpPr>
          <p:cNvPr id="13" name="Text 11"/>
          <p:cNvSpPr/>
          <p:nvPr/>
        </p:nvSpPr>
        <p:spPr>
          <a:xfrm>
            <a:off x="859536" y="3785616"/>
            <a:ext cx="4828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D0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MCI · 외부 연동 구조 재사용성 확보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85216" y="4507992"/>
            <a:ext cx="128016" cy="12802"/>
          </a:xfrm>
          <a:prstGeom prst="rect">
            <a:avLst/>
          </a:prstGeom>
          <a:solidFill>
            <a:srgbClr val="1F57F8"/>
          </a:solidFill>
          <a:ln/>
        </p:spPr>
      </p:sp>
      <p:sp>
        <p:nvSpPr>
          <p:cNvPr id="15" name="Text 13"/>
          <p:cNvSpPr/>
          <p:nvPr/>
        </p:nvSpPr>
        <p:spPr>
          <a:xfrm>
            <a:off x="859536" y="4352544"/>
            <a:ext cx="4828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D0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고객사별 커스터마이징 범위 명확화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85216" y="5074920"/>
            <a:ext cx="128016" cy="12802"/>
          </a:xfrm>
          <a:prstGeom prst="rect">
            <a:avLst/>
          </a:prstGeom>
          <a:solidFill>
            <a:srgbClr val="1F57F8"/>
          </a:solidFill>
          <a:ln/>
        </p:spPr>
      </p:sp>
      <p:sp>
        <p:nvSpPr>
          <p:cNvPr id="17" name="Text 15"/>
          <p:cNvSpPr/>
          <p:nvPr/>
        </p:nvSpPr>
        <p:spPr>
          <a:xfrm>
            <a:off x="859536" y="4919472"/>
            <a:ext cx="4828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D0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기반 Pre-sales 데모 → 즉시 커스터마이징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07608" y="1554480"/>
            <a:ext cx="56171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8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확장 — 모듈 단위 제품화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07608" y="2084832"/>
            <a:ext cx="3482639" cy="713232"/>
          </a:xfrm>
          <a:prstGeom prst="roundRect">
            <a:avLst>
              <a:gd name="adj" fmla="val 5128"/>
            </a:avLst>
          </a:prstGeom>
          <a:solidFill>
            <a:srgbClr val="080B12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45352" y="21579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1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· core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45352" y="2432304"/>
            <a:ext cx="30254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7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 + system + gateway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07608" y="2944368"/>
            <a:ext cx="4493727" cy="713232"/>
          </a:xfrm>
          <a:prstGeom prst="roundRect">
            <a:avLst>
              <a:gd name="adj" fmla="val 5128"/>
            </a:avLst>
          </a:prstGeom>
          <a:solidFill>
            <a:srgbClr val="080B12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45352" y="3017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1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· mci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45352" y="3291840"/>
            <a:ext cx="403652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7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+ mci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07608" y="3803904"/>
            <a:ext cx="5617159" cy="713232"/>
          </a:xfrm>
          <a:prstGeom prst="roundRect">
            <a:avLst>
              <a:gd name="adj" fmla="val 5128"/>
            </a:avLst>
          </a:prstGeom>
          <a:solidFill>
            <a:srgbClr val="1F57F8"/>
          </a:solidFill>
          <a:ln w="12700">
            <a:solidFill>
              <a:srgbClr val="1F57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45352" y="387705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· full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45352" y="4151376"/>
            <a:ext cx="5159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+ mci + integration + 샘플 업무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07608" y="4791456"/>
            <a:ext cx="5617159" cy="1005840"/>
          </a:xfrm>
          <a:prstGeom prst="roundRect">
            <a:avLst>
              <a:gd name="adj" fmla="val 4545"/>
            </a:avLst>
          </a:prstGeom>
          <a:solidFill>
            <a:srgbClr val="080B12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45352" y="4937760"/>
            <a:ext cx="5159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1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서비스 모니터링 도구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45352" y="5212080"/>
            <a:ext cx="515995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7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· Mobile · Admin 채널 서비스 상태 실시간 감시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7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관제 · 운영 지원 (가동률 · 응답속도 · 점검)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6928" y="6236208"/>
            <a:ext cx="11057839" cy="10973"/>
          </a:xfrm>
          <a:prstGeom prst="rect">
            <a:avLst/>
          </a:prstGeom>
          <a:solidFill>
            <a:srgbClr val="1C2436"/>
          </a:solidFill>
          <a:ln/>
        </p:spPr>
      </p:sp>
      <p:sp>
        <p:nvSpPr>
          <p:cNvPr id="32" name="Text 30"/>
          <p:cNvSpPr/>
          <p:nvPr/>
        </p:nvSpPr>
        <p:spPr>
          <a:xfrm>
            <a:off x="566928" y="634593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파운데이션  ·  Channel Foundation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972800" y="6345936"/>
            <a:ext cx="649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3776"/>
            <a:ext cx="118872" cy="118872"/>
          </a:xfrm>
          <a:prstGeom prst="rect">
            <a:avLst/>
          </a:prstGeom>
          <a:solidFill>
            <a:srgbClr val="1F57F8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2062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60" kern="0" dirty="0">
                <a:solidFill>
                  <a:srgbClr val="5B8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 —  개발 방식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DF1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개발 — 실증과 SI 시장 대비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389888"/>
            <a:ext cx="110578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7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유료 요금제 도입 결정 완료  →  관건은 실제 활용의 실증과 조직 역량 내재화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965960"/>
            <a:ext cx="3472586" cy="3017520"/>
          </a:xfrm>
          <a:prstGeom prst="roundRect">
            <a:avLst>
              <a:gd name="adj" fmla="val 1515"/>
            </a:avLst>
          </a:prstGeom>
          <a:solidFill>
            <a:srgbClr val="080B12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304288"/>
            <a:ext cx="274320" cy="12802"/>
          </a:xfrm>
          <a:prstGeom prst="rect">
            <a:avLst/>
          </a:prstGeom>
          <a:solidFill>
            <a:srgbClr val="1F57F8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468880"/>
            <a:ext cx="28325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1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Agent 활용 가치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3017520"/>
            <a:ext cx="285079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8B97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전체 소스 의존성 유지한 분석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8B97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아키텍처 정합 코드 생성 · 정확한 오류 진단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8B97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연속 작업 보장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59554" y="1965960"/>
            <a:ext cx="3472586" cy="3017520"/>
          </a:xfrm>
          <a:prstGeom prst="roundRect">
            <a:avLst>
              <a:gd name="adj" fmla="val 1515"/>
            </a:avLst>
          </a:prstGeom>
          <a:solidFill>
            <a:srgbClr val="080B12"/>
          </a:solidFill>
          <a:ln w="12700">
            <a:solidFill>
              <a:srgbClr val="1F57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88738" y="2304288"/>
            <a:ext cx="274320" cy="12802"/>
          </a:xfrm>
          <a:prstGeom prst="rect">
            <a:avLst/>
          </a:prstGeom>
          <a:solidFill>
            <a:srgbClr val="1F57F8"/>
          </a:solidFill>
          <a:ln/>
        </p:spPr>
      </p:sp>
      <p:sp>
        <p:nvSpPr>
          <p:cNvPr id="12" name="Text 10"/>
          <p:cNvSpPr/>
          <p:nvPr/>
        </p:nvSpPr>
        <p:spPr>
          <a:xfrm>
            <a:off x="4688738" y="2468880"/>
            <a:ext cx="28325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8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우리의 실증 — 이미 적용 중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88738" y="3017520"/>
            <a:ext cx="285079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8B97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integration-svc · GitHub Webhook → Notion 자동화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8B97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WBS ↔ GitHub Projects 동기화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8B97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OpenAPI → FE 타입 자동생성 CI 게이트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52181" y="1965960"/>
            <a:ext cx="3472586" cy="3017520"/>
          </a:xfrm>
          <a:prstGeom prst="roundRect">
            <a:avLst>
              <a:gd name="adj" fmla="val 1515"/>
            </a:avLst>
          </a:prstGeom>
          <a:solidFill>
            <a:srgbClr val="080B12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81365" y="2304288"/>
            <a:ext cx="274320" cy="12802"/>
          </a:xfrm>
          <a:prstGeom prst="rect">
            <a:avLst/>
          </a:prstGeom>
          <a:solidFill>
            <a:srgbClr val="1F57F8"/>
          </a:solidFill>
          <a:ln/>
        </p:spPr>
      </p:sp>
      <p:sp>
        <p:nvSpPr>
          <p:cNvPr id="16" name="Text 14"/>
          <p:cNvSpPr/>
          <p:nvPr/>
        </p:nvSpPr>
        <p:spPr>
          <a:xfrm>
            <a:off x="8481365" y="2468880"/>
            <a:ext cx="28325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1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 시장 변화 대비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81365" y="3017520"/>
            <a:ext cx="285079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8B97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도입에 따른 SI 개발 방식 전환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8B97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조직 차원의 경험 선제 축적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6236208"/>
            <a:ext cx="11057839" cy="10973"/>
          </a:xfrm>
          <a:prstGeom prst="rect">
            <a:avLst/>
          </a:prstGeom>
          <a:solidFill>
            <a:srgbClr val="1C2436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634593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파운데이션  ·  Channel Foundation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0" y="6345936"/>
            <a:ext cx="649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2026-07-15T04:45:12Z</dcterms:created>
  <dcterms:modified xsi:type="dcterms:W3CDTF">2026-07-15T04:45:12Z</dcterms:modified>
</cp:coreProperties>
</file>