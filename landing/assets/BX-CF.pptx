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1f15689ba1454e" /><Relationship Type="http://schemas.openxmlformats.org/officeDocument/2006/relationships/extended-properties" Target="/docProps/app.xml" Id="Rfd588991a90a489e" /><Relationship Type="http://schemas.openxmlformats.org/officeDocument/2006/relationships/officeDocument" Target="/ppt/presentation.xml" Id="Rdd1538b0322b4b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b0c0748d194ace"/>
  </p:sldMasterIdLst>
  <p:notesMasterIdLst>
    <p:notesMasterId xmlns:r="http://schemas.openxmlformats.org/officeDocument/2006/relationships" r:id="R6322ae1995a24687"/>
  </p:notesMasterIdLst>
  <p:sldIdLst>
    <p:sldId xmlns:r="http://schemas.openxmlformats.org/officeDocument/2006/relationships" id="256" r:id="R67609b096c1540d1"/>
    <p:sldId xmlns:r="http://schemas.openxmlformats.org/officeDocument/2006/relationships" id="257" r:id="R648fddb6fe104e44"/>
    <p:sldId xmlns:r="http://schemas.openxmlformats.org/officeDocument/2006/relationships" id="258" r:id="R15ddf253fbdf4756"/>
    <p:sldId xmlns:r="http://schemas.openxmlformats.org/officeDocument/2006/relationships" id="259" r:id="Rcbd1fec6a34c4e0a"/>
    <p:sldId xmlns:r="http://schemas.openxmlformats.org/officeDocument/2006/relationships" id="260" r:id="R3d2c68115f8f439e"/>
    <p:sldId xmlns:r="http://schemas.openxmlformats.org/officeDocument/2006/relationships" id="261" r:id="R9fe4e882e1684100"/>
    <p:sldId xmlns:r="http://schemas.openxmlformats.org/officeDocument/2006/relationships" id="262" r:id="R9ce9e2ffffbb4998"/>
    <p:sldId xmlns:r="http://schemas.openxmlformats.org/officeDocument/2006/relationships" id="263" r:id="R2b86b2a500e143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c55dc8e4fa451c" /><Relationship Type="http://schemas.openxmlformats.org/officeDocument/2006/relationships/slideMaster" Target="/ppt/slideMasters/slideMaster1.xml" Id="R6eb0c0748d194ace" /><Relationship Type="http://schemas.openxmlformats.org/officeDocument/2006/relationships/notesMaster" Target="/ppt/notesMasters/notesMaster1.xml" Id="R6322ae1995a24687" /><Relationship Type="http://schemas.openxmlformats.org/officeDocument/2006/relationships/presProps" Target="/ppt/presProps.xml" Id="R90593522b1b24fe5" /><Relationship Type="http://schemas.openxmlformats.org/officeDocument/2006/relationships/viewProps" Target="/ppt/viewProps.xml" Id="R7f1e1685c0974fbd" /><Relationship Type="http://schemas.openxmlformats.org/officeDocument/2006/relationships/tableStyles" Target="/ppt/tableStyles.xml" Id="Rbf65b9d69e444667" /><Relationship Type="http://schemas.openxmlformats.org/officeDocument/2006/relationships/slide" Target="/ppt/slides/slide1.xml" Id="R67609b096c1540d1" /><Relationship Type="http://schemas.openxmlformats.org/officeDocument/2006/relationships/slide" Target="/ppt/slides/slide2.xml" Id="R648fddb6fe104e44" /><Relationship Type="http://schemas.openxmlformats.org/officeDocument/2006/relationships/slide" Target="/ppt/slides/slide3.xml" Id="R15ddf253fbdf4756" /><Relationship Type="http://schemas.openxmlformats.org/officeDocument/2006/relationships/slide" Target="/ppt/slides/slide4.xml" Id="Rcbd1fec6a34c4e0a" /><Relationship Type="http://schemas.openxmlformats.org/officeDocument/2006/relationships/slide" Target="/ppt/slides/slide5.xml" Id="R3d2c68115f8f439e" /><Relationship Type="http://schemas.openxmlformats.org/officeDocument/2006/relationships/slide" Target="/ppt/slides/slide6.xml" Id="R9fe4e882e1684100" /><Relationship Type="http://schemas.openxmlformats.org/officeDocument/2006/relationships/slide" Target="/ppt/slides/slide7.xml" Id="R9ce9e2ffffbb4998" /><Relationship Type="http://schemas.openxmlformats.org/officeDocument/2006/relationships/slide" Target="/ppt/slides/slide8.xml" Id="R2b86b2a500e143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dd0bdeda0b43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c111bc3a984f46" /><Relationship Type="http://schemas.openxmlformats.org/officeDocument/2006/relationships/notesMaster" Target="/ppt/notesMasters/notesMaster1.xml" Id="Rb65383ffd80644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f406cc59de4e83" /><Relationship Type="http://schemas.openxmlformats.org/officeDocument/2006/relationships/notesMaster" Target="/ppt/notesMasters/notesMaster1.xml" Id="R6039fd12ef2046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564ba17c83450d" /><Relationship Type="http://schemas.openxmlformats.org/officeDocument/2006/relationships/notesMaster" Target="/ppt/notesMasters/notesMaster1.xml" Id="R268e2a1c91f940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57720465874f71" /><Relationship Type="http://schemas.openxmlformats.org/officeDocument/2006/relationships/notesMaster" Target="/ppt/notesMasters/notesMaster1.xml" Id="R6d19b84e94e144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069e6d34ea49ae" /><Relationship Type="http://schemas.openxmlformats.org/officeDocument/2006/relationships/notesMaster" Target="/ppt/notesMasters/notesMaster1.xml" Id="R651e68e6f4d549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331cfdf320490c" /><Relationship Type="http://schemas.openxmlformats.org/officeDocument/2006/relationships/notesMaster" Target="/ppt/notesMasters/notesMaster1.xml" Id="R1138c21ffe0a41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2735bd73804752" /><Relationship Type="http://schemas.openxmlformats.org/officeDocument/2006/relationships/notesMaster" Target="/ppt/notesMasters/notesMaster1.xml" Id="Rf098a161d8d044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9d3679c4184bd3" /><Relationship Type="http://schemas.openxmlformats.org/officeDocument/2006/relationships/notesMaster" Target="/ppt/notesMasters/notesMaster1.xml" Id="R1b2362cea19e47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d6233ced444c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63d39cdef5414a" /><Relationship Type="http://schemas.openxmlformats.org/officeDocument/2006/relationships/slideLayout" Target="/ppt/slideLayouts/slideLayout1.xml" Id="R23b5d0e6a47b402d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b5d0e6a47b402d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d6b77379b4bf6" /><Relationship Type="http://schemas.openxmlformats.org/officeDocument/2006/relationships/notesSlide" Target="/ppt/notesSlides/notesSlide1.xml" Id="R46a05f81a3cd4d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83d665d474e31" /><Relationship Type="http://schemas.openxmlformats.org/officeDocument/2006/relationships/image" Target="/ppt/media/image.png" Id="R7b2e6981c5ab4f76" /><Relationship Type="http://schemas.openxmlformats.org/officeDocument/2006/relationships/image" Target="/ppt/media/image2.png" Id="R3163423ec8fa4d83" /><Relationship Type="http://schemas.openxmlformats.org/officeDocument/2006/relationships/image" Target="/ppt/media/image3.png" Id="Rc520aabee5f745ca" /><Relationship Type="http://schemas.openxmlformats.org/officeDocument/2006/relationships/image" Target="/ppt/media/image4.png" Id="Rde66879661034544" /><Relationship Type="http://schemas.openxmlformats.org/officeDocument/2006/relationships/notesSlide" Target="/ppt/notesSlides/notesSlide2.xml" Id="Rfb96b1989cac48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70bc93e87402e" /><Relationship Type="http://schemas.openxmlformats.org/officeDocument/2006/relationships/image" Target="/ppt/media/image5.png" Id="R82afedaae811468c" /><Relationship Type="http://schemas.openxmlformats.org/officeDocument/2006/relationships/image" Target="/ppt/media/image6.png" Id="Rfbd9068a7c21408d" /><Relationship Type="http://schemas.openxmlformats.org/officeDocument/2006/relationships/image" Target="/ppt/media/image7.png" Id="R3f50de85776d4556" /><Relationship Type="http://schemas.openxmlformats.org/officeDocument/2006/relationships/notesSlide" Target="/ppt/notesSlides/notesSlide3.xml" Id="R518d014fd38d4d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32fc2e6704c4c" /><Relationship Type="http://schemas.openxmlformats.org/officeDocument/2006/relationships/image" Target="/ppt/media/image8.png" Id="R76f2286a772d4f82" /><Relationship Type="http://schemas.openxmlformats.org/officeDocument/2006/relationships/image" Target="/ppt/media/image9.png" Id="R04a34a45991e4474" /><Relationship Type="http://schemas.openxmlformats.org/officeDocument/2006/relationships/notesSlide" Target="/ppt/notesSlides/notesSlide4.xml" Id="Re4b7de5c575b4a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1448b76b04cb8" /><Relationship Type="http://schemas.openxmlformats.org/officeDocument/2006/relationships/notesSlide" Target="/ppt/notesSlides/notesSlide5.xml" Id="R11378b130b0042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f2b616364404e" /><Relationship Type="http://schemas.openxmlformats.org/officeDocument/2006/relationships/image" Target="/ppt/media/image10.png" Id="Rca74d68a0c4d4ed2" /><Relationship Type="http://schemas.openxmlformats.org/officeDocument/2006/relationships/image" Target="/ppt/media/image11.png" Id="R13a6cd0880544748" /><Relationship Type="http://schemas.openxmlformats.org/officeDocument/2006/relationships/image" Target="/ppt/media/image12.png" Id="R430af03eff6f472b" /><Relationship Type="http://schemas.openxmlformats.org/officeDocument/2006/relationships/image" Target="/ppt/media/image13.png" Id="Rcedcf0bf5cf14ee5" /><Relationship Type="http://schemas.openxmlformats.org/officeDocument/2006/relationships/image" Target="/ppt/media/image14.png" Id="R0629b00dec184336" /><Relationship Type="http://schemas.openxmlformats.org/officeDocument/2006/relationships/image" Target="/ppt/media/image15.png" Id="R5b6299c164414483" /><Relationship Type="http://schemas.openxmlformats.org/officeDocument/2006/relationships/notesSlide" Target="/ppt/notesSlides/notesSlide6.xml" Id="R8a752efc4fac46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9d02b08c64986" /><Relationship Type="http://schemas.openxmlformats.org/officeDocument/2006/relationships/image" Target="/ppt/media/image16.png" Id="Rf728996768c64905" /><Relationship Type="http://schemas.openxmlformats.org/officeDocument/2006/relationships/image" Target="/ppt/media/image17.png" Id="Rc2e95330e09e490d" /><Relationship Type="http://schemas.openxmlformats.org/officeDocument/2006/relationships/image" Target="/ppt/media/image18.png" Id="R8357b1fb2eb04bce" /><Relationship Type="http://schemas.openxmlformats.org/officeDocument/2006/relationships/image" Target="/ppt/media/image19.png" Id="Rf45afd68e9484bb2" /><Relationship Type="http://schemas.openxmlformats.org/officeDocument/2006/relationships/image" Target="/ppt/media/image20.png" Id="Reaefa6898d054936" /><Relationship Type="http://schemas.openxmlformats.org/officeDocument/2006/relationships/notesSlide" Target="/ppt/notesSlides/notesSlide7.xml" Id="R1a72b89521f848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9118edb484123" /><Relationship Type="http://schemas.openxmlformats.org/officeDocument/2006/relationships/image" Target="/ppt/media/image21.png" Id="R1c90e7604a9c47f8" /><Relationship Type="http://schemas.openxmlformats.org/officeDocument/2006/relationships/image" Target="/ppt/media/image22.png" Id="R8e327e357bce496f" /><Relationship Type="http://schemas.openxmlformats.org/officeDocument/2006/relationships/image" Target="/ppt/media/image23.png" Id="R4a2106812a584cc9" /><Relationship Type="http://schemas.openxmlformats.org/officeDocument/2006/relationships/notesSlide" Target="/ppt/notesSlides/notesSlide8.xml" Id="R9fe95c25f73642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B35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7B332CF-E061-48DA-8E6F-7C8A0C39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-2468880"/>
            <a:ext cx="6949440" cy="6949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4789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777CB5A-BC4D-402F-BDC7-FAABB0AC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3566160"/>
            <a:ext cx="4023360" cy="4023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>
              <a:alpha val="22000"/>
            </a:srgbClr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DA707E0-000B-4519-9A92-FF68800A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31520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C3A2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9E55476-165F-4B11-BAFE-0D7B8770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9164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CHANNEL UNIT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552AB2-9365-49B4-BAED-72732773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103120"/>
            <a:ext cx="100584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채널 </a:t>
            </a:r>
            <a:r>
              <a:rPr sz="6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파운데이션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31AD14C-8F4F-4363-B64D-C868BEB6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Channel F</a:t>
            </a:r>
            <a:r>
              <a:rPr sz="250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oundation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F5BE11-CAB9-4D2F-BF2B-44B61DB1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7764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AEBCEA"/>
                </a:solidFill>
                <a:latin typeface="Malgun Gothic"/>
                <a:ea typeface="Malgun Gothic"/>
                <a:cs typeface="Malgun Gothic"/>
              </a:rPr>
              <a:t>채널 프로젝트 </a:t>
            </a:r>
            <a:r>
              <a:rPr sz="1600">
                <a:solidFill>
                  <a:srgbClr val="AEBCEA"/>
                </a:solidFill>
                <a:latin typeface="Malgun Gothic"/>
                <a:ea typeface="Malgun Gothic"/>
                <a:cs typeface="Malgun Gothic"/>
              </a:rPr>
              <a:t>공통 기반(Backend · Frontend) 구축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8AF2D1F-BB81-40C7-A072-8D8F8D5E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92040"/>
            <a:ext cx="315468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A4789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AC3FE4-6A44-447A-AD1E-DF32C08D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2834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기간   </a:t>
            </a:r>
            <a:r>
              <a:rPr sz="13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3개월 · 1단계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0871848-C61A-4217-80B8-7CB3F1D8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4892040"/>
            <a:ext cx="315468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A4789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FB8562D-A4AF-4B1E-B480-9D0A1705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892040"/>
            <a:ext cx="2834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인원   </a:t>
            </a:r>
            <a:r>
              <a:rPr sz="13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2명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CA38A4E-22FA-47F9-823F-C81530EA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928" y="4892040"/>
            <a:ext cx="315468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3A4789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4E1C51F-DA29-4167-8189-95D227BE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892040"/>
            <a:ext cx="28346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산출물   </a:t>
            </a:r>
            <a:r>
              <a:rPr sz="13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스타터 키트 + </a:t>
            </a:r>
            <a:r>
              <a:rPr sz="130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개발 가이드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41212D4-6B46-4F9E-938C-84AE3A20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9436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8B96C9"/>
                </a:solidFill>
                <a:latin typeface="Malgun Gothic"/>
                <a:ea typeface="Malgun Gothic"/>
                <a:cs typeface="Malgun Gothic"/>
              </a:rPr>
              <a:t>2026.06   </a:t>
            </a:r>
            <a:r>
              <a:rPr sz="1200">
                <a:solidFill>
                  <a:srgbClr val="8B96C9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>
                <a:solidFill>
                  <a:srgbClr val="8B96C9"/>
                </a:solidFill>
                <a:latin typeface="Malgun Gothic"/>
                <a:ea typeface="Malgun Gothic"/>
                <a:cs typeface="Malgun Gothic"/>
              </a:rPr>
              <a:t>   채널유닛</a:t>
            </a:r>
          </a:p>
        </p:txBody>
      </p:sp>
    </p:spTree>
    <p:extLst>
      <p:ext uri="{BB962C8B-B14F-4D97-AF65-F5344CB8AC3E}">
        <p14:creationId xmlns:p14="http://schemas.microsoft.com/office/powerpoint/2010/main" val="6011445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C2A0462-8F79-40D1-9EC5-D8457DB0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"/>
            <a:ext cx="155448" cy="530352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4C6FFF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E1DCAB-16EB-4844-97D9-09F58E95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DEFINITION </a:t>
            </a: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 무엇인가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29BC15D-3DD2-41D1-9996-9957AA10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58952"/>
            <a:ext cx="104241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채널 파운데이션이란?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1D96B2-4722-4E5C-B6F6-079B4094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37376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채널 </a:t>
            </a: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파운데이션  ·  Channel Foundation   ·   02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A722B10-E725-43F8-BD25-24B53FCF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4114800" cy="4160520"/>
          </a:xfrm>
          <a:prstGeom xmlns:a="http://schemas.openxmlformats.org/drawingml/2006/main" prst="roundRect">
            <a:avLst>
              <a:gd name="adj" fmla="val 2444"/>
            </a:avLst>
          </a:prstGeom>
          <a:solidFill xmlns:a="http://schemas.openxmlformats.org/drawingml/2006/main">
            <a:srgbClr val="2B3568"/>
          </a:solidFill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DBE7F22-3F40-449C-B32B-10CFAB1D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</p:spPr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e6981c5ab4f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7417" y="2328977"/>
            <a:ext cx="462686" cy="462686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B8F784-F044-46DD-A016-AFD916F2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20040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채널 프</a:t>
            </a:r>
            <a:r>
              <a:rPr sz="130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로젝트 반복 영역 표준화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A75B633-DB4A-4339-A32C-C447271F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56432"/>
            <a:ext cx="3474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프론트엔드·관리자 UI · 인증/권한</a:t>
            </a:r>
          </a:p>
          <a:p xmlns:a="http://schemas.openxmlformats.org/drawingml/2006/main">
            <a:pPr marL="0" indent="0">
              <a:lnSpc>
                <a:spcPct val="112000"/>
              </a:lnSpc>
              <a:buNone/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게이트웨이 · MCI 연동 기반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343C85E3-DB2B-4CE8-A936-1453EB39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17720"/>
            <a:ext cx="34747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25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완제품 솔루션이 아닌 빠른 프로젝트 착수를 위한 기반 자산</a:t>
            </a:r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25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→ core · mci · full 모듈 단위 제공으로 단계적 확장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EFC108B-F297-41AA-B9E6-0E1696BD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783080"/>
            <a:ext cx="6446520" cy="120700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3E736C5-EC85-4EC0-98D8-C5730DEA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2093976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6FFF"/>
          </a:solidFill>
        </p:spPr>
      </p:sp>
      <p:pic>
        <p:nvPicPr>
          <p:cNvPr id="4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3423ec8fa4d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0474" y="2256922"/>
            <a:ext cx="277612" cy="277612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3459437-1A37-4AF5-A5CB-6D3A11A2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5960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공통 </a:t>
            </a:r>
            <a:r>
              <a:rPr sz="16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구조 표준화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87E1341-7763-4135-AADA-132FD8BF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1720"/>
            <a:ext cx="5074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FE/BE 기본 구조·개발 규칙 표준화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→ 초기 구축 부담 축소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90072CE-1B9C-49E7-B10A-5925A6B7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172968"/>
            <a:ext cx="6446520" cy="120700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5B4B1EA-901A-4587-9D27-F182CFE3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3483864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</p:spPr>
      </p:sp>
      <p:pic>
        <p:nvPicPr>
          <p:cNvPr id="4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0aabee5f745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0474" y="3646810"/>
            <a:ext cx="277612" cy="277612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769BB122-A177-49CD-9076-89B1EEC5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55848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고객사별 확장 대응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63DF6D1B-4123-4FDE-AF3F-49CA2DED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21608"/>
            <a:ext cx="5074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adapter · mapper · config로 차이 격리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→ 고객사별 연동 유연성 확보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EDAEB56B-C2B3-4FDA-89A9-800AA06D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562856"/>
            <a:ext cx="6446520" cy="120700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4B1D34CB-5043-4457-8C21-E9127B79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7528" y="4873752"/>
            <a:ext cx="603504" cy="603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85"/>
          </a:solidFill>
        </p:spPr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68796610345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0474" y="5036698"/>
            <a:ext cx="277612" cy="277612"/>
          </a:xfrm>
          <a:prstGeom xmlns:a="http://schemas.openxmlformats.org/drawingml/2006/main" prst="rect">
            <a:avLst/>
          </a:prstGeom>
        </p:spPr>
      </p:pic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1D2D4CD2-67A2-4DD7-B90A-BB3F75EA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45736"/>
            <a:ext cx="5074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모듈형 확장 기반</a:t>
            </a:r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6832D393-5709-46FE-8870-C9FED746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11496"/>
            <a:ext cx="5074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구축 베이스 우선 활용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→ core · mci · full 제품화 확장</a:t>
            </a:r>
          </a:p>
        </p:txBody>
      </p:sp>
    </p:spTree>
    <p:extLst>
      <p:ext uri="{BB962C8B-B14F-4D97-AF65-F5344CB8AC3E}">
        <p14:creationId xmlns:p14="http://schemas.microsoft.com/office/powerpoint/2010/main" val="15091885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E15C0B-6C34-4943-AA3A-1753B25A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"/>
            <a:ext cx="155448" cy="530352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4C6FFF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B5C4E5A-2998-4C4D-BA45-28391179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WHY NOW </a:t>
            </a: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 추진 배경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C0E15EC-5837-4953-A6BC-5765EB50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58952"/>
            <a:ext cx="104241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왜 지금 필요한가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5A2090E-3830-4335-981A-940765EB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37376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채널 </a:t>
            </a: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파운데이션  ·  Channel Foundation   ·   03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8AE0EB2-E3FC-4E6E-A151-C1B5BA5A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3520440" cy="41605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6BEF568-A497-4A88-9E47-55EDCA32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148840"/>
            <a:ext cx="960120" cy="96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6FFF"/>
          </a:solidFill>
        </p:spPr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fedaae81146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0792" y="2408072"/>
            <a:ext cx="441655" cy="441655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5AE1306-6376-4F04-B817-84A0F8ED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148840"/>
            <a:ext cx="8686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400" b="1">
                <a:solidFill>
                  <a:srgbClr val="EEF2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1822392-7E15-4159-9166-7FBEC197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83280"/>
            <a:ext cx="2788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공통 기반</a:t>
            </a:r>
            <a:r>
              <a:rPr sz="18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 부재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6511387-8AF2-46E7-B4DC-6C97DB2C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69080"/>
            <a:ext cx="27889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3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기제품 적용 제약 → 채널 프로젝트 공통 기반 선제 확보</a:t>
            </a:r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3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/>
            </a:r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3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프로젝트별 BE·FE 기초 재구축</a:t>
            </a:r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3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→ 초기 작업 반복·시간 소모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CAC4A40-32B5-4554-85D3-6827E331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1691640"/>
            <a:ext cx="3520440" cy="41605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98C9D178-613F-453D-BA5C-97EA96D5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148840"/>
            <a:ext cx="960120" cy="96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</p:spPr>
      </p:sp>
      <p:pic>
        <p:nvPicPr>
          <p:cNvPr id="3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9068a7c2140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2400" y="2408072"/>
            <a:ext cx="441655" cy="441655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D2D6A1B-3824-476F-BFA0-1E0C5269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48" y="2148840"/>
            <a:ext cx="8686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400" b="1">
                <a:solidFill>
                  <a:srgbClr val="E2F7F1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4358FEE-444E-44A0-B684-C4D25525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383280"/>
            <a:ext cx="2788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고객사별 차이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E41719D-97C9-4A40-82D7-7C571167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069080"/>
            <a:ext cx="27889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3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업무·인증·MCI·계정계/정보계/대외계 차이</a:t>
            </a:r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3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→ 공통 영역 표준화 + 확장 구조 분리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30D6C244-64A6-4DAA-8192-F613B50E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691640"/>
            <a:ext cx="3520440" cy="416052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9148761-3E60-4E04-88A2-CEC719DA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148840"/>
            <a:ext cx="960120" cy="960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85"/>
          </a:solidFill>
        </p:spPr>
      </p:sp>
      <p:pic>
        <p:nvPicPr>
          <p:cNvPr id="4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0de85776d4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54008" y="2408072"/>
            <a:ext cx="441655" cy="441655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3487FDF8-1DC1-4CCB-AAF5-D011AD02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456" y="2148840"/>
            <a:ext cx="8686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3400" b="1">
                <a:solidFill>
                  <a:srgbClr val="FFEDE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5D0DE93E-6FFA-4E87-BDE1-40C85D69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3383280"/>
            <a:ext cx="2788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추진 적</a:t>
            </a:r>
            <a:r>
              <a:rPr sz="18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기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C7C2EF71-CD7B-4815-91B4-E826DB07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4069080"/>
            <a:ext cx="27889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3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차기 투입 전 가용 인력 활용</a:t>
            </a:r>
          </a:p>
          <a:p xmlns:a="http://schemas.openxmlformats.org/drawingml/2006/main">
            <a:pPr marL="0" indent="0">
              <a:lnSpc>
                <a:spcPct val="128000"/>
              </a:lnSpc>
              <a:buNone/>
            </a:pPr>
            <a:r>
              <a:rPr sz="13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→ 반복 활용 가능한 공통 자산 확보</a:t>
            </a:r>
          </a:p>
        </p:txBody>
      </p:sp>
    </p:spTree>
    <p:extLst>
      <p:ext uri="{BB962C8B-B14F-4D97-AF65-F5344CB8AC3E}">
        <p14:creationId xmlns:p14="http://schemas.microsoft.com/office/powerpoint/2010/main" val="7206913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8FEA9-C6C6-4219-950E-84E97157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"/>
            <a:ext cx="155448" cy="530352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4C6FFF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F3B7AE0-9F80-413D-B8BA-7A25F288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ARCHITECTURE </a:t>
            </a: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 구성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04E004A-16DF-4786-AB34-66F5479E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58952"/>
            <a:ext cx="104241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Channel Foundation</a:t>
            </a:r>
            <a:r>
              <a:rPr sz="27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 구성도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4151E0-15AD-404B-B294-7E25A872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37376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채널 </a:t>
            </a: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파운데이션  ·  Channel Foundation</a:t>
            </a:r>
            <a:r>
              <a:rPr sz="950">
                <a:solidFill>
                  <a:srgbClr val="E6ECF8"/>
                </a:solidFill>
                <a:latin typeface="Malgun Gothic"/>
                <a:ea typeface="Malgun Gothic"/>
                <a:cs typeface="Malgun Gothic"/>
              </a:rPr>
              <a:t>   ·   </a:t>
            </a:r>
            <a:r>
              <a:rPr sz="95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7EC0BF4-31EA-4A2C-97A2-3626736B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4160520" cy="4681728"/>
          </a:xfrm>
          <a:prstGeom xmlns:a="http://schemas.openxmlformats.org/drawingml/2006/main" prst="roundRect">
            <a:avLst>
              <a:gd name="adj" fmla="val 24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F9C5A09-EF65-4AA5-82C2-76FA2170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10512"/>
            <a:ext cx="1508760" cy="347472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4C6FFF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2F538BC-239F-48DA-ACCA-928608E4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810512"/>
            <a:ext cx="145389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32F7A0-AAA2-4B02-8C33-FF0975CC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31136"/>
            <a:ext cx="3703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React 19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9B6A05C-6E14-437B-A793-45FA4FD1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4203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3856E0"/>
                </a:solidFill>
                <a:latin typeface="Malgun Gothic"/>
                <a:ea typeface="Malgun Gothic"/>
                <a:cs typeface="Malgun Gothic"/>
              </a:rPr>
              <a:t>모노레포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3CCDA58-6D0A-425C-AD4E-93C7EB3A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98064"/>
            <a:ext cx="1170432" cy="36576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EF2FF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5860BB6-024B-4224-BD2D-1BAA5955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798064"/>
            <a:ext cx="11155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856E0"/>
                </a:solidFill>
                <a:latin typeface="Malgun Gothic"/>
                <a:ea typeface="Malgun Gothic"/>
                <a:cs typeface="Malgun Gothic"/>
              </a:rPr>
              <a:t>Turbo + pnpm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A6342B6-C6B1-42D7-8182-64A0B756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408" y="2798064"/>
            <a:ext cx="1170432" cy="36576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EF2FF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2A2F3F7-9E9A-4BCF-A29D-A5F40897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2798064"/>
            <a:ext cx="11155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856E0"/>
                </a:solidFill>
                <a:latin typeface="Malgun Gothic"/>
                <a:ea typeface="Malgun Gothic"/>
                <a:cs typeface="Malgun Gothic"/>
              </a:rPr>
              <a:t>PC · Mobile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E2A8829-D7A9-4EE5-8153-42B1770F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2798064"/>
            <a:ext cx="1170432" cy="36576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EF2FF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6555914-1294-4E84-9D39-38FA2774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98064"/>
            <a:ext cx="11155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3856E0"/>
                </a:solidFill>
                <a:latin typeface="Malgun Gothic"/>
                <a:ea typeface="Malgun Gothic"/>
                <a:cs typeface="Malgun Gothic"/>
              </a:rPr>
              <a:t>Admin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C5E1209-9841-408A-9458-F8B5FEF0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19272"/>
            <a:ext cx="3703320" cy="224028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5FC"/>
          </a:solidFill>
          <a:ln xmlns:a="http://schemas.openxmlformats.org/drawingml/2006/main" w="12700">
            <a:solidFill>
              <a:srgbClr val="E6ECF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11110E8-5A0A-4A3C-8ABC-8589BFCF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" y="3410712"/>
            <a:ext cx="337413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공통  @bx/shared · 도메인 8종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70FC91E-FEE5-4C9C-BC79-869B7FBC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85419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6FFF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09969E0-2E83-4A66-B22F-03C3A3B0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758184"/>
            <a:ext cx="32186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도메인  auth · user · account · menu · product · alarm · base-info · common-code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2A51A4B-A7AE-4D78-9855-A45BB25E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3766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7A91AFC-F86F-470F-9FD7-E896EBD8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041648"/>
            <a:ext cx="32186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라우팅·데이터  TanStack Router · Query · Zustand ·</a:t>
            </a: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 Axios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C5D2AB7-3D88-478D-A79F-E833376F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2112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8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64E76E-19C5-4D97-8483-5B6A4051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325112"/>
            <a:ext cx="32186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9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·UI  JWT 401 자동재발급 · Radix · Tailwind v4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422B263-B15B-4DCC-B00B-9F244DEB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0458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6FFF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EC12CF4-6B96-4AE4-B356-174F10BC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608576"/>
            <a:ext cx="32186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빌드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36C9164-BEC9-4110-B430-3BC10B0A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8805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62A3E51-FE49-48E2-A42E-3B6EE522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892040"/>
            <a:ext cx="32186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Vite 8 · Biome · Vites</a:t>
            </a: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t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C432F99-228F-4AEC-A67D-73F0BAFB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271516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85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57FF7CF-83EB-4EFE-907A-1B228037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175504"/>
            <a:ext cx="321868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E2E 테스트 자동화 · Playwright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5854C9E-30DB-4EF9-834D-B89BD2F5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696712"/>
            <a:ext cx="3794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3856E0"/>
                </a:solidFill>
                <a:latin typeface="Malgun Gothic"/>
                <a:ea typeface="Malgun Gothic"/>
                <a:cs typeface="Malgun Gothic"/>
              </a:rPr>
              <a:t>자동화  CI 파이프라인 연동 · Vitest 단위 테스트 병행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48291AD-18F4-4C17-BB19-22F50E7B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627632"/>
            <a:ext cx="1783080" cy="4681728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2B3568"/>
          </a:solidFill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4C8C0FC-DE6C-4C32-82D4-054CF065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1856232"/>
            <a:ext cx="1783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API 연계</a:t>
            </a:r>
          </a:p>
        </p:txBody>
      </p:sp>
      <p:pic>
        <p:nvPicPr>
          <p:cNvPr id="10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2286a772d4f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2452" y="2267712"/>
            <a:ext cx="402336" cy="402336"/>
          </a:xfrm>
          <a:prstGeom xmlns:a="http://schemas.openxmlformats.org/drawingml/2006/main" prst="rect">
            <a:avLst/>
          </a:prstGeom>
        </p:spPr>
      </p:pic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EAF1B31-5748-430E-B9A5-655353DC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16352"/>
            <a:ext cx="1600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HTTPS · Envelope · JWT</a:t>
            </a:r>
          </a:p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48E73164-15E4-44DC-9F47-40BAEAD3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054096"/>
            <a:ext cx="1600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OpenAPI · TypeBridge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3366DA7A-339F-48DA-90D0-0C5F64B7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56432"/>
            <a:ext cx="13258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3A4789"/>
            </a:solidFill>
            <a:prstDash val="solid"/>
          </a:ln>
        </p:spPr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AE1661A2-A8A6-4CD2-A0E4-4C1DBD42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575304"/>
            <a:ext cx="1783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B02E"/>
                </a:solidFill>
                <a:latin typeface="Malgun Gothic"/>
                <a:ea typeface="Malgun Gothic"/>
                <a:cs typeface="Malgun Gothic"/>
              </a:rPr>
              <a:t>타입</a:t>
            </a:r>
          </a:p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F2A20496-8483-4555-BD35-759A4122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5232" y="3895344"/>
            <a:ext cx="163677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85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FE·BE 타입 자동 일치</a:t>
            </a:r>
          </a:p>
        </p:txBody>
      </p:sp>
      <p:pic>
        <p:nvPicPr>
          <p:cNvPr id="10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a34a45991e44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21324" y="4370832"/>
            <a:ext cx="164592" cy="164592"/>
          </a:xfrm>
          <a:prstGeom xmlns:a="http://schemas.openxmlformats.org/drawingml/2006/main" prst="rect">
            <a:avLst/>
          </a:prstGeom>
        </p:spPr>
      </p:pic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8E9FA956-F42D-41CA-A227-6E072547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944" y="4608576"/>
            <a:ext cx="1673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자동화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E551E3EA-3DE3-4C34-B96B-1BEDB6B7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84064"/>
            <a:ext cx="1380744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0305A"/>
          </a:solidFill>
          <a:ln xmlns:a="http://schemas.openxmlformats.org/drawingml/2006/main" w="12700">
            <a:solidFill>
              <a:srgbClr val="14C3A2"/>
            </a:solidFill>
            <a:prstDash val="solid"/>
          </a:ln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31082E4C-0D77-40F1-BEE0-3BCE7588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129784"/>
            <a:ext cx="1380744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5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gen:api · CI drift gate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8A178486-D16A-426A-8CE8-00A1BC57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627632"/>
            <a:ext cx="4142232" cy="4681728"/>
          </a:xfrm>
          <a:prstGeom xmlns:a="http://schemas.openxmlformats.org/drawingml/2006/main" prst="roundRect">
            <a:avLst>
              <a:gd name="adj" fmla="val 24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261A31C3-08F0-4A7C-9E05-1847AC0F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1810512"/>
            <a:ext cx="1417320" cy="347472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4C3A2"/>
          </a:solidFill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E961DCD5-DD5E-43CD-BD7D-2286D6A9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1810512"/>
            <a:ext cx="136245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5AAB41E-28A8-451E-A3A4-EB87618E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231136"/>
            <a:ext cx="36850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Java 21 · Boot 3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2EAB8151-EFE1-4034-9DCE-0BC23F4E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542032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MSA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9BF0C9C4-EDE2-4160-B043-338C7D21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798064"/>
            <a:ext cx="1828800" cy="36576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2F7F1"/>
          </a:solidFill>
        </p:spPr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7DA49764-0843-422E-B8B4-FF3C4914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2798064"/>
            <a:ext cx="177393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Spring Cloud ·</a:t>
            </a:r>
            <a:r>
              <a:rPr sz="95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 Gateway</a:t>
            </a:r>
          </a:p>
        </p:txBody>
      </p:sp>
      <p:sp>
        <p:nvSpPr>
          <p:cNvPr id="51" name="Shape 47">
            <a:extLst xmlns:a="http://schemas.openxmlformats.org/drawingml/2006/main">
              <a:ext uri="{FF2B5EF4-FFF2-40B4-BE49-F238E27FC236}">
                <a16:creationId xmlns:a16="http://schemas.microsoft.com/office/drawing/2014/main" id="{0197000B-A4C9-4D50-8709-AD2C92F9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798064"/>
            <a:ext cx="1719072" cy="36576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E2F7F1"/>
          </a:solidFill>
        </p:spPr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7D279388-5039-44FB-A421-A49A1309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2798064"/>
            <a:ext cx="166420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Eureka</a:t>
            </a:r>
          </a:p>
        </p:txBody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1498059B-C8A9-4FDA-8BD4-277E11C8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255264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Services 5</a:t>
            </a:r>
          </a:p>
        </p:txBody>
      </p:sp>
      <p:sp>
        <p:nvSpPr>
          <p:cNvPr id="54" name="Shape 50">
            <a:extLst xmlns:a="http://schemas.openxmlformats.org/drawingml/2006/main">
              <a:ext uri="{FF2B5EF4-FFF2-40B4-BE49-F238E27FC236}">
                <a16:creationId xmlns:a16="http://schemas.microsoft.com/office/drawing/2014/main" id="{FE46F395-5D7D-4A27-B7BE-28AA7ECB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3493008"/>
            <a:ext cx="1828800" cy="36576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EDEE"/>
          </a:solidFill>
        </p:spPr>
      </p:sp>
      <p:sp>
        <p:nvSpPr>
          <p:cNvPr id="55" name="Text 51">
            <a:extLst xmlns:a="http://schemas.openxmlformats.org/drawingml/2006/main">
              <a:ext uri="{FF2B5EF4-FFF2-40B4-BE49-F238E27FC236}">
                <a16:creationId xmlns:a16="http://schemas.microsoft.com/office/drawing/2014/main" id="{68FC54AB-6652-460E-83C6-2434F0A0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3493008"/>
            <a:ext cx="177393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7A85"/>
                </a:solidFill>
                <a:latin typeface="Malgun Gothic"/>
                <a:ea typeface="Malgun Gothic"/>
                <a:cs typeface="Malgun Gothic"/>
              </a:rPr>
              <a:t>auth</a:t>
            </a:r>
            <a:r>
              <a:rPr sz="950" b="1">
                <a:solidFill>
                  <a:srgbClr val="FF7A85"/>
                </a:solidFill>
                <a:latin typeface="Malgun Gothic"/>
                <a:ea typeface="Malgun Gothic"/>
                <a:cs typeface="Malgun Gothic"/>
              </a:rPr>
              <a:t> · mci · system</a:t>
            </a:r>
          </a:p>
        </p:txBody>
      </p:sp>
      <p:sp>
        <p:nvSpPr>
          <p:cNvPr id="56" name="Shape 52">
            <a:extLst xmlns:a="http://schemas.openxmlformats.org/drawingml/2006/main">
              <a:ext uri="{FF2B5EF4-FFF2-40B4-BE49-F238E27FC236}">
                <a16:creationId xmlns:a16="http://schemas.microsoft.com/office/drawing/2014/main" id="{8B822BFB-4083-425D-A0DD-C2A8A638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493008"/>
            <a:ext cx="1719072" cy="36576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EDEE"/>
          </a:solidFill>
        </p:spPr>
      </p:sp>
      <p:sp>
        <p:nvSpPr>
          <p:cNvPr id="57" name="Text 53">
            <a:extLst xmlns:a="http://schemas.openxmlformats.org/drawingml/2006/main">
              <a:ext uri="{FF2B5EF4-FFF2-40B4-BE49-F238E27FC236}">
                <a16:creationId xmlns:a16="http://schemas.microsoft.com/office/drawing/2014/main" id="{878587F1-1B63-423A-B31B-AC085003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912" y="3493008"/>
            <a:ext cx="166420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7A85"/>
                </a:solidFill>
                <a:latin typeface="Malgun Gothic"/>
                <a:ea typeface="Malgun Gothic"/>
                <a:cs typeface="Malgun Gothic"/>
              </a:rPr>
              <a:t>product</a:t>
            </a:r>
            <a:r>
              <a:rPr sz="900" b="1">
                <a:solidFill>
                  <a:srgbClr val="FF7A85"/>
                </a:solidFill>
                <a:latin typeface="Malgun Gothic"/>
                <a:ea typeface="Malgun Gothic"/>
                <a:cs typeface="Malgun Gothic"/>
              </a:rPr>
              <a:t> · integration</a:t>
            </a:r>
          </a:p>
        </p:txBody>
      </p:sp>
      <p:sp>
        <p:nvSpPr>
          <p:cNvPr id="58" name="Shape 54">
            <a:extLst xmlns:a="http://schemas.openxmlformats.org/drawingml/2006/main">
              <a:ext uri="{FF2B5EF4-FFF2-40B4-BE49-F238E27FC236}">
                <a16:creationId xmlns:a16="http://schemas.microsoft.com/office/drawing/2014/main" id="{5782D45B-A727-4E42-87D9-C8039C8B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023360"/>
            <a:ext cx="3685032" cy="150876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BF8F3"/>
          </a:solidFill>
          <a:ln xmlns:a="http://schemas.openxmlformats.org/drawingml/2006/main" w="12700">
            <a:solidFill>
              <a:srgbClr val="E6ECF8"/>
            </a:solidFill>
            <a:prstDash val="solid"/>
          </a:ln>
        </p:spPr>
      </p:sp>
      <p:sp>
        <p:nvSpPr>
          <p:cNvPr id="59" name="Text 55">
            <a:extLst xmlns:a="http://schemas.openxmlformats.org/drawingml/2006/main">
              <a:ext uri="{FF2B5EF4-FFF2-40B4-BE49-F238E27FC236}">
                <a16:creationId xmlns:a16="http://schemas.microsoft.com/office/drawing/2014/main" id="{B2B60628-DDBA-46E5-9C75-E5C78603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9832" y="4114800"/>
            <a:ext cx="33558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libs 5</a:t>
            </a:r>
          </a:p>
        </p:txBody>
      </p:sp>
      <p:sp>
        <p:nvSpPr>
          <p:cNvPr id="60" name="Shape 56">
            <a:extLst xmlns:a="http://schemas.openxmlformats.org/drawingml/2006/main">
              <a:ext uri="{FF2B5EF4-FFF2-40B4-BE49-F238E27FC236}">
                <a16:creationId xmlns:a16="http://schemas.microsoft.com/office/drawing/2014/main" id="{F86462B6-F65B-4323-B5D2-B6E33523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576572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6FFF"/>
          </a:solidFill>
        </p:spPr>
      </p:sp>
      <p:sp>
        <p:nvSpPr>
          <p:cNvPr id="61" name="Text 57">
            <a:extLst xmlns:a="http://schemas.openxmlformats.org/drawingml/2006/main">
              <a:ext uri="{FF2B5EF4-FFF2-40B4-BE49-F238E27FC236}">
                <a16:creationId xmlns:a16="http://schemas.microsoft.com/office/drawing/2014/main" id="{9DFF81F1-CC1E-40EC-B599-60232B9F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4480560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common </a:t>
            </a:r>
            <a:r>
              <a:rPr sz="9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· business-common · mci-common</a:t>
            </a:r>
          </a:p>
        </p:txBody>
      </p:sp>
      <p:sp>
        <p:nvSpPr>
          <p:cNvPr id="62" name="Shape 58">
            <a:extLst xmlns:a="http://schemas.openxmlformats.org/drawingml/2006/main">
              <a:ext uri="{FF2B5EF4-FFF2-40B4-BE49-F238E27FC236}">
                <a16:creationId xmlns:a16="http://schemas.microsoft.com/office/drawing/2014/main" id="{5F9D9A60-3B94-420B-8BE0-3CCE5EA1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88746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</p:spPr>
      </p:sp>
      <p:sp>
        <p:nvSpPr>
          <p:cNvPr id="63" name="Text 59">
            <a:extLst xmlns:a="http://schemas.openxmlformats.org/drawingml/2006/main">
              <a:ext uri="{FF2B5EF4-FFF2-40B4-BE49-F238E27FC236}">
                <a16:creationId xmlns:a16="http://schemas.microsoft.com/office/drawing/2014/main" id="{E98A264B-5249-4DDC-8ABA-99A34BD8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4791456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security-common · session-context-common</a:t>
            </a:r>
          </a:p>
        </p:txBody>
      </p:sp>
      <p:sp>
        <p:nvSpPr>
          <p:cNvPr id="64" name="Shape 60">
            <a:extLst xmlns:a="http://schemas.openxmlformats.org/drawingml/2006/main">
              <a:ext uri="{FF2B5EF4-FFF2-40B4-BE49-F238E27FC236}">
                <a16:creationId xmlns:a16="http://schemas.microsoft.com/office/drawing/2014/main" id="{E4566E4A-AA3B-4DB0-B012-23319BDF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5198364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85"/>
          </a:solidFill>
        </p:spPr>
      </p:sp>
      <p:sp>
        <p:nvSpPr>
          <p:cNvPr id="65" name="Text 61">
            <a:extLst xmlns:a="http://schemas.openxmlformats.org/drawingml/2006/main">
              <a:ext uri="{FF2B5EF4-FFF2-40B4-BE49-F238E27FC236}">
                <a16:creationId xmlns:a16="http://schemas.microsoft.com/office/drawing/2014/main" id="{141CF708-F59F-4519-A8D5-414ACBE2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5102352"/>
            <a:ext cx="3200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인증·세션  Gateway JWT 검증 · X-Auth-* · Redis 세션</a:t>
            </a:r>
          </a:p>
        </p:txBody>
      </p:sp>
      <p:sp>
        <p:nvSpPr>
          <p:cNvPr id="66" name="Text 62">
            <a:extLst xmlns:a="http://schemas.openxmlformats.org/drawingml/2006/main">
              <a:ext uri="{FF2B5EF4-FFF2-40B4-BE49-F238E27FC236}">
                <a16:creationId xmlns:a16="http://schemas.microsoft.com/office/drawing/2014/main" id="{E61F9ACA-C9B7-4324-92E6-A035D0D9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696712"/>
            <a:ext cx="377647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MCI  YAML registry · Adapter/Mapper SPI · Router</a:t>
            </a:r>
          </a:p>
        </p:txBody>
      </p:sp>
      <p:sp>
        <p:nvSpPr>
          <p:cNvPr id="67" name="Shape 63">
            <a:extLst xmlns:a="http://schemas.openxmlformats.org/drawingml/2006/main">
              <a:ext uri="{FF2B5EF4-FFF2-40B4-BE49-F238E27FC236}">
                <a16:creationId xmlns:a16="http://schemas.microsoft.com/office/drawing/2014/main" id="{170BF631-BCA4-4A50-BF22-8089DD93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22192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3AE"/>
            </a:solidFill>
            <a:prstDash val="dash"/>
            <a:headEnd type="triangle"/>
            <a:tailEnd type="triangle"/>
          </a:ln>
        </p:spPr>
      </p:sp>
      <p:sp>
        <p:nvSpPr>
          <p:cNvPr id="68" name="Shape 64">
            <a:extLst xmlns:a="http://schemas.openxmlformats.org/drawingml/2006/main">
              <a:ext uri="{FF2B5EF4-FFF2-40B4-BE49-F238E27FC236}">
                <a16:creationId xmlns:a16="http://schemas.microsoft.com/office/drawing/2014/main" id="{A06E5E3A-EF07-481B-A847-2881F4BC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822192"/>
            <a:ext cx="411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93AE"/>
            </a:solidFill>
            <a:prstDash val="dash"/>
            <a:headEnd type="triangle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1307266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B356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4F17D96-01C5-44E0-A82B-87B80FEC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"/>
            <a:ext cx="155448" cy="530352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14C3A2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BA11D3-9588-47FB-9B31-4C1E375C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PLAN </a:t>
            </a:r>
            <a:r>
              <a:rPr sz="120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 개발 계획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C50F7ED-FC50-482F-9FB8-30310D95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58952"/>
            <a:ext cx="100584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2명 · 3개월 — 1단계 마일스톤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BC1D18E-A7E4-410A-9FB1-D48DD5E5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132588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공통 뼈대 집중: 인프라 · 통신 · 인증 · 모듈 구조  /  고객별 비즈니스 로직 제외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5234C91-1A6B-4B66-9BDB-7DB51AFB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33172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A4789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865DCA8-201C-4EFA-8305-700B3724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214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  <a:ln xmlns:a="http://schemas.openxmlformats.org/drawingml/2006/main" w="38100">
            <a:solidFill>
              <a:srgbClr val="2B3568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9F2AED-63F2-466E-ADF3-BA9832B6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2140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B356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554EB24-126E-4A9B-9D34-A39478F5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14600"/>
            <a:ext cx="342900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3A4789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657AD4B-F508-453D-B0A8-E5E0A3E7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2788920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1개월차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D821C28-1C8B-44F7-8EE6-CCC40080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081528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기반 구축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230D288-0793-469B-A7E5-F1A7C586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657600"/>
            <a:ext cx="28803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모노레포 구조화 · @bx/shared 세팅</a:t>
            </a:r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번들러·빌드·배포 검증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DD14934-04BC-4523-94DA-23E8799D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074920"/>
            <a:ext cx="28437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A5599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03BA231-86CE-4D1C-88E2-5765EB02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5148072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 b="1">
                <a:solidFill>
                  <a:srgbClr val="FFB02E"/>
                </a:solidFill>
                <a:latin typeface="Malgun Gothic"/>
                <a:ea typeface="Malgun Gothic"/>
                <a:cs typeface="Malgun Gothic"/>
              </a:rPr>
              <a:t>산출물  </a:t>
            </a:r>
            <a:r>
              <a:rPr sz="1150">
                <a:solidFill>
                  <a:srgbClr val="E7EDF8"/>
                </a:solidFill>
                <a:latin typeface="Malgun Gothic"/>
                <a:ea typeface="Malgun Gothic"/>
                <a:cs typeface="Malgun Gothic"/>
              </a:rPr>
              <a:t>아키텍처 설계서 · 공통 뼈대 소스코드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93CA257-3160-49D3-82B2-0F300BEF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214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  <a:ln xmlns:a="http://schemas.openxmlformats.org/drawingml/2006/main" w="38100">
            <a:solidFill>
              <a:srgbClr val="2B3568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5D2A56A-7677-4DD4-AE25-602C148B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2140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B3568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CAE00BB-0F2E-4601-A9DF-277A2A7A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514600"/>
            <a:ext cx="342900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3A4789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72F855F-890B-4E7A-9D9F-4F9BE5A9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788920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2개월차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1830F2B-AB89-495E-8018-0205659B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081528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 모듈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2795D98-FCEE-4C3B-BD19-D460BD44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657600"/>
            <a:ext cx="28803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auth · system · gateway 안정화</a:t>
            </a:r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MCI 거래 정의 · mapper/adapter routing 구현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569B700-9BB9-4CED-9E68-39BA439C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074920"/>
            <a:ext cx="28437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A5599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ABFD217-6E3F-4593-88F0-40987F69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5148072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 b="1">
                <a:solidFill>
                  <a:srgbClr val="FFB02E"/>
                </a:solidFill>
                <a:latin typeface="Malgun Gothic"/>
                <a:ea typeface="Malgun Gothic"/>
                <a:cs typeface="Malgun Gothic"/>
              </a:rPr>
              <a:t>산출물  </a:t>
            </a:r>
            <a:r>
              <a:rPr sz="1150">
                <a:solidFill>
                  <a:srgbClr val="E7EDF8"/>
                </a:solidFill>
                <a:latin typeface="Malgun Gothic"/>
                <a:ea typeface="Malgun Gothic"/>
                <a:cs typeface="Malgun Gothic"/>
              </a:rPr>
              <a:t>공통 인증/권한 · MCI 기본 흐름 · 샘플 거래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BEAA30E-F647-4E4F-8641-6D48F3D3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12140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  <a:ln xmlns:a="http://schemas.openxmlformats.org/drawingml/2006/main" w="38100">
            <a:solidFill>
              <a:srgbClr val="2B3568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05AE008-F35E-4893-9628-FECD5969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12140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2B3568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D910C12F-9FD8-4787-9A69-11D8D26F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514600"/>
            <a:ext cx="3429000" cy="315468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3A4789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C7B6E40-5413-40A9-B8B8-179443F3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2788920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3개월차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6608B11-291E-4EAC-BE6F-4D7CF310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3081528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 &amp; 가이드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AE8177E-DCD9-434F-93F7-94836743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3657600"/>
            <a:ext cx="28803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Admin UI ↔ Backend API 연계 검증</a:t>
            </a:r>
          </a:p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25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E2E 자동화 · 개발 가이드 · 샘플 정리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346D1BB-7549-4969-A331-567EF548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5074920"/>
            <a:ext cx="28437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A5599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085071C-50B8-491D-974D-01D39072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5148072"/>
            <a:ext cx="2880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150" b="1">
                <a:solidFill>
                  <a:srgbClr val="FFB02E"/>
                </a:solidFill>
                <a:latin typeface="Malgun Gothic"/>
                <a:ea typeface="Malgun Gothic"/>
                <a:cs typeface="Malgun Gothic"/>
              </a:rPr>
              <a:t>산출물  </a:t>
            </a:r>
            <a:r>
              <a:rPr sz="1150">
                <a:solidFill>
                  <a:srgbClr val="E7EDF8"/>
                </a:solidFill>
                <a:latin typeface="Malgun Gothic"/>
                <a:ea typeface="Malgun Gothic"/>
                <a:cs typeface="Malgun Gothic"/>
              </a:rPr>
              <a:t>개발 가이드 · 샘플 업무 · 테스트 자동화 기반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E59501F-06C3-4703-8B8A-92486A8F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437376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32448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0E94681-10CE-46B2-9641-BF1C6995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"/>
            <a:ext cx="155448" cy="530352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4C6FFF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7E5ECA-31D9-49F4-8A22-07CECA4A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DELIVERABLES </a:t>
            </a: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 산출물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C2BD887-E344-4F03-8F8C-0E9EBB96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58952"/>
            <a:ext cx="104241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1단계 주요 산출물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02EE70-2897-464F-9019-09A2ACFC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37376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채널 </a:t>
            </a: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파운데이션  ·  Channel Foundation</a:t>
            </a:r>
            <a:r>
              <a:rPr sz="950">
                <a:solidFill>
                  <a:srgbClr val="E6ECF8"/>
                </a:solidFill>
                <a:latin typeface="Malgun Gothic"/>
                <a:ea typeface="Malgun Gothic"/>
                <a:cs typeface="Malgun Gothic"/>
              </a:rPr>
              <a:t>   ·   </a:t>
            </a:r>
            <a:r>
              <a:rPr sz="95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DCF881-34E6-4D12-B47C-B8CD54B4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27632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i="1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고객별 비즈니스 로직 제외  →  파생 프로젝트 공통 기반 우선 확보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565372E-29C5-4C55-9F16-2A067B42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3520440" cy="178308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7B6EEBE1-E18A-4D25-A5EB-CAF542D5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46888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F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74d68a0c4d4e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1288" y="267004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3934FF9-7C6C-4B89-8116-4A8E7889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532888"/>
            <a:ext cx="2057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Frontend 개발 가이드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281CFB3-ABA9-43D2-9D01-1235613E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337560"/>
            <a:ext cx="2834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PC · Mobile · Admin 스켈레톤 + 개발 가이드</a:t>
            </a: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3FA488C-DD12-43A1-8BDB-A8BFDE02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2148840"/>
            <a:ext cx="3520440" cy="178308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3CEEA1A-DA27-4DAE-9EC4-B8037B5E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46888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7F1"/>
          </a:solidFill>
        </p:spPr>
      </p:sp>
      <p:pic>
        <p:nvPicPr>
          <p:cNvPr id="5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6cd08805447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2896" y="267004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BD3DBA2B-B1AA-4CBC-B2AD-63806A4E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2532888"/>
            <a:ext cx="2057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Backend 개발 가이드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A8E4075-5859-4325-8D7D-8395B6CB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337560"/>
            <a:ext cx="2834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공통 모듈 · 표준 레이아웃 + 개발 가이드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D70FC37C-B5C8-44F0-9E40-06D426A9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2148840"/>
            <a:ext cx="3520440" cy="178308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085A25B-445E-4ACF-A4E0-227A4769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246888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DEE"/>
          </a:solidFill>
        </p:spPr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af03eff6f47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04504" y="2670048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85322184-58BB-48FE-BC76-E9288273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2532888"/>
            <a:ext cx="2057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인증 / 권한 기본 체계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343BB3C-D39C-43CC-8298-B78A28C1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3337560"/>
            <a:ext cx="2834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JWT </a:t>
            </a:r>
            <a:r>
              <a:rPr sz="12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자동 재발급 · Gateway 내부 인증 · Redis 세션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9F7E76AB-09EA-4703-92A2-17876D9D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42232"/>
            <a:ext cx="3520440" cy="178308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2924EB3E-6DA2-440A-95F0-64882F6A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462272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F"/>
          </a:solidFill>
        </p:spPr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cf0bf5cf14e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1288" y="4663440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8224DEA9-71BF-4985-A8B7-0D961829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526280"/>
            <a:ext cx="2057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MCI 연동 표준</a:t>
            </a:r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977452F4-D267-4DF6-8EFB-C1934428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330952"/>
            <a:ext cx="2834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YAML 거래 registry · Adapter/Mapper · 샘플 거래</a:t>
            </a:r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1EF7C99B-E3D4-4301-9BFC-9D621C3F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688" y="4142232"/>
            <a:ext cx="3520440" cy="178308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CB72121A-FD69-4B01-BE47-DFE3EEF8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4462272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7F1"/>
          </a:solidFill>
        </p:spPr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29b00dec1843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2896" y="4663440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7BC76835-30AF-4E37-A1E1-1EB4C908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1848" y="4526280"/>
            <a:ext cx="2057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API 연계 </a:t>
            </a:r>
            <a:r>
              <a:rPr sz="15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· 타입 자동화</a:t>
            </a:r>
          </a:p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77B02E85-ACFD-4F11-B6E0-79472D2A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5330952"/>
            <a:ext cx="2834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OpenAPI TypeBridge</a:t>
            </a:r>
            <a:r>
              <a:rPr sz="12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 · Envelope 처리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FC495B8D-E46D-4039-8558-2CC5653E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4142232"/>
            <a:ext cx="3520440" cy="1783080"/>
          </a:xfrm>
          <a:prstGeom xmlns:a="http://schemas.openxmlformats.org/drawingml/2006/main" prst="roundRect">
            <a:avLst>
              <a:gd name="adj" fmla="val 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E71C9B65-62D1-49AB-8026-1653010B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3336" y="4462272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EDEE"/>
          </a:solidFill>
        </p:spPr>
      </p:sp>
      <p:pic>
        <p:nvPicPr>
          <p:cNvPr id="7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299c1644144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04504" y="4663440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8312A2ED-1510-4055-AD38-1F44D522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526280"/>
            <a:ext cx="2057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프로젝트 관리 · WBS</a:t>
            </a:r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57E38C6A-72BB-4664-8058-35D69ACF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5330952"/>
            <a:ext cx="28346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sz="120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GitHub Project 기반 WBS · 일정 관리</a:t>
            </a:r>
          </a:p>
        </p:txBody>
      </p:sp>
    </p:spTree>
    <p:extLst>
      <p:ext uri="{BB962C8B-B14F-4D97-AF65-F5344CB8AC3E}">
        <p14:creationId xmlns:p14="http://schemas.microsoft.com/office/powerpoint/2010/main" val="567580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9A85223-6E4C-4C03-B6EE-685A922B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"/>
            <a:ext cx="155448" cy="530352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4C6FFF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1D2B074-572A-4767-ACBD-A5AF97E1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IMPACT </a:t>
            </a: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 기대효과 &amp; 로드맵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F086538-6D95-4851-8C82-6951155F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58952"/>
            <a:ext cx="104241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기대효과와 향후 확장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135641B-29DD-444A-B42F-8B3AC881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37376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채널 </a:t>
            </a: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파운데이션  ·  Channel Foundation</a:t>
            </a:r>
            <a:r>
              <a:rPr sz="950">
                <a:solidFill>
                  <a:srgbClr val="E6ECF8"/>
                </a:solidFill>
                <a:latin typeface="Malgun Gothic"/>
                <a:ea typeface="Malgun Gothic"/>
                <a:cs typeface="Malgun Gothic"/>
              </a:rPr>
              <a:t>   ·   </a:t>
            </a:r>
            <a:r>
              <a:rPr sz="95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BCF00E4-4310-4390-BCB8-35AD2400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373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C4C5C0C-6E1C-400F-B5ED-F1FD2F03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5486400" cy="603504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</p:spPr>
      </p:sp>
      <p:pic>
        <p:nvPicPr>
          <p:cNvPr id="6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8996768c649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432304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0417918-2633-4D90-9A62-1FC16676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286000"/>
            <a:ext cx="466344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채널 프로젝트 초기 구축 기간 단축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11571C81-046A-41AB-9644-C9599C41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35808"/>
            <a:ext cx="5486400" cy="603504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</p:spPr>
      </p:sp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95330e09e49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318211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B6848B2-0939-472A-A471-A758811D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035808"/>
            <a:ext cx="466344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개발 표준화 및 품질 향상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B4FB624-3203-445E-B574-74C614F3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85616"/>
            <a:ext cx="5486400" cy="603504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</p:spPr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7b1fb2eb04b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393192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C574028C-278C-4371-AD22-7F6C4296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785616"/>
            <a:ext cx="466344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반복 개발 비용 절감</a:t>
            </a:r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B3424EA3-FF35-439B-99A4-7F54200B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35424"/>
            <a:ext cx="5486400" cy="603504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</p:spPr>
      </p:sp>
      <p:pic>
        <p:nvPicPr>
          <p:cNvPr id="70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5afd68e9484b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468172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029CC40F-BEBC-4A7B-9EE1-97A4B7BE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535424"/>
            <a:ext cx="466344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MCI · 외부 연동 구조 재사용</a:t>
            </a:r>
          </a:p>
        </p:txBody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5D72078B-9050-4626-8FCB-AB72837A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85232"/>
            <a:ext cx="5486400" cy="603504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</p:spPr>
      </p:sp>
      <p:pic>
        <p:nvPicPr>
          <p:cNvPr id="7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fa6898d054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543153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73DF49F0-03CD-4F4C-AC63-E40EE7CA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285232"/>
            <a:ext cx="466344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고객사별 커스터마이징 범위 명확화</a:t>
            </a:r>
          </a:p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MVP 기반 Pre-sales 데모 · 즉시 커스터마이징</a:t>
            </a:r>
          </a:p>
        </p:txBody>
      </p:sp>
      <p:sp>
        <p:nvSpPr>
          <p:cNvPr id="22" name="Shape 15">
            <a:extLst xmlns:a="http://schemas.openxmlformats.org/drawingml/2006/main">
              <a:ext uri="{FF2B5EF4-FFF2-40B4-BE49-F238E27FC236}">
                <a16:creationId xmlns:a16="http://schemas.microsoft.com/office/drawing/2014/main" id="{A4A0F759-4537-45D5-92FB-BD455476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737360"/>
            <a:ext cx="5102352" cy="41148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2B3568"/>
          </a:solidFill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119ED599-3979-43DB-84FB-008A6EAF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993392"/>
            <a:ext cx="43708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B02E"/>
                </a:solidFill>
                <a:latin typeface="Malgun Gothic"/>
                <a:ea typeface="Malgun Gothic"/>
                <a:cs typeface="Malgun Gothic"/>
              </a:rPr>
              <a:t>향후 </a:t>
            </a:r>
            <a:r>
              <a:rPr sz="1250" b="1">
                <a:solidFill>
                  <a:srgbClr val="FFB02E"/>
                </a:solidFill>
                <a:latin typeface="Malgun Gothic"/>
                <a:ea typeface="Malgun Gothic"/>
                <a:cs typeface="Malgun Gothic"/>
              </a:rPr>
              <a:t>확장 — 모듈 단위 제품화</a:t>
            </a:r>
          </a:p>
        </p:txBody>
      </p:sp>
      <p:sp>
        <p:nvSpPr>
          <p:cNvPr id="24" name="Text 17">
            <a:extLst xmlns:a="http://schemas.openxmlformats.org/drawingml/2006/main">
              <a:ext uri="{FF2B5EF4-FFF2-40B4-BE49-F238E27FC236}">
                <a16:creationId xmlns:a16="http://schemas.microsoft.com/office/drawing/2014/main" id="{2ACF396A-C1D7-4C60-A021-22A9DCFD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286000"/>
            <a:ext cx="437083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core → mci → full</a:t>
            </a:r>
          </a:p>
        </p:txBody>
      </p:sp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5B9ED6A2-07BE-4DE0-A318-48634DDA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24912"/>
            <a:ext cx="43708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gateway · MCI · integration · 샘플 업무  |  모니터링 기반 확장</a:t>
            </a:r>
          </a:p>
        </p:txBody>
      </p:sp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04FF57B1-9989-4A09-B374-E2130FE4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200400"/>
            <a:ext cx="4370832" cy="2377440"/>
          </a:xfrm>
          <a:prstGeom xmlns:a="http://schemas.openxmlformats.org/drawingml/2006/main" prst="roundRect">
            <a:avLst>
              <a:gd name="adj" fmla="val 2692"/>
            </a:avLst>
          </a:prstGeom>
          <a:solidFill xmlns:a="http://schemas.openxmlformats.org/drawingml/2006/main">
            <a:srgbClr val="212A55"/>
          </a:solidFill>
          <a:ln xmlns:a="http://schemas.openxmlformats.org/drawingml/2006/main" w="12700">
            <a:solidFill>
              <a:srgbClr val="3C4880"/>
            </a:solidFill>
            <a:prstDash val="solid"/>
          </a:ln>
        </p:spPr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87DFB04B-8C6B-49D4-9FC0-828A2CEA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438144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85"/>
          </a:solidFill>
        </p:spPr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3C40238E-549B-4770-8985-AC47A9C7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438144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3C320B70-2BF5-4296-9B1F-BF8C59E7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3438144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2423A03E-0005-4E97-BAD4-1A9A796F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3438144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</p:spPr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05316BF7-90DF-402F-BB6A-77EE2DF0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4432" y="3346704"/>
            <a:ext cx="731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3-STEP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F60FC993-B23F-4D14-AE23-F7FEE5EF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767328"/>
            <a:ext cx="3913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3C4880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4933E2E8-91BB-4199-8C96-0C40BEB2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95928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36403CD2-D54D-43B4-A8F4-AD41DC66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3913632"/>
            <a:ext cx="1554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AEFFF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B4FD4CD9-A032-4923-B3E1-68BB3472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913632"/>
            <a:ext cx="822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auth · system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6A4A47C7-802C-4875-9189-B969F581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16552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</p:spPr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AD502E81-CCDF-488E-BDC7-7F9C3696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4334256"/>
            <a:ext cx="1554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AEFFF"/>
                </a:solidFill>
                <a:latin typeface="Malgun Gothic"/>
                <a:ea typeface="Malgun Gothic"/>
                <a:cs typeface="Malgun Gothic"/>
              </a:rPr>
              <a:t>mci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DFC44237-C5BF-4E66-868E-9199190C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334256"/>
            <a:ext cx="822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MCI 연계</a:t>
            </a:r>
          </a:p>
        </p:txBody>
      </p:sp>
      <p:sp>
        <p:nvSpPr>
          <p:cNvPr id="39" name="Shape 32">
            <a:extLst xmlns:a="http://schemas.openxmlformats.org/drawingml/2006/main">
              <a:ext uri="{FF2B5EF4-FFF2-40B4-BE49-F238E27FC236}">
                <a16:creationId xmlns:a16="http://schemas.microsoft.com/office/drawing/2014/main" id="{369DDD6E-0B9C-4143-BF1C-8FE092EF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37176"/>
            <a:ext cx="137160" cy="1371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2E"/>
          </a:solidFill>
        </p:spPr>
      </p:sp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D62878B6-CF8E-4458-8F05-54B9F383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2" y="4754880"/>
            <a:ext cx="1554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EAEFFF"/>
                </a:solidFill>
                <a:latin typeface="Malgun Gothic"/>
                <a:ea typeface="Malgun Gothic"/>
                <a:cs typeface="Malgun Gothic"/>
              </a:rPr>
              <a:t>full</a:t>
            </a:r>
          </a:p>
        </p:txBody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BC137108-F0DB-4BB9-898B-2B466991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4754880"/>
            <a:ext cx="822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B02E"/>
                </a:solidFill>
                <a:latin typeface="Malgun Gothic"/>
                <a:ea typeface="Malgun Gothic"/>
                <a:cs typeface="Malgun Gothic"/>
              </a:rPr>
              <a:t>integration</a:t>
            </a:r>
          </a:p>
        </p:txBody>
      </p:sp>
      <p:sp>
        <p:nvSpPr>
          <p:cNvPr id="42" name="Shape 35">
            <a:extLst xmlns:a="http://schemas.openxmlformats.org/drawingml/2006/main">
              <a:ext uri="{FF2B5EF4-FFF2-40B4-BE49-F238E27FC236}">
                <a16:creationId xmlns:a16="http://schemas.microsoft.com/office/drawing/2014/main" id="{3CEF9C83-2D9F-42A5-B25B-2187FE7B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805721"/>
            <a:ext cx="164592" cy="26919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566B5"/>
          </a:solidFill>
        </p:spPr>
      </p:sp>
      <p:sp>
        <p:nvSpPr>
          <p:cNvPr id="43" name="Shape 36">
            <a:extLst xmlns:a="http://schemas.openxmlformats.org/drawingml/2006/main">
              <a:ext uri="{FF2B5EF4-FFF2-40B4-BE49-F238E27FC236}">
                <a16:creationId xmlns:a16="http://schemas.microsoft.com/office/drawing/2014/main" id="{927F71B1-F022-47A0-8BFD-FF63A832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4654296"/>
            <a:ext cx="164592" cy="42062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566B5"/>
          </a:solidFill>
        </p:spPr>
      </p:sp>
      <p:sp>
        <p:nvSpPr>
          <p:cNvPr id="44" name="Shape 37">
            <a:extLst xmlns:a="http://schemas.openxmlformats.org/drawingml/2006/main">
              <a:ext uri="{FF2B5EF4-FFF2-40B4-BE49-F238E27FC236}">
                <a16:creationId xmlns:a16="http://schemas.microsoft.com/office/drawing/2014/main" id="{FF9AE428-28E6-4757-8C37-6058F023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4738421"/>
            <a:ext cx="164592" cy="33649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566B5"/>
          </a:solidFill>
        </p:spPr>
      </p:sp>
      <p:sp>
        <p:nvSpPr>
          <p:cNvPr id="45" name="Shape 38">
            <a:extLst xmlns:a="http://schemas.openxmlformats.org/drawingml/2006/main">
              <a:ext uri="{FF2B5EF4-FFF2-40B4-BE49-F238E27FC236}">
                <a16:creationId xmlns:a16="http://schemas.microsoft.com/office/drawing/2014/main" id="{8D1BB7D3-2EB7-46E3-A52D-4436316B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4519696"/>
            <a:ext cx="164592" cy="55522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566B5"/>
          </a:solidFill>
        </p:spPr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1F222478-92D5-4A67-B1C2-60518E30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1592" y="4637471"/>
            <a:ext cx="164592" cy="43744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5566B5"/>
          </a:solidFill>
        </p:spPr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ACB8E435-1DB4-4691-A2D4-DFB453C2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912" y="4418747"/>
            <a:ext cx="164592" cy="65617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C3A2"/>
          </a:solidFill>
        </p:spPr>
      </p:sp>
      <p:sp>
        <p:nvSpPr>
          <p:cNvPr id="48" name="Text 41">
            <a:extLst xmlns:a="http://schemas.openxmlformats.org/drawingml/2006/main">
              <a:ext uri="{FF2B5EF4-FFF2-40B4-BE49-F238E27FC236}">
                <a16:creationId xmlns:a16="http://schemas.microsoft.com/office/drawing/2014/main" id="{6D6E442D-F36B-4AF4-95D5-B157880A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5129784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9AA6DC"/>
                </a:solidFill>
                <a:latin typeface="Malgun Gothic"/>
                <a:ea typeface="Malgun Gothic"/>
                <a:cs typeface="Malgun Gothic"/>
              </a:rPr>
              <a:t>가동률 · 응답속도</a:t>
            </a:r>
          </a:p>
        </p:txBody>
      </p:sp>
      <p:sp>
        <p:nvSpPr>
          <p:cNvPr id="49" name="Text 42">
            <a:extLst xmlns:a="http://schemas.openxmlformats.org/drawingml/2006/main">
              <a:ext uri="{FF2B5EF4-FFF2-40B4-BE49-F238E27FC236}">
                <a16:creationId xmlns:a16="http://schemas.microsoft.com/office/drawing/2014/main" id="{7A80A286-D3ED-427D-B91C-6F7879D1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93792"/>
            <a:ext cx="2103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실시간 상태 · 점검</a:t>
            </a:r>
          </a:p>
        </p:txBody>
      </p:sp>
    </p:spTree>
    <p:extLst>
      <p:ext uri="{BB962C8B-B14F-4D97-AF65-F5344CB8AC3E}">
        <p14:creationId xmlns:p14="http://schemas.microsoft.com/office/powerpoint/2010/main" val="2955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ED7BB4-4BBE-4AAD-8EA8-B0600511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"/>
            <a:ext cx="155448" cy="530352"/>
          </a:xfrm>
          <a:prstGeom xmlns:a="http://schemas.openxmlformats.org/drawingml/2006/main" prst="roundRect">
            <a:avLst>
              <a:gd name="adj" fmla="val 41176"/>
            </a:avLst>
          </a:prstGeom>
          <a:solidFill xmlns:a="http://schemas.openxmlformats.org/drawingml/2006/main">
            <a:srgbClr val="4C6FFF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7A2448-BEC9-4066-8036-B82354FB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0352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AI · 개발 방식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DCA9116-9C39-41CD-8C6C-E40A3AD8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758952"/>
            <a:ext cx="104241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27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활용 개발 — 실증과 SI 시장 대비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D1DC4F5-1E90-4DE5-9149-884DC614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37376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채널 </a:t>
            </a:r>
            <a:r>
              <a:rPr sz="9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파운데이션  ·  Channel Foundation</a:t>
            </a:r>
            <a:r>
              <a:rPr sz="950">
                <a:solidFill>
                  <a:srgbClr val="E6ECF8"/>
                </a:solidFill>
                <a:latin typeface="Malgun Gothic"/>
                <a:ea typeface="Malgun Gothic"/>
                <a:cs typeface="Malgun Gothic"/>
              </a:rPr>
              <a:t>   ·   </a:t>
            </a:r>
            <a:r>
              <a:rPr sz="950" b="1">
                <a:solidFill>
                  <a:srgbClr val="0E9E84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D7DC0A0-DFF6-4C09-91EC-1FBC31FE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3080"/>
            <a:ext cx="4069080" cy="402336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2B3568"/>
          </a:solidFill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3ABEE4-F96A-4868-B1EF-F5F444E7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4884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AI · 개발 방식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03136BF-7DB6-4C06-86AB-75119000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68880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AI 활용 개발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CF46C0E-FC5D-4047-AEC7-59C84F2A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154680"/>
            <a:ext cx="34747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400" b="1">
                <a:solidFill>
                  <a:srgbClr val="14C3A2"/>
                </a:solidFill>
                <a:latin typeface="Malgun Gothic"/>
                <a:ea typeface="Malgun Gothic"/>
                <a:cs typeface="Malgun Gothic"/>
              </a:rPr>
              <a:t>실증과 SI 시장 대비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C534CE61-FA91-4CDB-B8A1-A5759621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114800"/>
            <a:ext cx="274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4789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A161B9E-2E26-4AC0-9E39-4A2CEEBB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35204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32000"/>
              </a:lnSpc>
              <a:buNone/>
            </a:pPr>
            <a:r>
              <a:rPr sz="1250">
                <a:solidFill>
                  <a:srgbClr val="C9D6FF"/>
                </a:solidFill>
                <a:latin typeface="Malgun Gothic"/>
                <a:ea typeface="Malgun Gothic"/>
                <a:cs typeface="Malgun Gothic"/>
              </a:rPr>
              <a:t>AI 유료 요금제 도입 확정  →  실제 활용 실증 + 조직 개발 역량 내재화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2052505-A229-4EE5-B77E-402D7A88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83080"/>
            <a:ext cx="6492240" cy="118872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7CE10E8-4BC0-45DA-BE07-93E93F5B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084832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6FFF"/>
          </a:solidFill>
        </p:spPr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90e7604a9c47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7248" y="2242840"/>
            <a:ext cx="269199" cy="269199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0E4D544-7141-4320-B34A-6BC2E721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47672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AI AGENT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6270C088-6C15-4A0A-A39B-3713077F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13432"/>
            <a:ext cx="5120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전체 소스 의존성 유지 분석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아키텍처 정합성 기반 코드 생성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정확한 오류 진단 · 연속 작업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EA43D5A-7B77-436A-A665-8556810E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54680"/>
            <a:ext cx="6492240" cy="118872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91C73C04-5609-455C-B874-85D0413A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456432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C3A2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27e357bce49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7248" y="3614440"/>
            <a:ext cx="269199" cy="269199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4E4D5C0-5F1B-44B5-A1C9-D804BDCB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319272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PROOF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42D0F470-08D5-4CFE-8D80-ED054273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685032"/>
            <a:ext cx="5120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GitHub Webhook → Notion 자동화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WBS ↔ GitHub Projects 동기화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OpenAPI → FE 타입 자동생성 CI 게이트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D7339BA-3A55-4D7A-95EE-4D696567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26280"/>
            <a:ext cx="6492240" cy="118872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6ECF8"/>
            </a:solidFill>
            <a:prstDash val="solid"/>
          </a:ln>
          <a:effectLst xmlns:a="http://schemas.openxmlformats.org/drawingml/2006/main">
            <a:outerShdw blurRad="165100" dist="50800" dir="8100000" sx="100000" sy="100000" kx="0" ky="0" algn="bl" rotWithShape="0">
              <a:srgbClr val="26305E">
                <a:alpha val="14000"/>
              </a:srgbClr>
            </a:outerShdw>
          </a:effectLst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E6F49692-E9E4-4E8C-8F61-ADAF8A49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828032"/>
            <a:ext cx="585216" cy="5852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A85"/>
          </a:solidFill>
        </p:spPr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106812a584c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7248" y="4986040"/>
            <a:ext cx="269199" cy="269199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FAC23532-3B81-4FB4-9B36-0D9071ED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690872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A3346"/>
                </a:solidFill>
                <a:latin typeface="Malgun Gothic"/>
                <a:ea typeface="Malgun Gothic"/>
                <a:cs typeface="Malgun Gothic"/>
              </a:rPr>
              <a:t>MARKET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E8530825-40CD-4D85-B10E-DF8855C2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056632"/>
            <a:ext cx="51206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SI 개발 방식 변화 선제 대응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조직 경험 축적</a:t>
            </a:r>
          </a:p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6A7491"/>
                </a:solidFill>
                <a:latin typeface="Malgun Gothic"/>
                <a:ea typeface="Malgun Gothic"/>
                <a:cs typeface="Malgun Gothic"/>
              </a:rPr>
              <a:t>적용 역량 내재화</a:t>
            </a:r>
          </a:p>
        </p:txBody>
      </p:sp>
    </p:spTree>
    <p:extLst>
      <p:ext uri="{BB962C8B-B14F-4D97-AF65-F5344CB8AC3E}">
        <p14:creationId xmlns:p14="http://schemas.microsoft.com/office/powerpoint/2010/main" val="184747029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2026-07-15T10:24:47.9210000Z</dcterms:created>
  <dcterms:modified xsi:type="dcterms:W3CDTF">2026-07-15T10:24:47.9210000Z</dcterms:modified>
</coreProperties>
</file>