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468880"/>
            <a:ext cx="6949440" cy="6949440"/>
          </a:xfrm>
          <a:prstGeom prst="ellipse">
            <a:avLst/>
          </a:prstGeom>
          <a:solidFill>
            <a:srgbClr val="3A478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4023360" cy="4023360"/>
          </a:xfrm>
          <a:prstGeom prst="ellipse">
            <a:avLst/>
          </a:prstGeom>
          <a:solidFill>
            <a:srgbClr val="14C3A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14C3A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   ·   CHANNEL UNIT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Framework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 수행을 위한 공통 기반(Backend · Frontend) 구축 제안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89204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3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· 1단계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41648" y="489204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3A4789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24928" y="489204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3A4789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키트 + MVP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   |   채널유닛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  ·  추진 배경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프레임워크가 필요한 이유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2044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792" y="2408072"/>
            <a:ext cx="441655" cy="4416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63240" y="21488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051560" y="3383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기반이 없음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51560" y="406908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채널 프로젝트를 시작할 때마다 BE · FE 기초를 새로 잡는 탓에 초기 작업 시간이 매번 낭비됨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61688" y="1691640"/>
            <a:ext cx="352044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3168" y="2148840"/>
            <a:ext cx="960120" cy="960120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400" y="2408072"/>
            <a:ext cx="441655" cy="44165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84848" y="21488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F7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4773168" y="3383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적기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4773168" y="406908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차기(Next) 투입 일정이 비어 있는 지금, 가용 인력으로 두고두고 쓸 공통 자산을 확보해 둘 적기임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83296" y="1691640"/>
            <a:ext cx="352044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94776" y="2148840"/>
            <a:ext cx="960120" cy="960120"/>
          </a:xfrm>
          <a:prstGeom prst="ellipse">
            <a:avLst/>
          </a:prstGeom>
          <a:solidFill>
            <a:srgbClr val="FF7A8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008" y="2408072"/>
            <a:ext cx="441655" cy="44165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06456" y="21488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8494776" y="3383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AI 개발 역량 키우기</a:t>
            </a:r>
            <a:endParaRPr lang="en-US" sz="1850" dirty="0"/>
          </a:p>
        </p:txBody>
      </p:sp>
      <p:sp>
        <p:nvSpPr>
          <p:cNvPr id="23" name="Text 18"/>
          <p:cNvSpPr/>
          <p:nvPr/>
        </p:nvSpPr>
        <p:spPr>
          <a:xfrm>
            <a:off x="8494776" y="406908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도구를 쓰면 개발 속도가 크게 빨라지지만, 경험이 없으면 제대로 활용하기 어려움. 이번 프로젝트로 팀이 AI 개발을 직접 체득해 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  ·  무엇인가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경량형 프로젝트 스타터 키트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114800" cy="4160520"/>
          </a:xfrm>
          <a:prstGeom prst="roundRect">
            <a:avLst>
              <a:gd name="adj" fmla="val 2444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057400"/>
            <a:ext cx="1005840" cy="1005840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2328977"/>
            <a:ext cx="462686" cy="462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프레임워크란?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45643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채널 프로젝트를 위한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· Frontend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뼈대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4617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기제품을 도입하기 어려운 상황에서도 채널 프로젝트를 성공적으로 수행하기 위한 스타터 키트 + MVP 세트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74920" y="1783080"/>
            <a:ext cx="644652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67528" y="2093976"/>
            <a:ext cx="603504" cy="603504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474" y="2256922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72200" y="1965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뼈대 &amp; 표준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172200" y="23317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투입 가능한 경량 스타터 키트와 개발 표준을 제공해 기초 작업 시간을 없앱니다.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74920" y="3172968"/>
            <a:ext cx="644652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67528" y="3483864"/>
            <a:ext cx="603504" cy="603504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474" y="3646810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제품의 사각지대 보완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172200" y="372160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· 일정이 빠듯해 표준 제품 도입이 어려운 소규모 · 커스텀 현장에 유연하게 선투입할 수 있습니다.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74920" y="4562856"/>
            <a:ext cx="644652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367528" y="4873752"/>
            <a:ext cx="603504" cy="603504"/>
          </a:xfrm>
          <a:prstGeom prst="ellipse">
            <a:avLst/>
          </a:prstGeom>
          <a:solidFill>
            <a:srgbClr val="FF7A8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474" y="5036698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47457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영업적 부가가치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511149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수준의 프레임워크로 Pre-sales 단계에서 빠른 데모 · 즉시 커스터마이징이 가능해 수주 경쟁력을 강화합니다.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 · 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구성도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4160520" cy="4681728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10512"/>
            <a:ext cx="1508760" cy="347472"/>
          </a:xfrm>
          <a:prstGeom prst="roundRect">
            <a:avLst>
              <a:gd name="adj" fmla="val 23684"/>
            </a:avLst>
          </a:prstGeom>
          <a:solidFill>
            <a:srgbClr val="4C6FF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81051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· 모노레포 (Turbo + pnpm)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3종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2798064"/>
            <a:ext cx="1170432" cy="365760"/>
          </a:xfrm>
          <a:prstGeom prst="roundRect">
            <a:avLst>
              <a:gd name="adj" fmla="val 22500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9806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Web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21408" y="2798064"/>
            <a:ext cx="1170432" cy="365760"/>
          </a:xfrm>
          <a:prstGeom prst="roundRect">
            <a:avLst>
              <a:gd name="adj" fmla="val 22500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79806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Web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74136" y="2798064"/>
            <a:ext cx="1170432" cy="365760"/>
          </a:xfrm>
          <a:prstGeom prst="roundRect">
            <a:avLst>
              <a:gd name="adj" fmla="val 22500"/>
            </a:avLst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279806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Portal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319272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2F5FC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41071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@bx/shared 공통 패키지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3854196"/>
            <a:ext cx="73152" cy="73152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6152" y="3758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Router · 상태 Zustand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" y="4137660"/>
            <a:ext cx="73152" cy="7315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22" name="Text 20"/>
          <p:cNvSpPr/>
          <p:nvPr/>
        </p:nvSpPr>
        <p:spPr>
          <a:xfrm>
            <a:off x="1216152" y="40416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Query + Axios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51560" y="4421124"/>
            <a:ext cx="73152" cy="73152"/>
          </a:xfrm>
          <a:prstGeom prst="ellipse">
            <a:avLst/>
          </a:prstGeom>
          <a:solidFill>
            <a:srgbClr val="FF7A85"/>
          </a:solidFill>
          <a:ln/>
        </p:spPr>
      </p:sp>
      <p:sp>
        <p:nvSpPr>
          <p:cNvPr id="24" name="Text 22"/>
          <p:cNvSpPr/>
          <p:nvPr/>
        </p:nvSpPr>
        <p:spPr>
          <a:xfrm>
            <a:off x="1216152" y="432511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저장 · 401 자동 재발급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1560" y="4704588"/>
            <a:ext cx="73152" cy="73152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216152" y="460857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Radix UI + Tailwind v4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1560" y="4988052"/>
            <a:ext cx="73152" cy="7315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28" name="Text 26"/>
          <p:cNvSpPr/>
          <p:nvPr/>
        </p:nvSpPr>
        <p:spPr>
          <a:xfrm>
            <a:off x="1216152" y="48920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auth·user·account·menu·product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5271516"/>
            <a:ext cx="73152" cy="73152"/>
          </a:xfrm>
          <a:prstGeom prst="ellipse">
            <a:avLst/>
          </a:prstGeom>
          <a:solidFill>
            <a:srgbClr val="FF7A85"/>
          </a:solidFill>
          <a:ln/>
        </p:spPr>
      </p:sp>
      <p:sp>
        <p:nvSpPr>
          <p:cNvPr id="30" name="Text 28"/>
          <p:cNvSpPr/>
          <p:nvPr/>
        </p:nvSpPr>
        <p:spPr>
          <a:xfrm>
            <a:off x="1216152" y="5175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유틸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i18n·날짜·포맷·검증·암호화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5696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빌드·품질  </a:t>
            </a:r>
            <a:pPr indent="0" marL="0">
              <a:buNone/>
            </a:pPr>
            <a:r>
              <a:rPr lang="en-US" sz="9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8 · Biome · Vitest · React Compiler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1627632"/>
            <a:ext cx="1783080" cy="4681728"/>
          </a:xfrm>
          <a:prstGeom prst="roundRect">
            <a:avLst>
              <a:gd name="adj" fmla="val 5128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2080" y="1856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연계</a:t>
            </a:r>
            <a:endParaRPr lang="en-US" sz="12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452" y="2267712"/>
            <a:ext cx="402336" cy="40233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303520" y="2816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Envelope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303520" y="30540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인증 헤더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40680" y="3456432"/>
            <a:ext cx="1325880" cy="0"/>
          </a:xfrm>
          <a:prstGeom prst="line">
            <a:avLst/>
          </a:prstGeom>
          <a:noFill/>
          <a:ln w="12700">
            <a:solidFill>
              <a:srgbClr val="3A478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12080" y="3575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계약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285232" y="389534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OpenAPI (type-bridge)</a:t>
            </a:r>
            <a:endParaRPr lang="en-US" sz="8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4370832"/>
            <a:ext cx="164592" cy="16459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266944" y="460857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openapi-typescript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413248" y="5084064"/>
            <a:ext cx="1380744" cy="868680"/>
          </a:xfrm>
          <a:prstGeom prst="roundRect">
            <a:avLst>
              <a:gd name="adj" fmla="val 8421"/>
            </a:avLst>
          </a:prstGeom>
          <a:solidFill>
            <a:srgbClr val="20305A"/>
          </a:solidFill>
          <a:ln w="12700">
            <a:solidFill>
              <a:srgbClr val="14C3A2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413248" y="5129784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FE·BE 타입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일치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406640" y="1627632"/>
            <a:ext cx="4142232" cy="4681728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7635240" y="1810512"/>
            <a:ext cx="1417320" cy="347472"/>
          </a:xfrm>
          <a:prstGeom prst="roundRect">
            <a:avLst>
              <a:gd name="adj" fmla="val 23684"/>
            </a:avLst>
          </a:prstGeom>
          <a:solidFill>
            <a:srgbClr val="14C3A2"/>
          </a:solidFill>
          <a:ln/>
        </p:spPr>
      </p:sp>
      <p:sp>
        <p:nvSpPr>
          <p:cNvPr id="46" name="Text 42"/>
          <p:cNvSpPr/>
          <p:nvPr/>
        </p:nvSpPr>
        <p:spPr>
          <a:xfrm>
            <a:off x="7662672" y="181051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7635240" y="223113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Cloud MSA · Java 21 · Boot 3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763524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7635240" y="2798064"/>
            <a:ext cx="1828800" cy="365760"/>
          </a:xfrm>
          <a:prstGeom prst="roundRect">
            <a:avLst>
              <a:gd name="adj" fmla="val 22500"/>
            </a:avLst>
          </a:prstGeom>
          <a:solidFill>
            <a:srgbClr val="E2F7F1"/>
          </a:solidFill>
          <a:ln/>
        </p:spPr>
      </p:sp>
      <p:sp>
        <p:nvSpPr>
          <p:cNvPr id="50" name="Text 46"/>
          <p:cNvSpPr/>
          <p:nvPr/>
        </p:nvSpPr>
        <p:spPr>
          <a:xfrm>
            <a:off x="7662672" y="279806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9555480" y="2798064"/>
            <a:ext cx="1719072" cy="365760"/>
          </a:xfrm>
          <a:prstGeom prst="roundRect">
            <a:avLst>
              <a:gd name="adj" fmla="val 22500"/>
            </a:avLst>
          </a:prstGeom>
          <a:solidFill>
            <a:srgbClr val="E2F7F1"/>
          </a:solidFill>
          <a:ln/>
        </p:spPr>
      </p:sp>
      <p:sp>
        <p:nvSpPr>
          <p:cNvPr id="52" name="Text 48"/>
          <p:cNvSpPr/>
          <p:nvPr/>
        </p:nvSpPr>
        <p:spPr>
          <a:xfrm>
            <a:off x="9582912" y="279806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Discovery·Eureka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7635240" y="3255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Services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7635240" y="3493008"/>
            <a:ext cx="1828800" cy="365760"/>
          </a:xfrm>
          <a:prstGeom prst="roundRect">
            <a:avLst>
              <a:gd name="adj" fmla="val 22500"/>
            </a:avLst>
          </a:prstGeom>
          <a:solidFill>
            <a:srgbClr val="FFEDEE"/>
          </a:solidFill>
          <a:ln/>
        </p:spPr>
      </p:sp>
      <p:sp>
        <p:nvSpPr>
          <p:cNvPr id="55" name="Text 51"/>
          <p:cNvSpPr/>
          <p:nvPr/>
        </p:nvSpPr>
        <p:spPr>
          <a:xfrm>
            <a:off x="7662672" y="34930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auth-svc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9555480" y="3493008"/>
            <a:ext cx="1719072" cy="365760"/>
          </a:xfrm>
          <a:prstGeom prst="roundRect">
            <a:avLst>
              <a:gd name="adj" fmla="val 22500"/>
            </a:avLst>
          </a:prstGeom>
          <a:solidFill>
            <a:srgbClr val="FFEDEE"/>
          </a:solidFill>
          <a:ln/>
        </p:spPr>
      </p:sp>
      <p:sp>
        <p:nvSpPr>
          <p:cNvPr id="57" name="Text 53"/>
          <p:cNvSpPr/>
          <p:nvPr/>
        </p:nvSpPr>
        <p:spPr>
          <a:xfrm>
            <a:off x="9582912" y="349300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product-svc(샘플)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7635240" y="4023360"/>
            <a:ext cx="3685032" cy="1508760"/>
          </a:xfrm>
          <a:prstGeom prst="roundRect">
            <a:avLst>
              <a:gd name="adj" fmla="val 4848"/>
            </a:avLst>
          </a:prstGeom>
          <a:solidFill>
            <a:srgbClr val="EBF8F3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7799832" y="4114800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라이브러리 (libs)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7818120" y="4576572"/>
            <a:ext cx="73152" cy="73152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61" name="Text 57"/>
          <p:cNvSpPr/>
          <p:nvPr/>
        </p:nvSpPr>
        <p:spPr>
          <a:xfrm>
            <a:off x="7982712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· JPA · AOP · Actuator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7818120" y="4887468"/>
            <a:ext cx="73152" cy="7315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63" name="Text 59"/>
          <p:cNvSpPr/>
          <p:nvPr/>
        </p:nvSpPr>
        <p:spPr>
          <a:xfrm>
            <a:off x="7982712" y="4791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auth-core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 · Security · JWT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7818120" y="5198364"/>
            <a:ext cx="73152" cy="73152"/>
          </a:xfrm>
          <a:prstGeom prst="ellipse">
            <a:avLst/>
          </a:prstGeom>
          <a:solidFill>
            <a:srgbClr val="FF7A85"/>
          </a:solidFill>
          <a:ln/>
        </p:spPr>
      </p:sp>
      <p:sp>
        <p:nvSpPr>
          <p:cNvPr id="65" name="Text 61"/>
          <p:cNvSpPr/>
          <p:nvPr/>
        </p:nvSpPr>
        <p:spPr>
          <a:xfrm>
            <a:off x="7982712" y="5102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type-bridge  </a:t>
            </a:r>
            <a:pPr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스펙 자동 생성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7635240" y="56967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공통기능  </a:t>
            </a:r>
            <a:pPr indent="0" marL="0">
              <a:buNone/>
            </a:pPr>
            <a:r>
              <a:rPr lang="en-US" sz="9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인증/인가 · 모니터링(Actuator) · 서비스 등록/발견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4800600" y="3822192"/>
            <a:ext cx="411480" cy="0"/>
          </a:xfrm>
          <a:prstGeom prst="line">
            <a:avLst/>
          </a:prstGeom>
          <a:noFill/>
          <a:ln w="19050">
            <a:solidFill>
              <a:srgbClr val="8A93AE"/>
            </a:solidFill>
            <a:prstDash val="dash"/>
            <a:headEnd type="triangle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6995160" y="3822192"/>
            <a:ext cx="411480" cy="0"/>
          </a:xfrm>
          <a:prstGeom prst="line">
            <a:avLst/>
          </a:prstGeom>
          <a:noFill/>
          <a:ln w="19050">
            <a:solidFill>
              <a:srgbClr val="8A93AE"/>
            </a:solidFill>
            <a:prstDash val="dash"/>
            <a:headEnd type="triangl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3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14C3A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 ·  개발 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 · 3개월 — 1단계 마일스톤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96112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프로젝트 진행을 위한 뼈대(인프라 · 통신 · 인증 · 모듈 구조)에 집중하고, 개별 프로젝트에 종속되는 비즈니스 로직은 철저히 배제합니다.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63040" y="2331720"/>
            <a:ext cx="9144000" cy="0"/>
          </a:xfrm>
          <a:prstGeom prst="line">
            <a:avLst/>
          </a:prstGeom>
          <a:noFill/>
          <a:ln w="25400">
            <a:solidFill>
              <a:srgbClr val="3A47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121408"/>
            <a:ext cx="420624" cy="420624"/>
          </a:xfrm>
          <a:prstGeom prst="ellipse">
            <a:avLst/>
          </a:prstGeom>
          <a:solidFill>
            <a:srgbClr val="14C3A2"/>
          </a:solidFill>
          <a:ln w="38100">
            <a:solidFill>
              <a:srgbClr val="2B3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3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69848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69848" y="3657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모노레포 구조화 및 공통 패키지(@bx/shared) 세팅, 번들러 · 빌드 / 배포 검증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69848" y="5074920"/>
            <a:ext cx="2843784" cy="0"/>
          </a:xfrm>
          <a:prstGeom prst="line">
            <a:avLst/>
          </a:prstGeom>
          <a:noFill/>
          <a:ln w="12700">
            <a:solidFill>
              <a:srgbClr val="4A55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5148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설계서 · 공통 뼈대 소스코드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121408"/>
            <a:ext cx="420624" cy="420624"/>
          </a:xfrm>
          <a:prstGeom prst="ellipse">
            <a:avLst/>
          </a:prstGeom>
          <a:solidFill>
            <a:srgbClr val="14C3A2"/>
          </a:solidFill>
          <a:ln w="38100">
            <a:solidFill>
              <a:srgbClr val="2B3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25146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3A4789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73168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기능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773168" y="3657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통신 모듈(Envelope 처리), 공통 인증 흐름(JWT Auto-refresh), 기본 라우팅 · 공통 레이아웃 설계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73168" y="5074920"/>
            <a:ext cx="2843784" cy="0"/>
          </a:xfrm>
          <a:prstGeom prst="line">
            <a:avLst/>
          </a:prstGeom>
          <a:noFill/>
          <a:ln w="12700">
            <a:solidFill>
              <a:srgbClr val="4A55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5148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/ 인증 코어 모듈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0" y="2121408"/>
            <a:ext cx="420624" cy="420624"/>
          </a:xfrm>
          <a:prstGeom prst="ellipse">
            <a:avLst/>
          </a:prstGeom>
          <a:solidFill>
            <a:srgbClr val="14C3A2"/>
          </a:solidFill>
          <a:ln w="38100">
            <a:solidFill>
              <a:srgbClr val="2B3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83880" y="25146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3A4789"/>
          </a:solidFill>
          <a:ln/>
        </p:spPr>
      </p:sp>
      <p:sp>
        <p:nvSpPr>
          <p:cNvPr id="26" name="Text 24"/>
          <p:cNvSpPr/>
          <p:nvPr/>
        </p:nvSpPr>
        <p:spPr>
          <a:xfrm>
            <a:off x="8476488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3개월차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76488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&amp; 가이드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476488" y="3657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 스켈레톤 앱 연동 검증 및 개발 가이드 문서화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76488" y="5074920"/>
            <a:ext cx="2843784" cy="0"/>
          </a:xfrm>
          <a:prstGeom prst="line">
            <a:avLst/>
          </a:prstGeom>
          <a:noFill/>
          <a:ln w="12700">
            <a:solidFill>
              <a:srgbClr val="4A55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5148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템플릿 · 개발자 가이드 문서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  ·  산출물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주요 산출물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고객의 비즈니스 로직은 제외하고, 여러 파생 프로젝트가 올라설 공통 기반을 먼저 확보합니다.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7004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532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개발 가이드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 스켈레톤 + 가이드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2148840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1728" y="2468880"/>
            <a:ext cx="777240" cy="777240"/>
          </a:xfrm>
          <a:prstGeom prst="ellipse">
            <a:avLst/>
          </a:prstGeom>
          <a:solidFill>
            <a:srgbClr val="E2F7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67004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41848" y="2532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개발 가이드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2744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모듈 · 표준 레이아웃 + 가이드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3296" y="2148840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3336" y="2468880"/>
            <a:ext cx="777240" cy="777240"/>
          </a:xfrm>
          <a:prstGeom prst="ellipse">
            <a:avLst/>
          </a:prstGeom>
          <a:solidFill>
            <a:srgbClr val="FFEDE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67004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63456" y="2532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/ 권한 기본 체계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49056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Auto-refresh 공통 인증 흐름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142232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0120" y="4462272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663440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20240" y="4526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· 화면 템플릿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005840" y="5330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라우팅 및 공통 레이아웃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61688" y="4142232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81728" y="4462272"/>
            <a:ext cx="777240" cy="777240"/>
          </a:xfrm>
          <a:prstGeom prst="ellipse">
            <a:avLst/>
          </a:prstGeom>
          <a:solidFill>
            <a:srgbClr val="E2F7F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4663440"/>
            <a:ext cx="374904" cy="3749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41848" y="4526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연계 표준 구조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727448" y="5330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통신 모듈 · Envelope 처리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83296" y="4142232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03336" y="4462272"/>
            <a:ext cx="777240" cy="777240"/>
          </a:xfrm>
          <a:prstGeom prst="ellipse">
            <a:avLst/>
          </a:prstGeom>
          <a:solidFill>
            <a:srgbClr val="FFEDE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663440"/>
            <a:ext cx="374904" cy="3749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363456" y="4526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관리 · WBS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449056" y="5330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Project 기반 WBS · 일정 관리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  ·  기대효과 &amp; 로드맵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기대효과와 향후 확장 계획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323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860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 초기 구축 기간 단축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35808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82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0358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표준화 및 품질 향상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785616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7856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개발 비용 절감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535424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8172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5354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개발 방식에 대한 조직 경험 축적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5285232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3153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528523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영업 · 제안 활동 지원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446520" y="1737360"/>
            <a:ext cx="5102352" cy="4114800"/>
          </a:xfrm>
          <a:prstGeom prst="roundRect">
            <a:avLst>
              <a:gd name="adj" fmla="val 2222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812280" y="199339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812280" y="228600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상태 모니터링 도구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6812280" y="272491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상태를 실시간 감시하는 관제 · 운영 지원 도구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812280" y="3200400"/>
            <a:ext cx="4370832" cy="2377440"/>
          </a:xfrm>
          <a:prstGeom prst="roundRect">
            <a:avLst>
              <a:gd name="adj" fmla="val 2692"/>
            </a:avLst>
          </a:prstGeom>
          <a:solidFill>
            <a:srgbClr val="212A55"/>
          </a:solidFill>
          <a:ln w="12700">
            <a:solidFill>
              <a:srgbClr val="3C488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068312" y="3438144"/>
            <a:ext cx="118872" cy="118872"/>
          </a:xfrm>
          <a:prstGeom prst="ellipse">
            <a:avLst/>
          </a:prstGeom>
          <a:solidFill>
            <a:srgbClr val="FF7A85"/>
          </a:solidFill>
          <a:ln/>
        </p:spPr>
      </p:sp>
      <p:sp>
        <p:nvSpPr>
          <p:cNvPr id="28" name="Shape 21"/>
          <p:cNvSpPr/>
          <p:nvPr/>
        </p:nvSpPr>
        <p:spPr>
          <a:xfrm>
            <a:off x="7269480" y="3438144"/>
            <a:ext cx="118872" cy="11887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29" name="Shape 22"/>
          <p:cNvSpPr/>
          <p:nvPr/>
        </p:nvSpPr>
        <p:spPr>
          <a:xfrm>
            <a:off x="7470648" y="3438144"/>
            <a:ext cx="118872" cy="11887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131552" y="3438144"/>
            <a:ext cx="118872" cy="11887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1" name="Text 24"/>
          <p:cNvSpPr/>
          <p:nvPr/>
        </p:nvSpPr>
        <p:spPr>
          <a:xfrm>
            <a:off x="10314432" y="33467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040880" y="3767328"/>
            <a:ext cx="3913632" cy="0"/>
          </a:xfrm>
          <a:prstGeom prst="line">
            <a:avLst/>
          </a:prstGeom>
          <a:noFill/>
          <a:ln w="12700">
            <a:solidFill>
              <a:srgbClr val="3C488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086600" y="3995928"/>
            <a:ext cx="137160" cy="137160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4" name="Text 27"/>
          <p:cNvSpPr/>
          <p:nvPr/>
        </p:nvSpPr>
        <p:spPr>
          <a:xfrm>
            <a:off x="7342632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채널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8549640" y="39136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086600" y="4416552"/>
            <a:ext cx="137160" cy="137160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7" name="Text 30"/>
          <p:cNvSpPr/>
          <p:nvPr/>
        </p:nvSpPr>
        <p:spPr>
          <a:xfrm>
            <a:off x="7342632" y="43342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549640" y="4334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086600" y="4837176"/>
            <a:ext cx="137160" cy="137160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40" name="Text 33"/>
          <p:cNvSpPr/>
          <p:nvPr/>
        </p:nvSpPr>
        <p:spPr>
          <a:xfrm>
            <a:off x="7342632" y="4754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8549640" y="4754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9354312" y="4805721"/>
            <a:ext cx="164592" cy="269199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3" name="Shape 36"/>
          <p:cNvSpPr/>
          <p:nvPr/>
        </p:nvSpPr>
        <p:spPr>
          <a:xfrm>
            <a:off x="9628632" y="4654296"/>
            <a:ext cx="164592" cy="420624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4" name="Shape 37"/>
          <p:cNvSpPr/>
          <p:nvPr/>
        </p:nvSpPr>
        <p:spPr>
          <a:xfrm>
            <a:off x="9902952" y="4738421"/>
            <a:ext cx="164592" cy="336499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5" name="Shape 38"/>
          <p:cNvSpPr/>
          <p:nvPr/>
        </p:nvSpPr>
        <p:spPr>
          <a:xfrm>
            <a:off x="10177272" y="4519696"/>
            <a:ext cx="164592" cy="555224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6" name="Shape 39"/>
          <p:cNvSpPr/>
          <p:nvPr/>
        </p:nvSpPr>
        <p:spPr>
          <a:xfrm>
            <a:off x="10451592" y="4637471"/>
            <a:ext cx="164592" cy="437449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7" name="Shape 40"/>
          <p:cNvSpPr/>
          <p:nvPr/>
        </p:nvSpPr>
        <p:spPr>
          <a:xfrm>
            <a:off x="10725912" y="4418747"/>
            <a:ext cx="164592" cy="656173"/>
          </a:xfrm>
          <a:prstGeom prst="roundRect">
            <a:avLst>
              <a:gd name="adj" fmla="val 16667"/>
            </a:avLst>
          </a:prstGeom>
          <a:solidFill>
            <a:srgbClr val="14C3A2"/>
          </a:solidFill>
          <a:ln/>
        </p:spPr>
      </p:sp>
      <p:sp>
        <p:nvSpPr>
          <p:cNvPr id="48" name="Text 41"/>
          <p:cNvSpPr/>
          <p:nvPr/>
        </p:nvSpPr>
        <p:spPr>
          <a:xfrm>
            <a:off x="9354312" y="5129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응답속도 · 모니터링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7086600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</a:t>
            </a:r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ENABLER  ·  개발 환경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유료 요금제 필요성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069080" cy="4023360"/>
          </a:xfrm>
          <a:prstGeom prst="roundRect">
            <a:avLst>
              <a:gd name="adj" fmla="val 2500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· 컨텍스트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차이가 아닌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사용량(Capacity)의 차이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114800"/>
            <a:ext cx="2743200" cy="0"/>
          </a:xfrm>
          <a:prstGeom prst="line">
            <a:avLst/>
          </a:prstGeom>
          <a:noFill/>
          <a:ln w="19050">
            <a:solidFill>
              <a:srgbClr val="3A47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519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· 기본 요금제는 단발성 질의에 적합하나, 프레임워크 수준의 모노레포(PC · Mobile · Admin + 공유 패키지)를 한 번에 다루기엔 한계가 큽니다.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6492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49240" y="2084832"/>
            <a:ext cx="585216" cy="585216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7248" y="2242840"/>
            <a:ext cx="269199" cy="26919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컨텍스트 유지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26480" y="23134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소스의 의존성을 유지한 채 분석 → 아키텍처 정합성에 맞는 코드 생성과 정확한 오류 진단이 가능합니다.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0" y="3154680"/>
            <a:ext cx="6492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3456432"/>
            <a:ext cx="585216" cy="585216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3614440"/>
            <a:ext cx="269199" cy="26919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26480" y="33192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작업 보장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126480" y="36850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코드 생성 · 리팩토링 · 문서화가 토큰 한도에 끊기지 않고 이어져, 실질적인 개발 생산성을 확보합니다.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029200" y="4526280"/>
            <a:ext cx="6492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49240" y="4828032"/>
            <a:ext cx="585216" cy="585216"/>
          </a:xfrm>
          <a:prstGeom prst="ellipse">
            <a:avLst/>
          </a:prstGeom>
          <a:solidFill>
            <a:srgbClr val="FF7A8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986040"/>
            <a:ext cx="269199" cy="26919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4690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목적에 부합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126480" y="50566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질의응답이 아닌 프레임워크 설계 · 구현이 목표이므로, 충분한 사용량이 보장되는 유료 요금제가 전제됩니다.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3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6400800" cy="6400800"/>
          </a:xfrm>
          <a:prstGeom prst="ellipse">
            <a:avLst/>
          </a:prstGeom>
          <a:solidFill>
            <a:srgbClr val="3A4789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743200"/>
            <a:ext cx="5943600" cy="5943600"/>
          </a:xfrm>
          <a:prstGeom prst="ellipse">
            <a:avLst/>
          </a:prstGeom>
          <a:solidFill>
            <a:srgbClr val="3A4789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2926080" cy="2926080"/>
          </a:xfrm>
          <a:prstGeom prst="ellipse">
            <a:avLst/>
          </a:prstGeom>
          <a:solidFill>
            <a:srgbClr val="14C3A2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고효율 개발 프로세스 — 선제적 대응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28803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프레임워크 하나를 넘어,</a:t>
            </a:r>
            <a:endParaRPr lang="en-US" sz="3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개발 방식에 대한</a:t>
            </a:r>
            <a:endParaRPr lang="en-US" sz="3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조직의 경험을 자산화합니다.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58368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수준의 채널 프레임워크 확보 → 영업 · 제안 단계의 데모 환경 구성 → 신규 사업 기회 발굴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534924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14C3A2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 |   채널유닛  ·  2026.06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채널 프레임워크 구축 제안</dc:title>
  <dc:subject>PptxGenJS Presentation</dc:subject>
  <dc:creator>채널유닛</dc:creator>
  <cp:lastModifiedBy>채널유닛</cp:lastModifiedBy>
  <cp:revision>1</cp:revision>
  <dcterms:created xsi:type="dcterms:W3CDTF">2026-06-22T07:51:07Z</dcterms:created>
  <dcterms:modified xsi:type="dcterms:W3CDTF">2026-06-22T07:51:07Z</dcterms:modified>
</cp:coreProperties>
</file>